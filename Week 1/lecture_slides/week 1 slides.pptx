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7"/>
  </p:notesMasterIdLst>
  <p:sldIdLst>
    <p:sldId id="257" r:id="rId2"/>
    <p:sldId id="258" r:id="rId3"/>
    <p:sldId id="304" r:id="rId4"/>
    <p:sldId id="270" r:id="rId5"/>
    <p:sldId id="259" r:id="rId6"/>
    <p:sldId id="261" r:id="rId7"/>
    <p:sldId id="306" r:id="rId8"/>
    <p:sldId id="307" r:id="rId9"/>
    <p:sldId id="264" r:id="rId10"/>
    <p:sldId id="283" r:id="rId11"/>
    <p:sldId id="277" r:id="rId12"/>
    <p:sldId id="278" r:id="rId13"/>
    <p:sldId id="267" r:id="rId14"/>
    <p:sldId id="268" r:id="rId15"/>
    <p:sldId id="303" r:id="rId16"/>
    <p:sldId id="271" r:id="rId17"/>
    <p:sldId id="272" r:id="rId18"/>
    <p:sldId id="273" r:id="rId19"/>
    <p:sldId id="276" r:id="rId20"/>
    <p:sldId id="279" r:id="rId21"/>
    <p:sldId id="280" r:id="rId22"/>
    <p:sldId id="281" r:id="rId23"/>
    <p:sldId id="293" r:id="rId24"/>
    <p:sldId id="294" r:id="rId25"/>
    <p:sldId id="295" r:id="rId26"/>
    <p:sldId id="296" r:id="rId27"/>
    <p:sldId id="297" r:id="rId28"/>
    <p:sldId id="298" r:id="rId29"/>
    <p:sldId id="299" r:id="rId30"/>
    <p:sldId id="300" r:id="rId31"/>
    <p:sldId id="301" r:id="rId32"/>
    <p:sldId id="302" r:id="rId33"/>
    <p:sldId id="289" r:id="rId34"/>
    <p:sldId id="282" r:id="rId35"/>
    <p:sldId id="285" r:id="rId36"/>
    <p:sldId id="284" r:id="rId37"/>
    <p:sldId id="286" r:id="rId38"/>
    <p:sldId id="287" r:id="rId39"/>
    <p:sldId id="288" r:id="rId40"/>
    <p:sldId id="308" r:id="rId41"/>
    <p:sldId id="290" r:id="rId42"/>
    <p:sldId id="292" r:id="rId43"/>
    <p:sldId id="341" r:id="rId44"/>
    <p:sldId id="340" r:id="rId45"/>
    <p:sldId id="309" r:id="rId46"/>
    <p:sldId id="310" r:id="rId47"/>
    <p:sldId id="311" r:id="rId48"/>
    <p:sldId id="312" r:id="rId49"/>
    <p:sldId id="313" r:id="rId50"/>
    <p:sldId id="314" r:id="rId51"/>
    <p:sldId id="315" r:id="rId52"/>
    <p:sldId id="316" r:id="rId53"/>
    <p:sldId id="317" r:id="rId54"/>
    <p:sldId id="318" r:id="rId55"/>
    <p:sldId id="319" r:id="rId56"/>
    <p:sldId id="320" r:id="rId57"/>
    <p:sldId id="321" r:id="rId58"/>
    <p:sldId id="322" r:id="rId59"/>
    <p:sldId id="323" r:id="rId60"/>
    <p:sldId id="324" r:id="rId61"/>
    <p:sldId id="325" r:id="rId62"/>
    <p:sldId id="326" r:id="rId63"/>
    <p:sldId id="327" r:id="rId64"/>
    <p:sldId id="328" r:id="rId65"/>
    <p:sldId id="329" r:id="rId66"/>
    <p:sldId id="330" r:id="rId67"/>
    <p:sldId id="331" r:id="rId68"/>
    <p:sldId id="332" r:id="rId69"/>
    <p:sldId id="333" r:id="rId70"/>
    <p:sldId id="334" r:id="rId71"/>
    <p:sldId id="335" r:id="rId72"/>
    <p:sldId id="336" r:id="rId73"/>
    <p:sldId id="342" r:id="rId74"/>
    <p:sldId id="343" r:id="rId75"/>
    <p:sldId id="344" r:id="rId76"/>
    <p:sldId id="345" r:id="rId77"/>
    <p:sldId id="346" r:id="rId78"/>
    <p:sldId id="352" r:id="rId79"/>
    <p:sldId id="353" r:id="rId80"/>
    <p:sldId id="354" r:id="rId81"/>
    <p:sldId id="347" r:id="rId82"/>
    <p:sldId id="348" r:id="rId83"/>
    <p:sldId id="349" r:id="rId84"/>
    <p:sldId id="350" r:id="rId85"/>
    <p:sldId id="351" r:id="rId8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70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E00F90-AF15-4635-A88C-8B46DC290121}" type="datetimeFigureOut">
              <a:rPr lang="en-GB" smtClean="0"/>
              <a:t>01/02/2023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AE1D02-DAD5-473A-84E4-353E22A7BADF}" type="slidenum">
              <a:rPr lang="en-GB" smtClean="0"/>
              <a:t>‹#›</a:t>
            </a:fld>
            <a:endParaRPr lang="en-GB"/>
          </a:p>
        </p:txBody>
      </p:sp>
    </p:spTree>
    <p:extLst>
      <p:ext uri="{BB962C8B-B14F-4D97-AF65-F5344CB8AC3E}">
        <p14:creationId xmlns:p14="http://schemas.microsoft.com/office/powerpoint/2010/main" val="110610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idx="10"/>
          </p:nvPr>
        </p:nvSpPr>
        <p:spPr/>
        <p:txBody>
          <a:bodyPr/>
          <a:lstStyle/>
          <a:p>
            <a:r>
              <a:rPr lang="en-US" smtClean="0"/>
              <a:t>Centre for Biostatistics, The University of Manchester</a:t>
            </a:r>
            <a:endParaRPr lang="en-GB"/>
          </a:p>
        </p:txBody>
      </p:sp>
      <p:sp>
        <p:nvSpPr>
          <p:cNvPr id="5" name="Date Placeholder 4"/>
          <p:cNvSpPr>
            <a:spLocks noGrp="1"/>
          </p:cNvSpPr>
          <p:nvPr>
            <p:ph type="dt" idx="11"/>
          </p:nvPr>
        </p:nvSpPr>
        <p:spPr/>
        <p:txBody>
          <a:bodyPr/>
          <a:lstStyle/>
          <a:p>
            <a:r>
              <a:rPr lang="en-US" smtClean="0"/>
              <a:t>22nd January 2019</a:t>
            </a:r>
            <a:endParaRPr lang="en-GB"/>
          </a:p>
        </p:txBody>
      </p:sp>
      <p:sp>
        <p:nvSpPr>
          <p:cNvPr id="6" name="Footer Placeholder 5"/>
          <p:cNvSpPr>
            <a:spLocks noGrp="1"/>
          </p:cNvSpPr>
          <p:nvPr>
            <p:ph type="ftr" sz="quarter" idx="12"/>
          </p:nvPr>
        </p:nvSpPr>
        <p:spPr/>
        <p:txBody>
          <a:bodyPr/>
          <a:lstStyle/>
          <a:p>
            <a:endParaRPr lang="en-GB"/>
          </a:p>
        </p:txBody>
      </p:sp>
      <p:sp>
        <p:nvSpPr>
          <p:cNvPr id="7" name="Slide Number Placeholder 6"/>
          <p:cNvSpPr>
            <a:spLocks noGrp="1"/>
          </p:cNvSpPr>
          <p:nvPr>
            <p:ph type="sldNum" sz="quarter" idx="13"/>
          </p:nvPr>
        </p:nvSpPr>
        <p:spPr/>
        <p:txBody>
          <a:bodyPr/>
          <a:lstStyle/>
          <a:p>
            <a:fld id="{E9A0CADF-0F08-4742-92CD-BDE18C09B6BC}" type="slidenum">
              <a:rPr lang="en-GB" smtClean="0"/>
              <a:pPr/>
              <a:t>25</a:t>
            </a:fld>
            <a:endParaRPr lang="en-GB"/>
          </a:p>
        </p:txBody>
      </p:sp>
    </p:spTree>
    <p:extLst>
      <p:ext uri="{BB962C8B-B14F-4D97-AF65-F5344CB8AC3E}">
        <p14:creationId xmlns:p14="http://schemas.microsoft.com/office/powerpoint/2010/main" val="3835513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You take</a:t>
            </a:r>
            <a:r>
              <a:rPr lang="en-GB" baseline="0" dirty="0" smtClean="0"/>
              <a:t> into account these things because they matter – they influence outcome</a:t>
            </a:r>
            <a:endParaRPr lang="en-GB" dirty="0"/>
          </a:p>
        </p:txBody>
      </p:sp>
      <p:sp>
        <p:nvSpPr>
          <p:cNvPr id="4" name="Slide Number Placeholder 3"/>
          <p:cNvSpPr>
            <a:spLocks noGrp="1"/>
          </p:cNvSpPr>
          <p:nvPr>
            <p:ph type="sldNum" sz="quarter" idx="10"/>
          </p:nvPr>
        </p:nvSpPr>
        <p:spPr/>
        <p:txBody>
          <a:bodyPr/>
          <a:lstStyle/>
          <a:p>
            <a:fld id="{AD852764-03EB-4360-82CC-237E564C184B}" type="slidenum">
              <a:rPr lang="en-GB" smtClean="0"/>
              <a:t>47</a:t>
            </a:fld>
            <a:endParaRPr lang="en-GB"/>
          </a:p>
        </p:txBody>
      </p:sp>
    </p:spTree>
    <p:extLst>
      <p:ext uri="{BB962C8B-B14F-4D97-AF65-F5344CB8AC3E}">
        <p14:creationId xmlns:p14="http://schemas.microsoft.com/office/powerpoint/2010/main" val="15924865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Lots of this stuff can’t be nicely elaborated</a:t>
            </a:r>
            <a:endParaRPr lang="en-GB" dirty="0"/>
          </a:p>
        </p:txBody>
      </p:sp>
      <p:sp>
        <p:nvSpPr>
          <p:cNvPr id="4" name="Slide Number Placeholder 3"/>
          <p:cNvSpPr>
            <a:spLocks noGrp="1"/>
          </p:cNvSpPr>
          <p:nvPr>
            <p:ph type="sldNum" sz="quarter" idx="10"/>
          </p:nvPr>
        </p:nvSpPr>
        <p:spPr/>
        <p:txBody>
          <a:bodyPr/>
          <a:lstStyle/>
          <a:p>
            <a:fld id="{AD852764-03EB-4360-82CC-237E564C184B}" type="slidenum">
              <a:rPr lang="en-GB" smtClean="0"/>
              <a:t>51</a:t>
            </a:fld>
            <a:endParaRPr lang="en-GB"/>
          </a:p>
        </p:txBody>
      </p:sp>
    </p:spTree>
    <p:extLst>
      <p:ext uri="{BB962C8B-B14F-4D97-AF65-F5344CB8AC3E}">
        <p14:creationId xmlns:p14="http://schemas.microsoft.com/office/powerpoint/2010/main" val="12883826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We can adjust for things that we know about and that we can measure well e.g. using an algorithm</a:t>
            </a:r>
            <a:r>
              <a:rPr lang="en-GB" baseline="0" dirty="0" smtClean="0"/>
              <a:t>, or matching, or restricting to people with given characteristics</a:t>
            </a:r>
            <a:endParaRPr lang="en-GB" dirty="0"/>
          </a:p>
        </p:txBody>
      </p:sp>
      <p:sp>
        <p:nvSpPr>
          <p:cNvPr id="4" name="Slide Number Placeholder 3"/>
          <p:cNvSpPr>
            <a:spLocks noGrp="1"/>
          </p:cNvSpPr>
          <p:nvPr>
            <p:ph type="sldNum" sz="quarter" idx="10"/>
          </p:nvPr>
        </p:nvSpPr>
        <p:spPr/>
        <p:txBody>
          <a:bodyPr/>
          <a:lstStyle/>
          <a:p>
            <a:fld id="{AD852764-03EB-4360-82CC-237E564C184B}" type="slidenum">
              <a:rPr lang="en-GB" smtClean="0"/>
              <a:t>60</a:t>
            </a:fld>
            <a:endParaRPr lang="en-GB"/>
          </a:p>
        </p:txBody>
      </p:sp>
    </p:spTree>
    <p:extLst>
      <p:ext uri="{BB962C8B-B14F-4D97-AF65-F5344CB8AC3E}">
        <p14:creationId xmlns:p14="http://schemas.microsoft.com/office/powerpoint/2010/main" val="37209349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AEB2438-EC8E-438F-8CA1-C33C2F577B67}" type="datetimeFigureOut">
              <a:rPr lang="en-GB" smtClean="0"/>
              <a:t>01/02/2023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A76F3BA-691C-4C3E-A1D2-4715E72C48D5}"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6862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AEB2438-EC8E-438F-8CA1-C33C2F577B67}" type="datetimeFigureOut">
              <a:rPr lang="en-GB" smtClean="0"/>
              <a:t>01/02/2023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A76F3BA-691C-4C3E-A1D2-4715E72C48D5}" type="slidenum">
              <a:rPr lang="en-GB" smtClean="0"/>
              <a:t>‹#›</a:t>
            </a:fld>
            <a:endParaRPr lang="en-GB"/>
          </a:p>
        </p:txBody>
      </p:sp>
    </p:spTree>
    <p:extLst>
      <p:ext uri="{BB962C8B-B14F-4D97-AF65-F5344CB8AC3E}">
        <p14:creationId xmlns:p14="http://schemas.microsoft.com/office/powerpoint/2010/main" val="2973165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AEB2438-EC8E-438F-8CA1-C33C2F577B67}" type="datetimeFigureOut">
              <a:rPr lang="en-GB" smtClean="0"/>
              <a:t>01/02/2023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A76F3BA-691C-4C3E-A1D2-4715E72C48D5}"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584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AEB2438-EC8E-438F-8CA1-C33C2F577B67}" type="datetimeFigureOut">
              <a:rPr lang="en-GB" smtClean="0"/>
              <a:t>01/02/2023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A76F3BA-691C-4C3E-A1D2-4715E72C48D5}" type="slidenum">
              <a:rPr lang="en-GB" smtClean="0"/>
              <a:t>‹#›</a:t>
            </a:fld>
            <a:endParaRPr lang="en-GB"/>
          </a:p>
        </p:txBody>
      </p:sp>
    </p:spTree>
    <p:extLst>
      <p:ext uri="{BB962C8B-B14F-4D97-AF65-F5344CB8AC3E}">
        <p14:creationId xmlns:p14="http://schemas.microsoft.com/office/powerpoint/2010/main" val="1977435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AEB2438-EC8E-438F-8CA1-C33C2F577B67}" type="datetimeFigureOut">
              <a:rPr lang="en-GB" smtClean="0"/>
              <a:t>01/02/2023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A76F3BA-691C-4C3E-A1D2-4715E72C48D5}" type="slidenum">
              <a:rPr lang="en-GB" smtClean="0"/>
              <a:t>‹#›</a:t>
            </a:fld>
            <a:endParaRPr lang="en-GB"/>
          </a:p>
        </p:txBody>
      </p:sp>
    </p:spTree>
    <p:extLst>
      <p:ext uri="{BB962C8B-B14F-4D97-AF65-F5344CB8AC3E}">
        <p14:creationId xmlns:p14="http://schemas.microsoft.com/office/powerpoint/2010/main" val="584353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AEB2438-EC8E-438F-8CA1-C33C2F577B67}" type="datetimeFigureOut">
              <a:rPr lang="en-GB" smtClean="0"/>
              <a:t>01/02/2023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A76F3BA-691C-4C3E-A1D2-4715E72C48D5}" type="slidenum">
              <a:rPr lang="en-GB" smtClean="0"/>
              <a:t>‹#›</a:t>
            </a:fld>
            <a:endParaRPr lang="en-GB"/>
          </a:p>
        </p:txBody>
      </p:sp>
    </p:spTree>
    <p:extLst>
      <p:ext uri="{BB962C8B-B14F-4D97-AF65-F5344CB8AC3E}">
        <p14:creationId xmlns:p14="http://schemas.microsoft.com/office/powerpoint/2010/main" val="5245299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AEB2438-EC8E-438F-8CA1-C33C2F577B67}" type="datetimeFigureOut">
              <a:rPr lang="en-GB" smtClean="0"/>
              <a:t>01/02/2023</a:t>
            </a:fld>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GB"/>
          </a:p>
        </p:txBody>
      </p:sp>
      <p:sp>
        <p:nvSpPr>
          <p:cNvPr id="9" name="Slide Number Placeholder 8"/>
          <p:cNvSpPr>
            <a:spLocks noGrp="1"/>
          </p:cNvSpPr>
          <p:nvPr>
            <p:ph type="sldNum" sz="quarter" idx="12"/>
          </p:nvPr>
        </p:nvSpPr>
        <p:spPr/>
        <p:txBody>
          <a:bodyPr/>
          <a:lstStyle/>
          <a:p>
            <a:fld id="{AA76F3BA-691C-4C3E-A1D2-4715E72C48D5}" type="slidenum">
              <a:rPr lang="en-GB" smtClean="0"/>
              <a:t>‹#›</a:t>
            </a:fld>
            <a:endParaRPr lang="en-GB"/>
          </a:p>
        </p:txBody>
      </p:sp>
    </p:spTree>
    <p:extLst>
      <p:ext uri="{BB962C8B-B14F-4D97-AF65-F5344CB8AC3E}">
        <p14:creationId xmlns:p14="http://schemas.microsoft.com/office/powerpoint/2010/main" val="1159299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AEB2438-EC8E-438F-8CA1-C33C2F577B67}" type="datetimeFigureOut">
              <a:rPr lang="en-GB" smtClean="0"/>
              <a:t>01/02/2023</a:t>
            </a:fld>
            <a:endParaRPr lang="en-GB"/>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A76F3BA-691C-4C3E-A1D2-4715E72C48D5}" type="slidenum">
              <a:rPr lang="en-GB" smtClean="0"/>
              <a:t>‹#›</a:t>
            </a:fld>
            <a:endParaRPr lang="en-GB"/>
          </a:p>
        </p:txBody>
      </p:sp>
    </p:spTree>
    <p:extLst>
      <p:ext uri="{BB962C8B-B14F-4D97-AF65-F5344CB8AC3E}">
        <p14:creationId xmlns:p14="http://schemas.microsoft.com/office/powerpoint/2010/main" val="3704926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AEB2438-EC8E-438F-8CA1-C33C2F577B67}" type="datetimeFigureOut">
              <a:rPr lang="en-GB" smtClean="0"/>
              <a:t>01/02/2023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A76F3BA-691C-4C3E-A1D2-4715E72C48D5}" type="slidenum">
              <a:rPr lang="en-GB" smtClean="0"/>
              <a:t>‹#›</a:t>
            </a:fld>
            <a:endParaRPr lang="en-GB"/>
          </a:p>
        </p:txBody>
      </p:sp>
    </p:spTree>
    <p:extLst>
      <p:ext uri="{BB962C8B-B14F-4D97-AF65-F5344CB8AC3E}">
        <p14:creationId xmlns:p14="http://schemas.microsoft.com/office/powerpoint/2010/main" val="3980382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AEB2438-EC8E-438F-8CA1-C33C2F577B67}" type="datetimeFigureOut">
              <a:rPr lang="en-GB" smtClean="0"/>
              <a:t>01/02/2023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A76F3BA-691C-4C3E-A1D2-4715E72C48D5}" type="slidenum">
              <a:rPr lang="en-GB" smtClean="0"/>
              <a:t>‹#›</a:t>
            </a:fld>
            <a:endParaRPr lang="en-GB"/>
          </a:p>
        </p:txBody>
      </p:sp>
    </p:spTree>
    <p:extLst>
      <p:ext uri="{BB962C8B-B14F-4D97-AF65-F5344CB8AC3E}">
        <p14:creationId xmlns:p14="http://schemas.microsoft.com/office/powerpoint/2010/main" val="15155851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AEB2438-EC8E-438F-8CA1-C33C2F577B67}" type="datetimeFigureOut">
              <a:rPr lang="en-GB" smtClean="0"/>
              <a:t>01/02/2023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A76F3BA-691C-4C3E-A1D2-4715E72C48D5}" type="slidenum">
              <a:rPr lang="en-GB" smtClean="0"/>
              <a:t>‹#›</a:t>
            </a:fld>
            <a:endParaRPr lang="en-GB"/>
          </a:p>
        </p:txBody>
      </p:sp>
    </p:spTree>
    <p:extLst>
      <p:ext uri="{BB962C8B-B14F-4D97-AF65-F5344CB8AC3E}">
        <p14:creationId xmlns:p14="http://schemas.microsoft.com/office/powerpoint/2010/main" val="4060039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AEB2438-EC8E-438F-8CA1-C33C2F577B67}" type="datetimeFigureOut">
              <a:rPr lang="en-GB" smtClean="0"/>
              <a:t>01/02/2023</a:t>
            </a:fld>
            <a:endParaRPr lang="en-GB"/>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GB"/>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A76F3BA-691C-4C3E-A1D2-4715E72C48D5}" type="slidenum">
              <a:rPr lang="en-GB" smtClean="0"/>
              <a:t>‹#›</a:t>
            </a:fld>
            <a:endParaRPr lang="en-GB"/>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1997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jpeg"/><Relationship Id="rId2" Type="http://schemas.openxmlformats.org/officeDocument/2006/relationships/image" Target="../media/image7.jpeg"/><Relationship Id="rId1" Type="http://schemas.openxmlformats.org/officeDocument/2006/relationships/slideLayout" Target="../slideLayouts/slideLayout4.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 Id="rId9" Type="http://schemas.openxmlformats.org/officeDocument/2006/relationships/image" Target="../media/image15.jpeg"/></Relationships>
</file>

<file path=ppt/slides/_rels/slide29.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jpeg"/><Relationship Id="rId2" Type="http://schemas.openxmlformats.org/officeDocument/2006/relationships/image" Target="../media/image7.jpeg"/><Relationship Id="rId1" Type="http://schemas.openxmlformats.org/officeDocument/2006/relationships/slideLayout" Target="../slideLayouts/slideLayout4.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 Id="rId9" Type="http://schemas.openxmlformats.org/officeDocument/2006/relationships/image" Target="../media/image15.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hyperlink" Target="http://www.jameslindlibrary.org/" TargetMode="Externa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1013" y="3565237"/>
            <a:ext cx="8774187" cy="1542473"/>
          </a:xfrm>
        </p:spPr>
        <p:txBody>
          <a:bodyPr>
            <a:normAutofit fontScale="90000"/>
          </a:bodyPr>
          <a:lstStyle/>
          <a:p>
            <a:r>
              <a:rPr lang="en-GB" sz="6700" dirty="0" smtClean="0"/>
              <a:t>What is a randomised controlled trial?</a:t>
            </a:r>
            <a:r>
              <a:rPr lang="en-GB" dirty="0" smtClean="0"/>
              <a:t/>
            </a:r>
            <a:br>
              <a:rPr lang="en-GB" dirty="0" smtClean="0"/>
            </a:br>
            <a:endParaRPr lang="en-GB" dirty="0"/>
          </a:p>
        </p:txBody>
      </p:sp>
      <p:sp>
        <p:nvSpPr>
          <p:cNvPr id="3" name="Subtitle 2"/>
          <p:cNvSpPr>
            <a:spLocks noGrp="1"/>
          </p:cNvSpPr>
          <p:nvPr>
            <p:ph type="body" idx="1"/>
          </p:nvPr>
        </p:nvSpPr>
        <p:spPr>
          <a:xfrm>
            <a:off x="1187232" y="4204208"/>
            <a:ext cx="7772400" cy="1970488"/>
          </a:xfrm>
        </p:spPr>
        <p:txBody>
          <a:bodyPr>
            <a:normAutofit fontScale="40000" lnSpcReduction="20000"/>
          </a:bodyPr>
          <a:lstStyle/>
          <a:p>
            <a:endParaRPr lang="en-GB" sz="3400" dirty="0"/>
          </a:p>
          <a:p>
            <a:r>
              <a:rPr lang="en-GB" sz="3800" dirty="0"/>
              <a:t>Jack Wilkinson</a:t>
            </a:r>
          </a:p>
          <a:p>
            <a:r>
              <a:rPr lang="en-GB" sz="3800" dirty="0"/>
              <a:t>Centre for Biostatistics</a:t>
            </a:r>
          </a:p>
          <a:p>
            <a:r>
              <a:rPr lang="en-GB" sz="3800" dirty="0"/>
              <a:t>University of Manchester</a:t>
            </a:r>
          </a:p>
          <a:p>
            <a:endParaRPr lang="en-GB" dirty="0" smtClean="0"/>
          </a:p>
          <a:p>
            <a:r>
              <a:rPr lang="en-GB" sz="2900" dirty="0"/>
              <a:t>With thanks to Prof Richard Emsley and Dr Lesley-Anne Carter </a:t>
            </a:r>
          </a:p>
          <a:p>
            <a:endParaRPr lang="en-GB" dirty="0" smtClean="0"/>
          </a:p>
          <a:p>
            <a:endParaRPr lang="en-GB" dirty="0"/>
          </a:p>
        </p:txBody>
      </p:sp>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1919537" y="602673"/>
            <a:ext cx="1654811" cy="701040"/>
          </a:xfrm>
          <a:prstGeom prst="rect">
            <a:avLst/>
          </a:prstGeom>
        </p:spPr>
      </p:pic>
    </p:spTree>
    <p:extLst>
      <p:ext uri="{BB962C8B-B14F-4D97-AF65-F5344CB8AC3E}">
        <p14:creationId xmlns:p14="http://schemas.microsoft.com/office/powerpoint/2010/main" val="2942448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2743" y="500062"/>
            <a:ext cx="10515600" cy="1325563"/>
          </a:xfrm>
        </p:spPr>
        <p:txBody>
          <a:bodyPr/>
          <a:lstStyle/>
          <a:p>
            <a:r>
              <a:rPr lang="en-GB" dirty="0" smtClean="0"/>
              <a:t>Motivation</a:t>
            </a:r>
            <a:endParaRPr lang="en-GB" dirty="0"/>
          </a:p>
        </p:txBody>
      </p:sp>
      <p:sp>
        <p:nvSpPr>
          <p:cNvPr id="3" name="Content Placeholder 2"/>
          <p:cNvSpPr>
            <a:spLocks noGrp="1"/>
          </p:cNvSpPr>
          <p:nvPr>
            <p:ph idx="1"/>
          </p:nvPr>
        </p:nvSpPr>
        <p:spPr>
          <a:xfrm>
            <a:off x="1140350" y="1825625"/>
            <a:ext cx="10515600" cy="4351338"/>
          </a:xfrm>
        </p:spPr>
        <p:txBody>
          <a:bodyPr/>
          <a:lstStyle/>
          <a:p>
            <a:r>
              <a:rPr lang="en-GB" dirty="0" smtClean="0"/>
              <a:t>Our topic on this course is </a:t>
            </a:r>
            <a:r>
              <a:rPr lang="en-GB" b="1" dirty="0" smtClean="0"/>
              <a:t>testing health interventions.</a:t>
            </a:r>
          </a:p>
          <a:p>
            <a:pPr marL="0" indent="0">
              <a:buNone/>
            </a:pPr>
            <a:r>
              <a:rPr lang="en-GB" b="1" dirty="0"/>
              <a:t>	</a:t>
            </a:r>
            <a:r>
              <a:rPr lang="en-GB" b="1" i="1" dirty="0" smtClean="0"/>
              <a:t>- </a:t>
            </a:r>
            <a:r>
              <a:rPr lang="en-GB" i="1" dirty="0"/>
              <a:t>Does this treatment improve (or worsen) outcomes?  </a:t>
            </a:r>
          </a:p>
          <a:p>
            <a:pPr marL="0" indent="0">
              <a:buNone/>
            </a:pPr>
            <a:endParaRPr lang="en-GB" b="1" dirty="0"/>
          </a:p>
        </p:txBody>
      </p:sp>
    </p:spTree>
    <p:extLst>
      <p:ext uri="{BB962C8B-B14F-4D97-AF65-F5344CB8AC3E}">
        <p14:creationId xmlns:p14="http://schemas.microsoft.com/office/powerpoint/2010/main" val="179388758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2743" y="500062"/>
            <a:ext cx="10515600" cy="1325563"/>
          </a:xfrm>
        </p:spPr>
        <p:txBody>
          <a:bodyPr/>
          <a:lstStyle/>
          <a:p>
            <a:r>
              <a:rPr lang="en-GB" dirty="0" smtClean="0"/>
              <a:t>Motivation</a:t>
            </a:r>
            <a:endParaRPr lang="en-GB" dirty="0"/>
          </a:p>
        </p:txBody>
      </p:sp>
      <p:sp>
        <p:nvSpPr>
          <p:cNvPr id="3" name="Content Placeholder 2"/>
          <p:cNvSpPr>
            <a:spLocks noGrp="1"/>
          </p:cNvSpPr>
          <p:nvPr>
            <p:ph idx="1"/>
          </p:nvPr>
        </p:nvSpPr>
        <p:spPr>
          <a:xfrm>
            <a:off x="1140350" y="1825625"/>
            <a:ext cx="10515600" cy="4351338"/>
          </a:xfrm>
        </p:spPr>
        <p:txBody>
          <a:bodyPr/>
          <a:lstStyle/>
          <a:p>
            <a:r>
              <a:rPr lang="en-GB" dirty="0" smtClean="0"/>
              <a:t>Our topic on this course is </a:t>
            </a:r>
            <a:r>
              <a:rPr lang="en-GB" b="1" dirty="0" smtClean="0"/>
              <a:t>testing health interventions.</a:t>
            </a:r>
          </a:p>
          <a:p>
            <a:pPr marL="0" indent="0">
              <a:buNone/>
            </a:pPr>
            <a:r>
              <a:rPr lang="en-GB" b="1" dirty="0"/>
              <a:t>	</a:t>
            </a:r>
            <a:r>
              <a:rPr lang="en-GB" b="1" i="1" dirty="0" smtClean="0"/>
              <a:t>- </a:t>
            </a:r>
            <a:r>
              <a:rPr lang="en-GB" i="1" dirty="0"/>
              <a:t>Does this treatment improve (or worsen) outcomes?  </a:t>
            </a:r>
          </a:p>
          <a:p>
            <a:pPr marL="0" indent="0">
              <a:buNone/>
            </a:pPr>
            <a:endParaRPr lang="en-GB" b="1" dirty="0"/>
          </a:p>
        </p:txBody>
      </p:sp>
      <p:cxnSp>
        <p:nvCxnSpPr>
          <p:cNvPr id="6" name="Straight Connector 5"/>
          <p:cNvCxnSpPr/>
          <p:nvPr/>
        </p:nvCxnSpPr>
        <p:spPr>
          <a:xfrm flipV="1">
            <a:off x="4738255" y="2161310"/>
            <a:ext cx="2189018" cy="1847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65614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Intervention?</a:t>
            </a:r>
            <a:endParaRPr lang="en-GB" dirty="0"/>
          </a:p>
        </p:txBody>
      </p:sp>
      <p:sp>
        <p:nvSpPr>
          <p:cNvPr id="3" name="Content Placeholder 2"/>
          <p:cNvSpPr>
            <a:spLocks noGrp="1"/>
          </p:cNvSpPr>
          <p:nvPr>
            <p:ph idx="1"/>
          </p:nvPr>
        </p:nvSpPr>
        <p:spPr/>
        <p:txBody>
          <a:bodyPr/>
          <a:lstStyle/>
          <a:p>
            <a:pPr marL="0" indent="0">
              <a:buNone/>
            </a:pPr>
            <a:r>
              <a:rPr lang="en-GB" dirty="0" smtClean="0"/>
              <a:t>Could be </a:t>
            </a:r>
            <a:r>
              <a:rPr lang="en-GB" b="1" dirty="0" smtClean="0"/>
              <a:t>all kinds of things </a:t>
            </a:r>
            <a:r>
              <a:rPr lang="en-GB" dirty="0" err="1" smtClean="0"/>
              <a:t>e.g</a:t>
            </a:r>
            <a:r>
              <a:rPr lang="en-GB" dirty="0" smtClean="0"/>
              <a:t>:</a:t>
            </a:r>
          </a:p>
          <a:p>
            <a:pPr marL="0" indent="0">
              <a:buNone/>
            </a:pPr>
            <a:endParaRPr lang="en-GB" dirty="0" smtClean="0"/>
          </a:p>
          <a:p>
            <a:r>
              <a:rPr lang="en-GB" dirty="0" smtClean="0"/>
              <a:t>A drug (paracetamol for pain relief)</a:t>
            </a:r>
          </a:p>
          <a:p>
            <a:endParaRPr lang="en-GB" dirty="0"/>
          </a:p>
          <a:p>
            <a:r>
              <a:rPr lang="en-GB" dirty="0" smtClean="0"/>
              <a:t>A surgical procedure (coronary artery bypass for heart disease)</a:t>
            </a:r>
          </a:p>
          <a:p>
            <a:endParaRPr lang="en-GB" dirty="0"/>
          </a:p>
          <a:p>
            <a:r>
              <a:rPr lang="en-GB" dirty="0" smtClean="0"/>
              <a:t>An AI algorithm (prognostic model for patients with heart failure)</a:t>
            </a:r>
            <a:endParaRPr lang="en-GB" dirty="0"/>
          </a:p>
        </p:txBody>
      </p:sp>
    </p:spTree>
    <p:extLst>
      <p:ext uri="{BB962C8B-B14F-4D97-AF65-F5344CB8AC3E}">
        <p14:creationId xmlns:p14="http://schemas.microsoft.com/office/powerpoint/2010/main" val="15082069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Motivation</a:t>
            </a:r>
            <a:endParaRPr lang="en-GB" dirty="0"/>
          </a:p>
        </p:txBody>
      </p:sp>
      <p:sp>
        <p:nvSpPr>
          <p:cNvPr id="3" name="Content Placeholder 2"/>
          <p:cNvSpPr>
            <a:spLocks noGrp="1"/>
          </p:cNvSpPr>
          <p:nvPr>
            <p:ph idx="1"/>
          </p:nvPr>
        </p:nvSpPr>
        <p:spPr/>
        <p:txBody>
          <a:bodyPr/>
          <a:lstStyle/>
          <a:p>
            <a:r>
              <a:rPr lang="en-GB" dirty="0" smtClean="0"/>
              <a:t>Our topic on this course is </a:t>
            </a:r>
            <a:r>
              <a:rPr lang="en-GB" b="1" dirty="0" smtClean="0"/>
              <a:t>testing health interventions.</a:t>
            </a:r>
          </a:p>
          <a:p>
            <a:pPr marL="0" indent="0">
              <a:buNone/>
            </a:pPr>
            <a:r>
              <a:rPr lang="en-GB" b="1" dirty="0"/>
              <a:t>	</a:t>
            </a:r>
            <a:r>
              <a:rPr lang="en-GB" b="1" i="1" dirty="0" smtClean="0"/>
              <a:t>- </a:t>
            </a:r>
            <a:r>
              <a:rPr lang="en-GB" i="1" dirty="0"/>
              <a:t>Does this treatment improve (or worsen) outcomes? </a:t>
            </a:r>
            <a:endParaRPr lang="en-GB" i="1" dirty="0" smtClean="0"/>
          </a:p>
          <a:p>
            <a:pPr marL="0" indent="0">
              <a:buNone/>
            </a:pPr>
            <a:endParaRPr lang="en-GB" i="1" dirty="0"/>
          </a:p>
          <a:p>
            <a:r>
              <a:rPr lang="en-GB" b="1" dirty="0" smtClean="0"/>
              <a:t>Premise: </a:t>
            </a:r>
            <a:r>
              <a:rPr lang="en-GB" dirty="0" smtClean="0"/>
              <a:t>we have an obligation to test interventions </a:t>
            </a:r>
            <a:r>
              <a:rPr lang="en-GB" dirty="0"/>
              <a:t>in a robust manner</a:t>
            </a:r>
            <a:r>
              <a:rPr lang="en-GB" dirty="0" smtClean="0"/>
              <a:t>.</a:t>
            </a:r>
          </a:p>
          <a:p>
            <a:pPr marL="274320" lvl="1" indent="0">
              <a:buNone/>
            </a:pPr>
            <a:r>
              <a:rPr lang="en-GB" dirty="0" smtClean="0"/>
              <a:t>	</a:t>
            </a:r>
            <a:r>
              <a:rPr lang="en-GB" sz="2000" dirty="0" smtClean="0"/>
              <a:t>- </a:t>
            </a:r>
            <a:r>
              <a:rPr lang="en-GB" sz="2000" i="1" dirty="0" smtClean="0"/>
              <a:t>Surprisingly controversial? What’s the harm</a:t>
            </a:r>
            <a:r>
              <a:rPr lang="en-GB" sz="2000" i="1" dirty="0"/>
              <a:t>? </a:t>
            </a:r>
            <a:endParaRPr lang="en-GB" sz="2000" dirty="0"/>
          </a:p>
          <a:p>
            <a:endParaRPr lang="en-GB" i="1" dirty="0"/>
          </a:p>
          <a:p>
            <a:pPr marL="0" indent="0">
              <a:buNone/>
            </a:pPr>
            <a:endParaRPr lang="en-GB" b="1" dirty="0"/>
          </a:p>
        </p:txBody>
      </p:sp>
    </p:spTree>
    <p:extLst>
      <p:ext uri="{BB962C8B-B14F-4D97-AF65-F5344CB8AC3E}">
        <p14:creationId xmlns:p14="http://schemas.microsoft.com/office/powerpoint/2010/main" val="24192976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Motivation</a:t>
            </a:r>
            <a:endParaRPr lang="en-GB" dirty="0"/>
          </a:p>
        </p:txBody>
      </p:sp>
      <p:sp>
        <p:nvSpPr>
          <p:cNvPr id="3" name="Content Placeholder 2"/>
          <p:cNvSpPr>
            <a:spLocks noGrp="1"/>
          </p:cNvSpPr>
          <p:nvPr>
            <p:ph idx="1"/>
          </p:nvPr>
        </p:nvSpPr>
        <p:spPr/>
        <p:txBody>
          <a:bodyPr/>
          <a:lstStyle/>
          <a:p>
            <a:r>
              <a:rPr lang="en-GB" dirty="0" smtClean="0"/>
              <a:t>Our topic on this course is </a:t>
            </a:r>
            <a:r>
              <a:rPr lang="en-GB" b="1" dirty="0" smtClean="0"/>
              <a:t>testing health interventions.</a:t>
            </a:r>
          </a:p>
          <a:p>
            <a:pPr marL="0" indent="0">
              <a:buNone/>
            </a:pPr>
            <a:r>
              <a:rPr lang="en-GB" b="1" dirty="0"/>
              <a:t>	</a:t>
            </a:r>
            <a:r>
              <a:rPr lang="en-GB" b="1" i="1" dirty="0" smtClean="0"/>
              <a:t>- </a:t>
            </a:r>
            <a:r>
              <a:rPr lang="en-GB" i="1" dirty="0"/>
              <a:t>Does this treatment improve (or worsen) outcomes? </a:t>
            </a:r>
            <a:endParaRPr lang="en-GB" i="1" dirty="0" smtClean="0"/>
          </a:p>
          <a:p>
            <a:pPr marL="0" indent="0">
              <a:buNone/>
            </a:pPr>
            <a:endParaRPr lang="en-GB" i="1" dirty="0"/>
          </a:p>
          <a:p>
            <a:r>
              <a:rPr lang="en-GB" b="1" dirty="0" smtClean="0"/>
              <a:t>Premise: </a:t>
            </a:r>
            <a:r>
              <a:rPr lang="en-GB" dirty="0" smtClean="0"/>
              <a:t>we have an obligation to test interventions </a:t>
            </a:r>
            <a:r>
              <a:rPr lang="en-GB" dirty="0"/>
              <a:t>in a robust manner</a:t>
            </a:r>
            <a:r>
              <a:rPr lang="en-GB" dirty="0" smtClean="0"/>
              <a:t>.</a:t>
            </a:r>
          </a:p>
          <a:p>
            <a:pPr marL="274320" lvl="1" indent="0">
              <a:buNone/>
            </a:pPr>
            <a:r>
              <a:rPr lang="en-GB" dirty="0" smtClean="0"/>
              <a:t>	</a:t>
            </a:r>
            <a:r>
              <a:rPr lang="en-GB" sz="2000" dirty="0" smtClean="0"/>
              <a:t>- </a:t>
            </a:r>
            <a:r>
              <a:rPr lang="en-GB" sz="2000" i="1" dirty="0" smtClean="0"/>
              <a:t>Surprisingly controversial? What’s the harm? </a:t>
            </a:r>
          </a:p>
          <a:p>
            <a:pPr marL="274320" lvl="1" indent="0">
              <a:buNone/>
            </a:pPr>
            <a:r>
              <a:rPr lang="en-GB" sz="2000" i="1" dirty="0" smtClean="0"/>
              <a:t>	- Treatments may make things </a:t>
            </a:r>
            <a:r>
              <a:rPr lang="en-GB" sz="2000" i="1" u="sng" dirty="0" smtClean="0"/>
              <a:t>worse</a:t>
            </a:r>
            <a:r>
              <a:rPr lang="en-GB" sz="2000" i="1" dirty="0" smtClean="0"/>
              <a:t>, as well as better!</a:t>
            </a:r>
          </a:p>
          <a:p>
            <a:pPr marL="1051560" lvl="4" indent="0">
              <a:buNone/>
            </a:pPr>
            <a:endParaRPr lang="en-GB" dirty="0"/>
          </a:p>
          <a:p>
            <a:endParaRPr lang="en-GB" i="1" dirty="0"/>
          </a:p>
          <a:p>
            <a:pPr marL="0" indent="0">
              <a:buNone/>
            </a:pPr>
            <a:endParaRPr lang="en-GB" b="1" dirty="0"/>
          </a:p>
        </p:txBody>
      </p:sp>
    </p:spTree>
    <p:extLst>
      <p:ext uri="{BB962C8B-B14F-4D97-AF65-F5344CB8AC3E}">
        <p14:creationId xmlns:p14="http://schemas.microsoft.com/office/powerpoint/2010/main" val="29054961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Motivation</a:t>
            </a:r>
            <a:endParaRPr lang="en-GB" dirty="0"/>
          </a:p>
        </p:txBody>
      </p:sp>
      <p:sp>
        <p:nvSpPr>
          <p:cNvPr id="3" name="Content Placeholder 2"/>
          <p:cNvSpPr>
            <a:spLocks noGrp="1"/>
          </p:cNvSpPr>
          <p:nvPr>
            <p:ph idx="1"/>
          </p:nvPr>
        </p:nvSpPr>
        <p:spPr/>
        <p:txBody>
          <a:bodyPr/>
          <a:lstStyle/>
          <a:p>
            <a:r>
              <a:rPr lang="en-GB" dirty="0" smtClean="0"/>
              <a:t>Our topic on this course is </a:t>
            </a:r>
            <a:r>
              <a:rPr lang="en-GB" b="1" dirty="0" smtClean="0"/>
              <a:t>testing health interventions.</a:t>
            </a:r>
          </a:p>
          <a:p>
            <a:pPr marL="0" indent="0">
              <a:buNone/>
            </a:pPr>
            <a:r>
              <a:rPr lang="en-GB" b="1" dirty="0"/>
              <a:t>	</a:t>
            </a:r>
            <a:r>
              <a:rPr lang="en-GB" b="1" i="1" dirty="0" smtClean="0"/>
              <a:t>- </a:t>
            </a:r>
            <a:r>
              <a:rPr lang="en-GB" i="1" dirty="0"/>
              <a:t>Does this treatment improve (or worsen) outcomes? </a:t>
            </a:r>
            <a:endParaRPr lang="en-GB" i="1" dirty="0" smtClean="0"/>
          </a:p>
          <a:p>
            <a:pPr marL="0" indent="0">
              <a:buNone/>
            </a:pPr>
            <a:endParaRPr lang="en-GB" i="1" dirty="0"/>
          </a:p>
          <a:p>
            <a:r>
              <a:rPr lang="en-GB" b="1" dirty="0" smtClean="0"/>
              <a:t>Premise: </a:t>
            </a:r>
            <a:r>
              <a:rPr lang="en-GB" dirty="0" smtClean="0"/>
              <a:t>we have an obligation to test interventions </a:t>
            </a:r>
            <a:r>
              <a:rPr lang="en-GB" dirty="0"/>
              <a:t>in a robust manner</a:t>
            </a:r>
            <a:r>
              <a:rPr lang="en-GB" dirty="0" smtClean="0"/>
              <a:t>.</a:t>
            </a:r>
          </a:p>
          <a:p>
            <a:pPr marL="274320" lvl="1" indent="0">
              <a:buNone/>
            </a:pPr>
            <a:r>
              <a:rPr lang="en-GB" dirty="0" smtClean="0"/>
              <a:t>	</a:t>
            </a:r>
            <a:r>
              <a:rPr lang="en-GB" sz="2000" dirty="0" smtClean="0"/>
              <a:t>- </a:t>
            </a:r>
            <a:r>
              <a:rPr lang="en-GB" sz="2000" i="1" dirty="0" smtClean="0"/>
              <a:t>Surprisingly controversial? What’s the harm? </a:t>
            </a:r>
          </a:p>
          <a:p>
            <a:pPr marL="274320" lvl="1" indent="0">
              <a:buNone/>
            </a:pPr>
            <a:r>
              <a:rPr lang="en-GB" sz="2000" i="1" dirty="0" smtClean="0"/>
              <a:t>	- Treatments may make things </a:t>
            </a:r>
            <a:r>
              <a:rPr lang="en-GB" sz="2000" i="1" u="sng" dirty="0" smtClean="0"/>
              <a:t>worse</a:t>
            </a:r>
            <a:r>
              <a:rPr lang="en-GB" sz="2000" i="1" dirty="0" smtClean="0"/>
              <a:t>, as well as better!</a:t>
            </a:r>
          </a:p>
          <a:p>
            <a:pPr marL="274320" lvl="1" indent="0">
              <a:buNone/>
            </a:pPr>
            <a:endParaRPr lang="en-GB" sz="2000" i="1" dirty="0"/>
          </a:p>
          <a:p>
            <a:pPr marL="274320" lvl="1" indent="0">
              <a:buNone/>
            </a:pPr>
            <a:r>
              <a:rPr lang="en-GB" sz="2000" b="1" i="1" dirty="0"/>
              <a:t> </a:t>
            </a:r>
            <a:r>
              <a:rPr lang="en-GB" sz="2000" b="1" dirty="0"/>
              <a:t>Question: </a:t>
            </a:r>
            <a:r>
              <a:rPr lang="en-GB" sz="2000" dirty="0"/>
              <a:t>How can we do that?</a:t>
            </a:r>
          </a:p>
          <a:p>
            <a:pPr marL="274320" lvl="1" indent="0">
              <a:buNone/>
            </a:pPr>
            <a:endParaRPr lang="en-GB" sz="2000" i="1" dirty="0" smtClean="0"/>
          </a:p>
          <a:p>
            <a:pPr marL="1051560" lvl="4" indent="0">
              <a:buNone/>
            </a:pPr>
            <a:endParaRPr lang="en-GB" dirty="0"/>
          </a:p>
          <a:p>
            <a:endParaRPr lang="en-GB" i="1" dirty="0"/>
          </a:p>
          <a:p>
            <a:pPr marL="0" indent="0">
              <a:buNone/>
            </a:pPr>
            <a:endParaRPr lang="en-GB" b="1" dirty="0"/>
          </a:p>
        </p:txBody>
      </p:sp>
    </p:spTree>
    <p:extLst>
      <p:ext uri="{BB962C8B-B14F-4D97-AF65-F5344CB8AC3E}">
        <p14:creationId xmlns:p14="http://schemas.microsoft.com/office/powerpoint/2010/main" val="167571257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Motivation</a:t>
            </a:r>
            <a:endParaRPr lang="en-GB" dirty="0"/>
          </a:p>
        </p:txBody>
      </p:sp>
      <p:sp>
        <p:nvSpPr>
          <p:cNvPr id="3" name="Content Placeholder 2"/>
          <p:cNvSpPr>
            <a:spLocks noGrp="1"/>
          </p:cNvSpPr>
          <p:nvPr>
            <p:ph idx="1"/>
          </p:nvPr>
        </p:nvSpPr>
        <p:spPr/>
        <p:txBody>
          <a:bodyPr/>
          <a:lstStyle/>
          <a:p>
            <a:r>
              <a:rPr lang="en-GB" dirty="0" smtClean="0"/>
              <a:t>Our topic on this course is </a:t>
            </a:r>
            <a:r>
              <a:rPr lang="en-GB" b="1" dirty="0" smtClean="0"/>
              <a:t>testing health interventions.</a:t>
            </a:r>
          </a:p>
          <a:p>
            <a:pPr marL="0" indent="0">
              <a:buNone/>
            </a:pPr>
            <a:r>
              <a:rPr lang="en-GB" b="1" dirty="0"/>
              <a:t>	</a:t>
            </a:r>
            <a:r>
              <a:rPr lang="en-GB" b="1" i="1" dirty="0" smtClean="0"/>
              <a:t>- </a:t>
            </a:r>
            <a:r>
              <a:rPr lang="en-GB" i="1" dirty="0"/>
              <a:t>Does this treatment improve (or worsen) outcomes? </a:t>
            </a:r>
            <a:endParaRPr lang="en-GB" i="1" dirty="0" smtClean="0"/>
          </a:p>
          <a:p>
            <a:pPr marL="0" indent="0">
              <a:buNone/>
            </a:pPr>
            <a:endParaRPr lang="en-GB" i="1" dirty="0"/>
          </a:p>
          <a:p>
            <a:r>
              <a:rPr lang="en-GB" b="1" dirty="0" smtClean="0"/>
              <a:t>Premise: </a:t>
            </a:r>
            <a:r>
              <a:rPr lang="en-GB" dirty="0" smtClean="0"/>
              <a:t>we have an obligation to test interventions </a:t>
            </a:r>
            <a:r>
              <a:rPr lang="en-GB" dirty="0"/>
              <a:t>in a robust manner</a:t>
            </a:r>
            <a:r>
              <a:rPr lang="en-GB" dirty="0" smtClean="0"/>
              <a:t>.</a:t>
            </a:r>
          </a:p>
          <a:p>
            <a:pPr marL="274320" lvl="1" indent="0">
              <a:buNone/>
            </a:pPr>
            <a:r>
              <a:rPr lang="en-GB" dirty="0" smtClean="0"/>
              <a:t>	</a:t>
            </a:r>
            <a:r>
              <a:rPr lang="en-GB" sz="2000" dirty="0" smtClean="0"/>
              <a:t>- </a:t>
            </a:r>
            <a:r>
              <a:rPr lang="en-GB" sz="2000" i="1" dirty="0" smtClean="0"/>
              <a:t>Surprisingly controversial? What’s the harm? </a:t>
            </a:r>
          </a:p>
          <a:p>
            <a:pPr marL="274320" lvl="1" indent="0">
              <a:buNone/>
            </a:pPr>
            <a:r>
              <a:rPr lang="en-GB" sz="2000" i="1" dirty="0" smtClean="0"/>
              <a:t>	- Treatments may make things </a:t>
            </a:r>
            <a:r>
              <a:rPr lang="en-GB" sz="2000" i="1" u="sng" dirty="0" smtClean="0"/>
              <a:t>worse</a:t>
            </a:r>
            <a:r>
              <a:rPr lang="en-GB" sz="2000" i="1" dirty="0" smtClean="0"/>
              <a:t>, as well as better!</a:t>
            </a:r>
          </a:p>
          <a:p>
            <a:pPr marL="274320" lvl="1" indent="0">
              <a:buNone/>
            </a:pPr>
            <a:endParaRPr lang="en-GB" sz="2000" i="1" dirty="0"/>
          </a:p>
          <a:p>
            <a:pPr marL="274320" lvl="1" indent="0">
              <a:buNone/>
            </a:pPr>
            <a:r>
              <a:rPr lang="en-GB" sz="2000" b="1" i="1" dirty="0"/>
              <a:t> </a:t>
            </a:r>
            <a:r>
              <a:rPr lang="en-GB" sz="2000" b="1" dirty="0"/>
              <a:t>Question: </a:t>
            </a:r>
            <a:r>
              <a:rPr lang="en-GB" sz="2000" dirty="0"/>
              <a:t>How can we do that</a:t>
            </a:r>
            <a:r>
              <a:rPr lang="en-GB" sz="2000" dirty="0" smtClean="0"/>
              <a:t>?</a:t>
            </a:r>
          </a:p>
          <a:p>
            <a:pPr marL="274320" lvl="1" indent="0">
              <a:buNone/>
            </a:pPr>
            <a:r>
              <a:rPr lang="en-GB" sz="2000" dirty="0"/>
              <a:t>	</a:t>
            </a:r>
            <a:r>
              <a:rPr lang="en-GB" sz="2000" i="1" dirty="0"/>
              <a:t>- Randomised controlled trials (or randomised clinical trials, RCTs).</a:t>
            </a:r>
          </a:p>
          <a:p>
            <a:pPr marL="274320" lvl="1" indent="0">
              <a:buNone/>
            </a:pPr>
            <a:endParaRPr lang="en-GB" sz="2000" dirty="0"/>
          </a:p>
          <a:p>
            <a:pPr marL="274320" lvl="1" indent="0">
              <a:buNone/>
            </a:pPr>
            <a:endParaRPr lang="en-GB" sz="2000" i="1" dirty="0" smtClean="0"/>
          </a:p>
          <a:p>
            <a:pPr marL="1051560" lvl="4" indent="0">
              <a:buNone/>
            </a:pPr>
            <a:endParaRPr lang="en-GB" dirty="0"/>
          </a:p>
          <a:p>
            <a:endParaRPr lang="en-GB" i="1" dirty="0"/>
          </a:p>
          <a:p>
            <a:pPr marL="0" indent="0">
              <a:buNone/>
            </a:pPr>
            <a:endParaRPr lang="en-GB" b="1" dirty="0"/>
          </a:p>
        </p:txBody>
      </p:sp>
    </p:spTree>
    <p:extLst>
      <p:ext uri="{BB962C8B-B14F-4D97-AF65-F5344CB8AC3E}">
        <p14:creationId xmlns:p14="http://schemas.microsoft.com/office/powerpoint/2010/main" val="11818865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are randomised controlled trials (RCTs)?</a:t>
            </a:r>
            <a:endParaRPr lang="en-GB" dirty="0"/>
          </a:p>
        </p:txBody>
      </p:sp>
      <p:sp>
        <p:nvSpPr>
          <p:cNvPr id="3" name="Content Placeholder 2"/>
          <p:cNvSpPr>
            <a:spLocks noGrp="1"/>
          </p:cNvSpPr>
          <p:nvPr>
            <p:ph idx="1"/>
          </p:nvPr>
        </p:nvSpPr>
        <p:spPr>
          <a:xfrm>
            <a:off x="894080" y="2076643"/>
            <a:ext cx="10058400" cy="4023360"/>
          </a:xfrm>
        </p:spPr>
        <p:txBody>
          <a:bodyPr>
            <a:normAutofit/>
          </a:bodyPr>
          <a:lstStyle/>
          <a:p>
            <a:r>
              <a:rPr lang="en-GB" sz="2400" dirty="0" smtClean="0"/>
              <a:t>We will explain by contrasting to other types of </a:t>
            </a:r>
            <a:r>
              <a:rPr lang="en-GB" sz="2400" b="1" dirty="0" smtClean="0"/>
              <a:t>clinical studies </a:t>
            </a:r>
            <a:r>
              <a:rPr lang="en-GB" sz="2400" dirty="0" smtClean="0"/>
              <a:t>(</a:t>
            </a:r>
            <a:r>
              <a:rPr lang="en-GB" sz="2400" i="1" dirty="0" smtClean="0"/>
              <a:t>non-randomised, observational</a:t>
            </a:r>
            <a:r>
              <a:rPr lang="en-GB" sz="2400" dirty="0" smtClean="0"/>
              <a:t>).</a:t>
            </a:r>
          </a:p>
          <a:p>
            <a:endParaRPr lang="en-GB" dirty="0"/>
          </a:p>
          <a:p>
            <a:endParaRPr lang="en-GB" dirty="0" smtClean="0"/>
          </a:p>
          <a:p>
            <a:pPr marL="0" indent="0">
              <a:buNone/>
            </a:pPr>
            <a:endParaRPr lang="en-GB" dirty="0" smtClean="0"/>
          </a:p>
          <a:p>
            <a:pPr marL="0" indent="0">
              <a:buNone/>
            </a:pPr>
            <a:endParaRPr lang="en-GB" dirty="0" smtClean="0"/>
          </a:p>
          <a:p>
            <a:endParaRPr lang="en-GB" dirty="0" smtClean="0"/>
          </a:p>
          <a:p>
            <a:endParaRPr lang="en-GB" dirty="0"/>
          </a:p>
          <a:p>
            <a:endParaRPr lang="en-GB" dirty="0"/>
          </a:p>
        </p:txBody>
      </p:sp>
    </p:spTree>
    <p:extLst>
      <p:ext uri="{BB962C8B-B14F-4D97-AF65-F5344CB8AC3E}">
        <p14:creationId xmlns:p14="http://schemas.microsoft.com/office/powerpoint/2010/main" val="19741321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Some clinical background for our examples today</a:t>
            </a:r>
            <a:endParaRPr lang="en-GB" dirty="0"/>
          </a:p>
        </p:txBody>
      </p:sp>
      <p:sp>
        <p:nvSpPr>
          <p:cNvPr id="3" name="Content Placeholder 2"/>
          <p:cNvSpPr>
            <a:spLocks noGrp="1"/>
          </p:cNvSpPr>
          <p:nvPr>
            <p:ph idx="1"/>
          </p:nvPr>
        </p:nvSpPr>
        <p:spPr/>
        <p:txBody>
          <a:bodyPr/>
          <a:lstStyle/>
          <a:p>
            <a:r>
              <a:rPr lang="en-GB" dirty="0" smtClean="0"/>
              <a:t>We are going to look at two examples relating to </a:t>
            </a:r>
            <a:r>
              <a:rPr lang="en-GB" b="1" dirty="0" smtClean="0"/>
              <a:t>in vitro fertilisation (IVF). </a:t>
            </a:r>
          </a:p>
          <a:p>
            <a:pPr marL="0" indent="0">
              <a:buNone/>
            </a:pPr>
            <a:endParaRPr lang="en-GB" dirty="0" smtClean="0"/>
          </a:p>
          <a:p>
            <a:r>
              <a:rPr lang="en-GB" dirty="0" smtClean="0"/>
              <a:t>People undergo IVF when they are having </a:t>
            </a:r>
            <a:r>
              <a:rPr lang="en-GB" b="1" dirty="0" smtClean="0"/>
              <a:t>fertility problems</a:t>
            </a:r>
            <a:r>
              <a:rPr lang="en-GB" dirty="0" smtClean="0"/>
              <a:t>.</a:t>
            </a:r>
          </a:p>
          <a:p>
            <a:pPr marL="0" indent="0">
              <a:buNone/>
            </a:pPr>
            <a:endParaRPr lang="en-GB" dirty="0" smtClean="0"/>
          </a:p>
          <a:p>
            <a:r>
              <a:rPr lang="en-GB" dirty="0" smtClean="0"/>
              <a:t>The goal of treatment is to help them </a:t>
            </a:r>
            <a:r>
              <a:rPr lang="en-GB" b="1" dirty="0" smtClean="0"/>
              <a:t>have a baby</a:t>
            </a:r>
            <a:r>
              <a:rPr lang="en-GB" dirty="0" smtClean="0"/>
              <a:t>.</a:t>
            </a:r>
          </a:p>
          <a:p>
            <a:endParaRPr lang="en-GB" dirty="0"/>
          </a:p>
        </p:txBody>
      </p:sp>
      <p:pic>
        <p:nvPicPr>
          <p:cNvPr id="4"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6893" y="3180198"/>
            <a:ext cx="5216416" cy="2821745"/>
          </a:xfrm>
          <a:prstGeom prst="rect">
            <a:avLst/>
          </a:prstGeom>
        </p:spPr>
      </p:pic>
    </p:spTree>
    <p:extLst>
      <p:ext uri="{BB962C8B-B14F-4D97-AF65-F5344CB8AC3E}">
        <p14:creationId xmlns:p14="http://schemas.microsoft.com/office/powerpoint/2010/main" val="326740565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5399" y="1037493"/>
            <a:ext cx="6791325" cy="4876800"/>
          </a:xfrm>
        </p:spPr>
      </p:pic>
      <p:sp>
        <p:nvSpPr>
          <p:cNvPr id="5" name="TextBox 4"/>
          <p:cNvSpPr txBox="1"/>
          <p:nvPr/>
        </p:nvSpPr>
        <p:spPr>
          <a:xfrm>
            <a:off x="6777439" y="1887288"/>
            <a:ext cx="5103568" cy="1200329"/>
          </a:xfrm>
          <a:prstGeom prst="rect">
            <a:avLst/>
          </a:prstGeom>
          <a:noFill/>
        </p:spPr>
        <p:txBody>
          <a:bodyPr wrap="square" rtlCol="0">
            <a:spAutoFit/>
          </a:bodyPr>
          <a:lstStyle/>
          <a:p>
            <a:r>
              <a:rPr lang="en-GB" dirty="0" smtClean="0"/>
              <a:t>Q: If we scratch the inside of the uterus before in vitro fertilisation (IVF), does it improve the chance of having a baby?</a:t>
            </a:r>
          </a:p>
          <a:p>
            <a:endParaRPr lang="en-GB" dirty="0"/>
          </a:p>
        </p:txBody>
      </p:sp>
      <p:sp>
        <p:nvSpPr>
          <p:cNvPr id="2" name="TextBox 1"/>
          <p:cNvSpPr txBox="1"/>
          <p:nvPr/>
        </p:nvSpPr>
        <p:spPr>
          <a:xfrm>
            <a:off x="597877" y="439615"/>
            <a:ext cx="10638692" cy="707886"/>
          </a:xfrm>
          <a:prstGeom prst="rect">
            <a:avLst/>
          </a:prstGeom>
          <a:noFill/>
        </p:spPr>
        <p:txBody>
          <a:bodyPr wrap="square" rtlCol="0">
            <a:spAutoFit/>
          </a:bodyPr>
          <a:lstStyle/>
          <a:p>
            <a:r>
              <a:rPr lang="en-GB" sz="4000" spc="-100" dirty="0" smtClean="0">
                <a:solidFill>
                  <a:srgbClr val="424456"/>
                </a:solidFill>
                <a:ea typeface="+mj-ea"/>
                <a:cs typeface="+mj-cs"/>
              </a:rPr>
              <a:t>Example of an RCT</a:t>
            </a:r>
            <a:endParaRPr lang="en-GB" sz="4000" dirty="0"/>
          </a:p>
        </p:txBody>
      </p:sp>
    </p:spTree>
    <p:extLst>
      <p:ext uri="{BB962C8B-B14F-4D97-AF65-F5344CB8AC3E}">
        <p14:creationId xmlns:p14="http://schemas.microsoft.com/office/powerpoint/2010/main" val="217707358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688015" y="2013439"/>
            <a:ext cx="5503985" cy="3970318"/>
          </a:xfrm>
          <a:prstGeom prst="rect">
            <a:avLst/>
          </a:prstGeom>
          <a:noFill/>
        </p:spPr>
        <p:txBody>
          <a:bodyPr wrap="square" rtlCol="0">
            <a:spAutoFit/>
          </a:bodyPr>
          <a:lstStyle/>
          <a:p>
            <a:pPr marL="285750" indent="-285750">
              <a:buFont typeface="Arial" panose="020B0604020202020204" pitchFamily="34" charset="0"/>
              <a:buChar char="•"/>
            </a:pPr>
            <a:r>
              <a:rPr lang="en-GB" dirty="0" smtClean="0"/>
              <a:t>A cohort study</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smtClean="0"/>
              <a:t>Q: Does use of enriched embryo culture medium improve the chance of having a baby?</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smtClean="0"/>
              <a:t> ‘Culture medium’ is the liquid used to grow embryos in IVF.</a:t>
            </a:r>
          </a:p>
          <a:p>
            <a:pPr marL="285750" indent="-285750">
              <a:buFont typeface="Arial" panose="020B0604020202020204" pitchFamily="34" charset="0"/>
              <a:buChar char="•"/>
            </a:pPr>
            <a:endParaRPr lang="en-GB" dirty="0" smtClean="0"/>
          </a:p>
          <a:p>
            <a:endParaRPr lang="en-GB" dirty="0" smtClean="0"/>
          </a:p>
          <a:p>
            <a:pPr marL="285750" indent="-285750">
              <a:buFont typeface="Arial" panose="020B0604020202020204" pitchFamily="34" charset="0"/>
              <a:buChar char="•"/>
            </a:pPr>
            <a:r>
              <a:rPr lang="en-GB" dirty="0" smtClean="0"/>
              <a:t>Will use these to illustrate key features of RCTs</a:t>
            </a:r>
          </a:p>
          <a:p>
            <a:endParaRPr lang="en-GB" dirty="0" smtClean="0"/>
          </a:p>
          <a:p>
            <a:endParaRPr lang="en-GB" dirty="0" smtClean="0"/>
          </a:p>
          <a:p>
            <a:pPr marL="285750" indent="-285750">
              <a:buFont typeface="Arial" panose="020B0604020202020204" pitchFamily="34" charset="0"/>
              <a:buChar char="•"/>
            </a:pPr>
            <a:r>
              <a:rPr lang="en-GB" dirty="0" smtClean="0"/>
              <a:t>You will learn to </a:t>
            </a:r>
            <a:r>
              <a:rPr lang="en-GB" b="1" dirty="0" smtClean="0"/>
              <a:t>design, analyse</a:t>
            </a:r>
            <a:r>
              <a:rPr lang="en-GB" dirty="0" smtClean="0"/>
              <a:t>, </a:t>
            </a:r>
            <a:r>
              <a:rPr lang="en-GB" b="1" dirty="0" smtClean="0"/>
              <a:t>interpret </a:t>
            </a:r>
            <a:r>
              <a:rPr lang="en-GB" dirty="0" smtClean="0"/>
              <a:t>and </a:t>
            </a:r>
            <a:r>
              <a:rPr lang="en-GB" b="1" dirty="0" smtClean="0"/>
              <a:t>critically appraise</a:t>
            </a:r>
            <a:r>
              <a:rPr lang="en-GB" dirty="0" smtClean="0"/>
              <a:t> clinical studies on this unit.</a:t>
            </a:r>
            <a:endParaRPr lang="en-GB"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59357"/>
            <a:ext cx="6648524" cy="2431289"/>
          </a:xfrm>
          <a:prstGeom prst="rect">
            <a:avLst/>
          </a:prstGeom>
        </p:spPr>
      </p:pic>
      <p:sp>
        <p:nvSpPr>
          <p:cNvPr id="2" name="Rectangle 1"/>
          <p:cNvSpPr/>
          <p:nvPr/>
        </p:nvSpPr>
        <p:spPr>
          <a:xfrm>
            <a:off x="490023" y="685772"/>
            <a:ext cx="7976864" cy="707886"/>
          </a:xfrm>
          <a:prstGeom prst="rect">
            <a:avLst/>
          </a:prstGeom>
        </p:spPr>
        <p:txBody>
          <a:bodyPr wrap="none">
            <a:spAutoFit/>
          </a:bodyPr>
          <a:lstStyle/>
          <a:p>
            <a:r>
              <a:rPr lang="en-GB" sz="4000" spc="-100" dirty="0">
                <a:solidFill>
                  <a:srgbClr val="424456"/>
                </a:solidFill>
              </a:rPr>
              <a:t>Example of </a:t>
            </a:r>
            <a:r>
              <a:rPr lang="en-GB" sz="4000" spc="-100" dirty="0" smtClean="0">
                <a:solidFill>
                  <a:srgbClr val="424456"/>
                </a:solidFill>
              </a:rPr>
              <a:t>a non-randomised study</a:t>
            </a:r>
            <a:endParaRPr lang="en-GB" sz="4000" dirty="0"/>
          </a:p>
        </p:txBody>
      </p:sp>
    </p:spTree>
    <p:extLst>
      <p:ext uri="{BB962C8B-B14F-4D97-AF65-F5344CB8AC3E}">
        <p14:creationId xmlns:p14="http://schemas.microsoft.com/office/powerpoint/2010/main" val="43099849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932873" y="1468582"/>
            <a:ext cx="10732654" cy="63730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a:xfrm>
            <a:off x="2001520" y="416878"/>
            <a:ext cx="8229600" cy="1143000"/>
          </a:xfrm>
        </p:spPr>
        <p:txBody>
          <a:bodyPr>
            <a:normAutofit fontScale="90000"/>
          </a:bodyPr>
          <a:lstStyle/>
          <a:p>
            <a:r>
              <a:rPr lang="en-GB" dirty="0" smtClean="0"/>
              <a:t>Much medical research is low quality</a:t>
            </a:r>
            <a:endParaRPr lang="en-GB"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1500" y="1765300"/>
            <a:ext cx="7574280" cy="1539240"/>
          </a:xfrm>
          <a:prstGeom prst="rect">
            <a:avLst/>
          </a:prstGeom>
        </p:spPr>
      </p:pic>
      <p:sp>
        <p:nvSpPr>
          <p:cNvPr id="4" name="TextBox 3"/>
          <p:cNvSpPr txBox="1"/>
          <p:nvPr/>
        </p:nvSpPr>
        <p:spPr>
          <a:xfrm>
            <a:off x="1841500" y="3419060"/>
            <a:ext cx="8667474" cy="923330"/>
          </a:xfrm>
          <a:prstGeom prst="rect">
            <a:avLst/>
          </a:prstGeom>
          <a:noFill/>
        </p:spPr>
        <p:txBody>
          <a:bodyPr wrap="square" rtlCol="0">
            <a:spAutoFit/>
          </a:bodyPr>
          <a:lstStyle/>
          <a:p>
            <a:pPr algn="ctr" eaLnBrk="0" fontAlgn="base" hangingPunct="0">
              <a:spcBef>
                <a:spcPct val="0"/>
              </a:spcBef>
              <a:spcAft>
                <a:spcPct val="0"/>
              </a:spcAft>
            </a:pPr>
            <a:r>
              <a:rPr lang="en-GB" dirty="0">
                <a:solidFill>
                  <a:srgbClr val="000000"/>
                </a:solidFill>
              </a:rPr>
              <a:t>“Much poor research arises because researchers feel compelled for career reasons to carry out research that they are ill equipped to perform, and nobody stops them.” </a:t>
            </a:r>
            <a:r>
              <a:rPr lang="en-GB" i="1" dirty="0">
                <a:solidFill>
                  <a:srgbClr val="000000"/>
                </a:solidFill>
              </a:rPr>
              <a:t>Doug Altman, 1994.</a:t>
            </a:r>
          </a:p>
        </p:txBody>
      </p:sp>
      <p:sp>
        <p:nvSpPr>
          <p:cNvPr id="5" name="TextBox 4"/>
          <p:cNvSpPr txBox="1"/>
          <p:nvPr/>
        </p:nvSpPr>
        <p:spPr>
          <a:xfrm>
            <a:off x="1825444" y="4703178"/>
            <a:ext cx="8478630" cy="1200329"/>
          </a:xfrm>
          <a:prstGeom prst="rect">
            <a:avLst/>
          </a:prstGeom>
          <a:noFill/>
        </p:spPr>
        <p:txBody>
          <a:bodyPr wrap="square" rtlCol="0">
            <a:spAutoFit/>
          </a:bodyPr>
          <a:lstStyle/>
          <a:p>
            <a:pPr marL="285750" indent="-285750" eaLnBrk="0" fontAlgn="base" hangingPunct="0">
              <a:spcBef>
                <a:spcPct val="0"/>
              </a:spcBef>
              <a:spcAft>
                <a:spcPct val="0"/>
              </a:spcAft>
              <a:buFont typeface="Wingdings" panose="05000000000000000000" pitchFamily="2" charset="2"/>
              <a:buChar char="Ø"/>
            </a:pPr>
            <a:r>
              <a:rPr lang="en-GB" dirty="0">
                <a:solidFill>
                  <a:srgbClr val="000000"/>
                </a:solidFill>
              </a:rPr>
              <a:t>Medical researchers routinely get the wrong answers to research questions, because they don’t understand research design and statistical methodology.</a:t>
            </a:r>
          </a:p>
          <a:p>
            <a:pPr eaLnBrk="0" fontAlgn="base" hangingPunct="0">
              <a:spcBef>
                <a:spcPct val="0"/>
              </a:spcBef>
              <a:spcAft>
                <a:spcPct val="0"/>
              </a:spcAft>
            </a:pPr>
            <a:endParaRPr lang="en-GB" dirty="0">
              <a:solidFill>
                <a:srgbClr val="000000"/>
              </a:solidFill>
            </a:endParaRPr>
          </a:p>
          <a:p>
            <a:pPr marL="285750" indent="-285750" eaLnBrk="0" fontAlgn="base" hangingPunct="0">
              <a:spcBef>
                <a:spcPct val="0"/>
              </a:spcBef>
              <a:spcAft>
                <a:spcPct val="0"/>
              </a:spcAft>
              <a:buFont typeface="Wingdings" panose="05000000000000000000" pitchFamily="2" charset="2"/>
              <a:buChar char="Ø"/>
            </a:pPr>
            <a:r>
              <a:rPr lang="en-GB" dirty="0">
                <a:solidFill>
                  <a:srgbClr val="000000"/>
                </a:solidFill>
              </a:rPr>
              <a:t> But bad research = bad medicine (and wasted resources).</a:t>
            </a:r>
          </a:p>
        </p:txBody>
      </p:sp>
      <p:sp>
        <p:nvSpPr>
          <p:cNvPr id="6" name="Rectangle 5"/>
          <p:cNvSpPr/>
          <p:nvPr/>
        </p:nvSpPr>
        <p:spPr bwMode="auto">
          <a:xfrm>
            <a:off x="1841500" y="1620079"/>
            <a:ext cx="8667474" cy="2912165"/>
          </a:xfrm>
          <a:prstGeom prst="rect">
            <a:avLst/>
          </a:prstGeom>
          <a:noFill/>
          <a:ln w="50800" cap="flat" cmpd="sng" algn="ctr">
            <a:solidFill>
              <a:schemeClr val="accent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solidFill>
                <a:srgbClr val="000000"/>
              </a:solidFill>
            </a:endParaRPr>
          </a:p>
        </p:txBody>
      </p:sp>
    </p:spTree>
    <p:extLst>
      <p:ext uri="{BB962C8B-B14F-4D97-AF65-F5344CB8AC3E}">
        <p14:creationId xmlns:p14="http://schemas.microsoft.com/office/powerpoint/2010/main" val="51927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bwMode="auto">
          <a:xfrm>
            <a:off x="2001520" y="1046480"/>
            <a:ext cx="8544560" cy="508000"/>
          </a:xfrm>
          <a:prstGeom prst="rect">
            <a:avLst/>
          </a:prstGeom>
          <a:solidFill>
            <a:schemeClr val="bg1"/>
          </a:solidFill>
          <a:ln w="508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solidFill>
                <a:srgbClr val="000000"/>
              </a:solidFill>
            </a:endParaRPr>
          </a:p>
        </p:txBody>
      </p:sp>
      <p:sp>
        <p:nvSpPr>
          <p:cNvPr id="3" name="TextBox 2"/>
          <p:cNvSpPr txBox="1"/>
          <p:nvPr/>
        </p:nvSpPr>
        <p:spPr>
          <a:xfrm>
            <a:off x="1012093" y="1554480"/>
            <a:ext cx="8838147" cy="4801314"/>
          </a:xfrm>
          <a:prstGeom prst="rect">
            <a:avLst/>
          </a:prstGeom>
          <a:noFill/>
        </p:spPr>
        <p:txBody>
          <a:bodyPr wrap="square" rtlCol="0">
            <a:spAutoFit/>
          </a:bodyPr>
          <a:lstStyle/>
          <a:p>
            <a:pPr marL="285750" indent="-285750" eaLnBrk="0" fontAlgn="base" hangingPunct="0">
              <a:spcBef>
                <a:spcPct val="0"/>
              </a:spcBef>
              <a:spcAft>
                <a:spcPct val="0"/>
              </a:spcAft>
              <a:buFont typeface="Wingdings" panose="05000000000000000000" pitchFamily="2" charset="2"/>
              <a:buChar char="Ø"/>
            </a:pPr>
            <a:r>
              <a:rPr lang="en-GB" dirty="0">
                <a:solidFill>
                  <a:srgbClr val="000000"/>
                </a:solidFill>
              </a:rPr>
              <a:t> </a:t>
            </a:r>
            <a:r>
              <a:rPr lang="en-GB" dirty="0" smtClean="0">
                <a:solidFill>
                  <a:srgbClr val="000000"/>
                </a:solidFill>
              </a:rPr>
              <a:t>Good clinical research: easier said than done</a:t>
            </a:r>
          </a:p>
          <a:p>
            <a:pPr marL="285750" indent="-285750" eaLnBrk="0" fontAlgn="base" hangingPunct="0">
              <a:spcBef>
                <a:spcPct val="0"/>
              </a:spcBef>
              <a:spcAft>
                <a:spcPct val="0"/>
              </a:spcAft>
              <a:buFont typeface="Wingdings" panose="05000000000000000000" pitchFamily="2" charset="2"/>
              <a:buChar char="Ø"/>
            </a:pPr>
            <a:endParaRPr lang="en-GB" dirty="0">
              <a:solidFill>
                <a:srgbClr val="000000"/>
              </a:solidFill>
            </a:endParaRPr>
          </a:p>
          <a:p>
            <a:pPr marL="285750" indent="-285750" eaLnBrk="0" fontAlgn="base" hangingPunct="0">
              <a:spcBef>
                <a:spcPct val="0"/>
              </a:spcBef>
              <a:spcAft>
                <a:spcPct val="0"/>
              </a:spcAft>
              <a:buFont typeface="Wingdings" panose="05000000000000000000" pitchFamily="2" charset="2"/>
              <a:buChar char="Ø"/>
            </a:pPr>
            <a:r>
              <a:rPr lang="en-GB" dirty="0" smtClean="0">
                <a:solidFill>
                  <a:srgbClr val="000000"/>
                </a:solidFill>
              </a:rPr>
              <a:t>Interpreting/ critically appraising isn’t easy either</a:t>
            </a:r>
            <a:endParaRPr lang="en-GB" dirty="0">
              <a:solidFill>
                <a:srgbClr val="000000"/>
              </a:solidFill>
            </a:endParaRPr>
          </a:p>
          <a:p>
            <a:pPr eaLnBrk="0" fontAlgn="base" hangingPunct="0">
              <a:spcBef>
                <a:spcPct val="0"/>
              </a:spcBef>
              <a:spcAft>
                <a:spcPct val="0"/>
              </a:spcAft>
            </a:pPr>
            <a:endParaRPr lang="en-GB" b="1" dirty="0">
              <a:solidFill>
                <a:srgbClr val="000000"/>
              </a:solidFill>
            </a:endParaRPr>
          </a:p>
          <a:p>
            <a:pPr marL="285750" indent="-285750" eaLnBrk="0" fontAlgn="base" hangingPunct="0">
              <a:spcBef>
                <a:spcPct val="0"/>
              </a:spcBef>
              <a:spcAft>
                <a:spcPct val="0"/>
              </a:spcAft>
              <a:buFont typeface="Wingdings" panose="05000000000000000000" pitchFamily="2" charset="2"/>
              <a:buChar char="Ø"/>
            </a:pPr>
            <a:r>
              <a:rPr lang="en-GB" dirty="0">
                <a:solidFill>
                  <a:srgbClr val="000000"/>
                </a:solidFill>
              </a:rPr>
              <a:t>T</a:t>
            </a:r>
            <a:r>
              <a:rPr lang="en-GB" dirty="0" smtClean="0">
                <a:solidFill>
                  <a:srgbClr val="000000"/>
                </a:solidFill>
              </a:rPr>
              <a:t>here </a:t>
            </a:r>
            <a:r>
              <a:rPr lang="en-GB" dirty="0">
                <a:solidFill>
                  <a:srgbClr val="000000"/>
                </a:solidFill>
              </a:rPr>
              <a:t>are many </a:t>
            </a:r>
            <a:r>
              <a:rPr lang="en-GB" dirty="0" smtClean="0">
                <a:solidFill>
                  <a:srgbClr val="000000"/>
                </a:solidFill>
              </a:rPr>
              <a:t>aspects </a:t>
            </a:r>
            <a:r>
              <a:rPr lang="en-GB" dirty="0">
                <a:solidFill>
                  <a:srgbClr val="000000"/>
                </a:solidFill>
              </a:rPr>
              <a:t>to consider:</a:t>
            </a:r>
            <a:endParaRPr lang="en-GB" b="1" dirty="0">
              <a:solidFill>
                <a:srgbClr val="000000"/>
              </a:solidFill>
            </a:endParaRPr>
          </a:p>
          <a:p>
            <a:pPr eaLnBrk="0" fontAlgn="base" hangingPunct="0">
              <a:spcBef>
                <a:spcPct val="0"/>
              </a:spcBef>
              <a:spcAft>
                <a:spcPct val="0"/>
              </a:spcAft>
            </a:pPr>
            <a:endParaRPr lang="en-GB" b="1" dirty="0">
              <a:solidFill>
                <a:srgbClr val="000000"/>
              </a:solidFill>
            </a:endParaRPr>
          </a:p>
          <a:p>
            <a:pPr eaLnBrk="0" fontAlgn="base" hangingPunct="0">
              <a:spcBef>
                <a:spcPct val="0"/>
              </a:spcBef>
              <a:spcAft>
                <a:spcPct val="0"/>
              </a:spcAft>
            </a:pPr>
            <a:r>
              <a:rPr lang="en-GB" b="1" dirty="0">
                <a:solidFill>
                  <a:srgbClr val="000000"/>
                </a:solidFill>
              </a:rPr>
              <a:t> Control group</a:t>
            </a:r>
          </a:p>
          <a:p>
            <a:pPr eaLnBrk="0" fontAlgn="base" hangingPunct="0">
              <a:spcBef>
                <a:spcPct val="0"/>
              </a:spcBef>
              <a:spcAft>
                <a:spcPct val="0"/>
              </a:spcAft>
            </a:pPr>
            <a:r>
              <a:rPr lang="en-GB" b="1" dirty="0">
                <a:solidFill>
                  <a:srgbClr val="000000"/>
                </a:solidFill>
              </a:rPr>
              <a:t> Blinding</a:t>
            </a:r>
          </a:p>
          <a:p>
            <a:pPr eaLnBrk="0" fontAlgn="base" hangingPunct="0">
              <a:spcBef>
                <a:spcPct val="0"/>
              </a:spcBef>
              <a:spcAft>
                <a:spcPct val="0"/>
              </a:spcAft>
            </a:pPr>
            <a:r>
              <a:rPr lang="en-GB" b="1" dirty="0">
                <a:solidFill>
                  <a:srgbClr val="000000"/>
                </a:solidFill>
              </a:rPr>
              <a:t> Analysis</a:t>
            </a:r>
          </a:p>
          <a:p>
            <a:pPr eaLnBrk="0" fontAlgn="base" hangingPunct="0">
              <a:spcBef>
                <a:spcPct val="0"/>
              </a:spcBef>
              <a:spcAft>
                <a:spcPct val="0"/>
              </a:spcAft>
            </a:pPr>
            <a:r>
              <a:rPr lang="en-GB" b="1" dirty="0">
                <a:solidFill>
                  <a:srgbClr val="000000"/>
                </a:solidFill>
              </a:rPr>
              <a:t> Outcome assessment</a:t>
            </a:r>
          </a:p>
          <a:p>
            <a:pPr eaLnBrk="0" fontAlgn="base" hangingPunct="0">
              <a:spcBef>
                <a:spcPct val="0"/>
              </a:spcBef>
              <a:spcAft>
                <a:spcPct val="0"/>
              </a:spcAft>
            </a:pPr>
            <a:r>
              <a:rPr lang="en-GB" b="1" dirty="0">
                <a:solidFill>
                  <a:srgbClr val="000000"/>
                </a:solidFill>
              </a:rPr>
              <a:t> Primary outcome</a:t>
            </a:r>
          </a:p>
          <a:p>
            <a:pPr eaLnBrk="0" fontAlgn="base" hangingPunct="0">
              <a:spcBef>
                <a:spcPct val="0"/>
              </a:spcBef>
              <a:spcAft>
                <a:spcPct val="0"/>
              </a:spcAft>
            </a:pPr>
            <a:r>
              <a:rPr lang="en-GB" b="1" dirty="0">
                <a:solidFill>
                  <a:srgbClr val="000000"/>
                </a:solidFill>
              </a:rPr>
              <a:t> Sample size/ power</a:t>
            </a:r>
          </a:p>
          <a:p>
            <a:pPr eaLnBrk="0" fontAlgn="base" hangingPunct="0">
              <a:spcBef>
                <a:spcPct val="0"/>
              </a:spcBef>
              <a:spcAft>
                <a:spcPct val="0"/>
              </a:spcAft>
            </a:pPr>
            <a:r>
              <a:rPr lang="en-GB" b="1" dirty="0">
                <a:solidFill>
                  <a:srgbClr val="000000"/>
                </a:solidFill>
              </a:rPr>
              <a:t> Randomisation</a:t>
            </a:r>
          </a:p>
          <a:p>
            <a:pPr eaLnBrk="0" fontAlgn="base" hangingPunct="0">
              <a:spcBef>
                <a:spcPct val="0"/>
              </a:spcBef>
              <a:spcAft>
                <a:spcPct val="0"/>
              </a:spcAft>
            </a:pPr>
            <a:r>
              <a:rPr lang="en-GB" b="1" dirty="0">
                <a:solidFill>
                  <a:srgbClr val="000000"/>
                </a:solidFill>
              </a:rPr>
              <a:t> Allocation concealment</a:t>
            </a:r>
          </a:p>
          <a:p>
            <a:pPr eaLnBrk="0" fontAlgn="base" hangingPunct="0">
              <a:spcBef>
                <a:spcPct val="0"/>
              </a:spcBef>
              <a:spcAft>
                <a:spcPct val="0"/>
              </a:spcAft>
            </a:pPr>
            <a:r>
              <a:rPr lang="en-GB" b="1" dirty="0">
                <a:solidFill>
                  <a:srgbClr val="000000"/>
                </a:solidFill>
              </a:rPr>
              <a:t> Choice of sample...</a:t>
            </a:r>
          </a:p>
          <a:p>
            <a:pPr eaLnBrk="0" fontAlgn="base" hangingPunct="0">
              <a:spcBef>
                <a:spcPct val="0"/>
              </a:spcBef>
              <a:spcAft>
                <a:spcPct val="0"/>
              </a:spcAft>
            </a:pPr>
            <a:endParaRPr lang="en-GB" b="1" dirty="0">
              <a:solidFill>
                <a:srgbClr val="000000"/>
              </a:solidFill>
            </a:endParaRPr>
          </a:p>
          <a:p>
            <a:pPr eaLnBrk="0" fontAlgn="base" hangingPunct="0">
              <a:spcBef>
                <a:spcPct val="0"/>
              </a:spcBef>
              <a:spcAft>
                <a:spcPct val="0"/>
              </a:spcAft>
            </a:pPr>
            <a:r>
              <a:rPr lang="en-GB" dirty="0">
                <a:solidFill>
                  <a:srgbClr val="000000"/>
                </a:solidFill>
              </a:rPr>
              <a:t>We will learn about the importance of </a:t>
            </a:r>
            <a:r>
              <a:rPr lang="en-GB" dirty="0" smtClean="0">
                <a:solidFill>
                  <a:srgbClr val="000000"/>
                </a:solidFill>
              </a:rPr>
              <a:t>these features in this unit!</a:t>
            </a:r>
            <a:endParaRPr lang="en-GB" b="1" dirty="0">
              <a:solidFill>
                <a:srgbClr val="000000"/>
              </a:solidFill>
            </a:endParaRPr>
          </a:p>
        </p:txBody>
      </p:sp>
      <p:sp>
        <p:nvSpPr>
          <p:cNvPr id="5" name="TextBox 4"/>
          <p:cNvSpPr txBox="1"/>
          <p:nvPr/>
        </p:nvSpPr>
        <p:spPr>
          <a:xfrm>
            <a:off x="633046" y="592594"/>
            <a:ext cx="10902461" cy="707886"/>
          </a:xfrm>
          <a:prstGeom prst="rect">
            <a:avLst/>
          </a:prstGeom>
          <a:noFill/>
        </p:spPr>
        <p:txBody>
          <a:bodyPr wrap="square" rtlCol="0">
            <a:spAutoFit/>
          </a:bodyPr>
          <a:lstStyle/>
          <a:p>
            <a:r>
              <a:rPr lang="en-GB" sz="4000" dirty="0" smtClean="0">
                <a:latin typeface="+mj-lt"/>
              </a:rPr>
              <a:t>But good clinical research is hard</a:t>
            </a:r>
            <a:endParaRPr lang="en-GB" sz="4000" dirty="0">
              <a:latin typeface="+mj-lt"/>
            </a:endParaRPr>
          </a:p>
        </p:txBody>
      </p:sp>
    </p:spTree>
    <p:extLst>
      <p:ext uri="{BB962C8B-B14F-4D97-AF65-F5344CB8AC3E}">
        <p14:creationId xmlns:p14="http://schemas.microsoft.com/office/powerpoint/2010/main" val="30536247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32873" y="1468582"/>
            <a:ext cx="10732654" cy="63730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a:xfrm>
            <a:off x="1911626" y="2257536"/>
            <a:ext cx="8846489" cy="1129720"/>
          </a:xfrm>
        </p:spPr>
        <p:txBody>
          <a:bodyPr>
            <a:noAutofit/>
          </a:bodyPr>
          <a:lstStyle/>
          <a:p>
            <a:pPr algn="ctr"/>
            <a:r>
              <a:rPr lang="en-GB" sz="5400" dirty="0" smtClean="0"/>
              <a:t>Some terminology: treatment groups, control groups, and outcomes.</a:t>
            </a:r>
            <a:endParaRPr lang="en-GB" sz="5400" dirty="0"/>
          </a:p>
        </p:txBody>
      </p:sp>
    </p:spTree>
    <p:extLst>
      <p:ext uri="{BB962C8B-B14F-4D97-AF65-F5344CB8AC3E}">
        <p14:creationId xmlns:p14="http://schemas.microsoft.com/office/powerpoint/2010/main" val="213930055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Some terminology</a:t>
            </a:r>
            <a:endParaRPr lang="en-GB" dirty="0"/>
          </a:p>
        </p:txBody>
      </p:sp>
      <p:sp>
        <p:nvSpPr>
          <p:cNvPr id="3" name="Content Placeholder 2"/>
          <p:cNvSpPr>
            <a:spLocks noGrp="1"/>
          </p:cNvSpPr>
          <p:nvPr>
            <p:ph idx="1"/>
          </p:nvPr>
        </p:nvSpPr>
        <p:spPr/>
        <p:txBody>
          <a:bodyPr/>
          <a:lstStyle/>
          <a:p>
            <a:r>
              <a:rPr lang="en-GB" b="1" dirty="0" smtClean="0"/>
              <a:t>Treatment/ intervention/ exposure group: </a:t>
            </a:r>
            <a:r>
              <a:rPr lang="en-GB" dirty="0" smtClean="0"/>
              <a:t>used to mean the group of participants being given the treatment under evaluation in the study</a:t>
            </a:r>
            <a:r>
              <a:rPr lang="en-GB" dirty="0"/>
              <a:t>. (Also ‘experimental’ group/ treatment</a:t>
            </a:r>
            <a:r>
              <a:rPr lang="en-GB" dirty="0" smtClean="0"/>
              <a:t>).</a:t>
            </a:r>
          </a:p>
          <a:p>
            <a:endParaRPr lang="en-GB" dirty="0"/>
          </a:p>
          <a:p>
            <a:r>
              <a:rPr lang="en-GB" b="1" dirty="0" smtClean="0"/>
              <a:t>Control group: </a:t>
            </a:r>
            <a:r>
              <a:rPr lang="en-GB" dirty="0" smtClean="0"/>
              <a:t>the group to which the treatment group is being compared.</a:t>
            </a:r>
          </a:p>
          <a:p>
            <a:endParaRPr lang="en-GB" dirty="0"/>
          </a:p>
          <a:p>
            <a:endParaRPr lang="en-GB" dirty="0"/>
          </a:p>
          <a:p>
            <a:endParaRPr lang="en-GB" dirty="0"/>
          </a:p>
        </p:txBody>
      </p:sp>
    </p:spTree>
    <p:extLst>
      <p:ext uri="{BB962C8B-B14F-4D97-AF65-F5344CB8AC3E}">
        <p14:creationId xmlns:p14="http://schemas.microsoft.com/office/powerpoint/2010/main" val="16224795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a:t>
            </a:r>
            <a:r>
              <a:rPr lang="en-GB" dirty="0" smtClean="0"/>
              <a:t>reatment </a:t>
            </a:r>
            <a:r>
              <a:rPr lang="en-GB" dirty="0"/>
              <a:t>and control groups</a:t>
            </a:r>
          </a:p>
        </p:txBody>
      </p:sp>
      <p:sp>
        <p:nvSpPr>
          <p:cNvPr id="3" name="Content Placeholder 2"/>
          <p:cNvSpPr>
            <a:spLocks noGrp="1"/>
          </p:cNvSpPr>
          <p:nvPr>
            <p:ph idx="1"/>
          </p:nvPr>
        </p:nvSpPr>
        <p:spPr/>
        <p:txBody>
          <a:bodyPr/>
          <a:lstStyle/>
          <a:p>
            <a:r>
              <a:rPr lang="en-GB" b="1" dirty="0" smtClean="0"/>
              <a:t>Treatment/ intervention/ exposure group: </a:t>
            </a:r>
            <a:r>
              <a:rPr lang="en-GB" dirty="0" smtClean="0"/>
              <a:t>used to mean the group of participants being given the treatment under evaluation in the study. (Also ‘experimental’ group/ treatment).</a:t>
            </a:r>
            <a:endParaRPr lang="en-GB" dirty="0"/>
          </a:p>
        </p:txBody>
      </p:sp>
      <p:pic>
        <p:nvPicPr>
          <p:cNvPr id="4"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3244" y="2696444"/>
            <a:ext cx="4569082" cy="3281024"/>
          </a:xfrm>
          <a:prstGeom prst="rect">
            <a:avLst/>
          </a:prstGeom>
        </p:spPr>
      </p:pic>
      <p:sp>
        <p:nvSpPr>
          <p:cNvPr id="5" name="TextBox 4"/>
          <p:cNvSpPr txBox="1"/>
          <p:nvPr/>
        </p:nvSpPr>
        <p:spPr>
          <a:xfrm>
            <a:off x="5855677" y="2954215"/>
            <a:ext cx="6224953" cy="2031325"/>
          </a:xfrm>
          <a:prstGeom prst="rect">
            <a:avLst/>
          </a:prstGeom>
          <a:noFill/>
        </p:spPr>
        <p:txBody>
          <a:bodyPr wrap="square" rtlCol="0">
            <a:spAutoFit/>
          </a:bodyPr>
          <a:lstStyle/>
          <a:p>
            <a:pPr marL="285750" indent="-285750">
              <a:buFont typeface="Arial" panose="020B0604020202020204" pitchFamily="34" charset="0"/>
              <a:buChar char="•"/>
            </a:pPr>
            <a:r>
              <a:rPr lang="en-GB" dirty="0" smtClean="0"/>
              <a:t>The </a:t>
            </a:r>
            <a:r>
              <a:rPr lang="en-GB" b="1" dirty="0" smtClean="0"/>
              <a:t>treatment group </a:t>
            </a:r>
            <a:r>
              <a:rPr lang="en-GB" dirty="0" smtClean="0"/>
              <a:t>underwent endometrial scratching before having IVF. </a:t>
            </a:r>
          </a:p>
          <a:p>
            <a:endParaRPr lang="en-GB" dirty="0" smtClean="0"/>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dirty="0" smtClean="0"/>
              <a:t>A </a:t>
            </a:r>
            <a:r>
              <a:rPr lang="en-GB" b="1" dirty="0" smtClean="0"/>
              <a:t> control (comparator) group </a:t>
            </a:r>
            <a:r>
              <a:rPr lang="en-GB" dirty="0" smtClean="0"/>
              <a:t>underwent IVF without endometrial scratching. Note they still had some treatment (IVF).</a:t>
            </a:r>
            <a:endParaRPr lang="en-GB" b="1" dirty="0"/>
          </a:p>
        </p:txBody>
      </p:sp>
    </p:spTree>
    <p:extLst>
      <p:ext uri="{BB962C8B-B14F-4D97-AF65-F5344CB8AC3E}">
        <p14:creationId xmlns:p14="http://schemas.microsoft.com/office/powerpoint/2010/main" val="276313234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Treatment </a:t>
            </a:r>
            <a:r>
              <a:rPr lang="en-GB" dirty="0"/>
              <a:t>and control groups</a:t>
            </a:r>
          </a:p>
        </p:txBody>
      </p:sp>
      <p:sp>
        <p:nvSpPr>
          <p:cNvPr id="3" name="Content Placeholder 2"/>
          <p:cNvSpPr>
            <a:spLocks noGrp="1"/>
          </p:cNvSpPr>
          <p:nvPr>
            <p:ph idx="1"/>
          </p:nvPr>
        </p:nvSpPr>
        <p:spPr>
          <a:xfrm>
            <a:off x="817863" y="1579134"/>
            <a:ext cx="10515600" cy="4351338"/>
          </a:xfrm>
        </p:spPr>
        <p:txBody>
          <a:bodyPr/>
          <a:lstStyle/>
          <a:p>
            <a:endParaRPr lang="en-GB" b="1" dirty="0" smtClean="0"/>
          </a:p>
          <a:p>
            <a:r>
              <a:rPr lang="en-GB" b="1" dirty="0" smtClean="0"/>
              <a:t>Treatment/ intervention/ exposure group: </a:t>
            </a:r>
            <a:r>
              <a:rPr lang="en-GB" dirty="0" smtClean="0"/>
              <a:t>used to mean the group of participants being given the treatment under evaluation in the study. (Also ‘experimental’ group/ treatment).</a:t>
            </a:r>
            <a:endParaRPr lang="en-GB" dirty="0"/>
          </a:p>
        </p:txBody>
      </p:sp>
      <p:sp>
        <p:nvSpPr>
          <p:cNvPr id="5" name="TextBox 4"/>
          <p:cNvSpPr txBox="1"/>
          <p:nvPr/>
        </p:nvSpPr>
        <p:spPr>
          <a:xfrm>
            <a:off x="5967047" y="2791151"/>
            <a:ext cx="6224953" cy="2585323"/>
          </a:xfrm>
          <a:prstGeom prst="rect">
            <a:avLst/>
          </a:prstGeom>
          <a:noFill/>
        </p:spPr>
        <p:txBody>
          <a:bodyPr wrap="square" rtlCol="0">
            <a:spAutoFit/>
          </a:bodyPr>
          <a:lstStyle/>
          <a:p>
            <a:endParaRPr lang="en-GB" dirty="0"/>
          </a:p>
          <a:p>
            <a:pPr marL="285750" indent="-285750">
              <a:buFont typeface="Arial" panose="020B0604020202020204" pitchFamily="34" charset="0"/>
              <a:buChar char="•"/>
            </a:pPr>
            <a:r>
              <a:rPr lang="en-GB" dirty="0" smtClean="0"/>
              <a:t>The </a:t>
            </a:r>
            <a:r>
              <a:rPr lang="en-GB" b="1" dirty="0" smtClean="0"/>
              <a:t>treatment group(s) </a:t>
            </a:r>
            <a:r>
              <a:rPr lang="en-GB" dirty="0" smtClean="0"/>
              <a:t>had embryos cultured in enriched culture medium. </a:t>
            </a:r>
          </a:p>
          <a:p>
            <a:endParaRPr lang="en-GB" dirty="0" smtClean="0"/>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dirty="0" smtClean="0"/>
              <a:t>A </a:t>
            </a:r>
            <a:r>
              <a:rPr lang="en-GB" b="1" dirty="0" smtClean="0"/>
              <a:t> control (comparator) group </a:t>
            </a:r>
            <a:r>
              <a:rPr lang="en-GB" dirty="0" smtClean="0"/>
              <a:t>had embryos cultured in normal culture medium. </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smtClean="0"/>
              <a:t>Note: </a:t>
            </a:r>
            <a:r>
              <a:rPr lang="en-GB" dirty="0" smtClean="0"/>
              <a:t>this study actually considered two enriched groups.</a:t>
            </a:r>
            <a:endParaRPr lang="en-GB" b="1"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0506" y="2937174"/>
            <a:ext cx="5278066" cy="1930128"/>
          </a:xfrm>
          <a:prstGeom prst="rect">
            <a:avLst/>
          </a:prstGeom>
        </p:spPr>
      </p:pic>
    </p:spTree>
    <p:extLst>
      <p:ext uri="{BB962C8B-B14F-4D97-AF65-F5344CB8AC3E}">
        <p14:creationId xmlns:p14="http://schemas.microsoft.com/office/powerpoint/2010/main" val="95287987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Outcomes</a:t>
            </a:r>
            <a:endParaRPr lang="en-GB" dirty="0"/>
          </a:p>
        </p:txBody>
      </p:sp>
      <p:sp>
        <p:nvSpPr>
          <p:cNvPr id="3" name="Content Placeholder 2"/>
          <p:cNvSpPr>
            <a:spLocks noGrp="1"/>
          </p:cNvSpPr>
          <p:nvPr>
            <p:ph idx="1"/>
          </p:nvPr>
        </p:nvSpPr>
        <p:spPr/>
        <p:txBody>
          <a:bodyPr/>
          <a:lstStyle/>
          <a:p>
            <a:pPr marL="342900" indent="-342900"/>
            <a:r>
              <a:rPr lang="en-GB" b="1" dirty="0" smtClean="0"/>
              <a:t>Outcome variable: </a:t>
            </a:r>
            <a:r>
              <a:rPr lang="en-GB" dirty="0" smtClean="0"/>
              <a:t>A measure of the patient’s health post-treatment (e.g. how they responded to treatment … were patients’ blood glucose levels ‘better controlled’ if they wore a blood glucose monitor?).</a:t>
            </a:r>
          </a:p>
          <a:p>
            <a:pPr marL="342900" indent="-342900"/>
            <a:endParaRPr lang="en-GB" b="1" dirty="0" smtClean="0"/>
          </a:p>
          <a:p>
            <a:pPr marL="342900" indent="-342900"/>
            <a:r>
              <a:rPr lang="en-GB" dirty="0" smtClean="0"/>
              <a:t>Often, we want to find out about the </a:t>
            </a:r>
            <a:r>
              <a:rPr lang="en-GB" i="1" dirty="0" smtClean="0"/>
              <a:t>effect </a:t>
            </a:r>
            <a:r>
              <a:rPr lang="en-GB" dirty="0" smtClean="0"/>
              <a:t>of the </a:t>
            </a:r>
            <a:r>
              <a:rPr lang="en-GB" b="1" dirty="0" smtClean="0"/>
              <a:t>treatment</a:t>
            </a:r>
            <a:r>
              <a:rPr lang="en-GB" dirty="0" smtClean="0"/>
              <a:t> on the </a:t>
            </a:r>
            <a:r>
              <a:rPr lang="en-GB" b="1" dirty="0" smtClean="0"/>
              <a:t>outcome</a:t>
            </a:r>
            <a:r>
              <a:rPr lang="en-GB" dirty="0" smtClean="0"/>
              <a:t> variable.</a:t>
            </a:r>
          </a:p>
          <a:p>
            <a:endParaRPr lang="en-GB" dirty="0"/>
          </a:p>
        </p:txBody>
      </p:sp>
    </p:spTree>
    <p:extLst>
      <p:ext uri="{BB962C8B-B14F-4D97-AF65-F5344CB8AC3E}">
        <p14:creationId xmlns:p14="http://schemas.microsoft.com/office/powerpoint/2010/main" val="221575642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Study outcomes</a:t>
            </a:r>
            <a:endParaRPr lang="en-GB" dirty="0"/>
          </a:p>
        </p:txBody>
      </p:sp>
      <p:sp>
        <p:nvSpPr>
          <p:cNvPr id="3" name="Content Placeholder 2"/>
          <p:cNvSpPr>
            <a:spLocks noGrp="1"/>
          </p:cNvSpPr>
          <p:nvPr>
            <p:ph idx="1"/>
          </p:nvPr>
        </p:nvSpPr>
        <p:spPr>
          <a:xfrm>
            <a:off x="687125" y="1539378"/>
            <a:ext cx="10515600" cy="4351338"/>
          </a:xfrm>
        </p:spPr>
        <p:txBody>
          <a:bodyPr/>
          <a:lstStyle/>
          <a:p>
            <a:endParaRPr lang="en-GB" b="1" dirty="0" smtClean="0"/>
          </a:p>
          <a:p>
            <a:r>
              <a:rPr lang="en-GB" b="1" dirty="0" smtClean="0"/>
              <a:t>Study outcome: </a:t>
            </a:r>
            <a:r>
              <a:rPr lang="en-GB" dirty="0" smtClean="0"/>
              <a:t>A measure of patient response to treatment. Used to evaluate the effect of the treatment/ intervention.</a:t>
            </a:r>
          </a:p>
          <a:p>
            <a:endParaRPr lang="en-GB" b="1" dirty="0"/>
          </a:p>
          <a:p>
            <a:pPr marL="0" indent="0">
              <a:buNone/>
            </a:pPr>
            <a:endParaRPr lang="en-GB" b="1" dirty="0"/>
          </a:p>
        </p:txBody>
      </p:sp>
      <p:pic>
        <p:nvPicPr>
          <p:cNvPr id="4"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2602523"/>
            <a:ext cx="5056762" cy="3631223"/>
          </a:xfrm>
          <a:prstGeom prst="rect">
            <a:avLst/>
          </a:prstGeom>
        </p:spPr>
      </p:pic>
      <p:sp>
        <p:nvSpPr>
          <p:cNvPr id="5" name="TextBox 4"/>
          <p:cNvSpPr txBox="1"/>
          <p:nvPr/>
        </p:nvSpPr>
        <p:spPr>
          <a:xfrm>
            <a:off x="5944925" y="2778014"/>
            <a:ext cx="6238423" cy="3693319"/>
          </a:xfrm>
          <a:prstGeom prst="rect">
            <a:avLst/>
          </a:prstGeom>
          <a:noFill/>
        </p:spPr>
        <p:txBody>
          <a:bodyPr wrap="square" rtlCol="0">
            <a:spAutoFit/>
          </a:bodyPr>
          <a:lstStyle/>
          <a:p>
            <a:pPr marL="285750" indent="-285750">
              <a:buFont typeface="Arial" panose="020B0604020202020204" pitchFamily="34" charset="0"/>
              <a:buChar char="•"/>
            </a:pPr>
            <a:r>
              <a:rPr lang="en-GB" dirty="0" smtClean="0"/>
              <a:t>The primary </a:t>
            </a:r>
            <a:r>
              <a:rPr lang="en-GB" b="1" dirty="0" smtClean="0"/>
              <a:t>outcome</a:t>
            </a:r>
            <a:r>
              <a:rPr lang="en-GB" dirty="0" smtClean="0"/>
              <a:t> of the study was live birth. Compared live birth rate (proportion of participants having live births) between treatment and control groups to determine whether endometrial scratching had any effect.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smtClean="0"/>
              <a:t>Other, secondary </a:t>
            </a:r>
            <a:r>
              <a:rPr lang="en-GB" b="1" dirty="0" smtClean="0"/>
              <a:t>outcomes</a:t>
            </a:r>
            <a:r>
              <a:rPr lang="en-GB" dirty="0" smtClean="0"/>
              <a:t> included ongoing pregnancy, clinical pregnancy, ectopic pregnancy, pain during the procedure, neonatal outcomes…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smtClean="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209868413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Study outcomes</a:t>
            </a:r>
            <a:endParaRPr lang="en-GB" dirty="0"/>
          </a:p>
        </p:txBody>
      </p:sp>
      <p:sp>
        <p:nvSpPr>
          <p:cNvPr id="3" name="Content Placeholder 2"/>
          <p:cNvSpPr>
            <a:spLocks noGrp="1"/>
          </p:cNvSpPr>
          <p:nvPr>
            <p:ph idx="1"/>
          </p:nvPr>
        </p:nvSpPr>
        <p:spPr/>
        <p:txBody>
          <a:bodyPr/>
          <a:lstStyle/>
          <a:p>
            <a:r>
              <a:rPr lang="en-GB" b="1" dirty="0" smtClean="0"/>
              <a:t>Study outcome: </a:t>
            </a:r>
            <a:r>
              <a:rPr lang="en-GB" dirty="0" smtClean="0"/>
              <a:t>A measure of patient response to treatment. Used to evaluate the effect of the treatment/ intervention.</a:t>
            </a:r>
          </a:p>
          <a:p>
            <a:endParaRPr lang="en-GB" b="1" dirty="0"/>
          </a:p>
          <a:p>
            <a:pPr marL="0" indent="0">
              <a:buNone/>
            </a:pPr>
            <a:endParaRPr lang="en-GB" b="1" dirty="0"/>
          </a:p>
        </p:txBody>
      </p:sp>
      <p:sp>
        <p:nvSpPr>
          <p:cNvPr id="5" name="TextBox 4"/>
          <p:cNvSpPr txBox="1"/>
          <p:nvPr/>
        </p:nvSpPr>
        <p:spPr>
          <a:xfrm>
            <a:off x="5666362" y="2602523"/>
            <a:ext cx="6238423" cy="3416320"/>
          </a:xfrm>
          <a:prstGeom prst="rect">
            <a:avLst/>
          </a:prstGeom>
          <a:noFill/>
        </p:spPr>
        <p:txBody>
          <a:bodyPr wrap="square" rtlCol="0">
            <a:spAutoFit/>
          </a:bodyPr>
          <a:lstStyle/>
          <a:p>
            <a:pPr marL="285750" indent="-285750">
              <a:buFont typeface="Arial" panose="020B0604020202020204" pitchFamily="34" charset="0"/>
              <a:buChar char="•"/>
            </a:pPr>
            <a:r>
              <a:rPr lang="en-GB" dirty="0" smtClean="0"/>
              <a:t>The primary </a:t>
            </a:r>
            <a:r>
              <a:rPr lang="en-GB" b="1" dirty="0" smtClean="0"/>
              <a:t>outcome</a:t>
            </a:r>
            <a:r>
              <a:rPr lang="en-GB" dirty="0" smtClean="0"/>
              <a:t> of the study was again live birth. Compared live birth rate (proportion of participants having live births) between treatment and control groups to determine whether enrichment had any effect.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smtClean="0"/>
              <a:t>Other, secondary </a:t>
            </a:r>
            <a:r>
              <a:rPr lang="en-GB" b="1" dirty="0" smtClean="0"/>
              <a:t>outcomes</a:t>
            </a:r>
            <a:r>
              <a:rPr lang="en-GB" dirty="0" smtClean="0"/>
              <a:t> included biochemical pregnancy, clinical pregnancy, multiple live births, early pregnancy loss, late miscarriage, neonatal outcomes…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smtClean="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3248" y="3202711"/>
            <a:ext cx="5278066" cy="1930128"/>
          </a:xfrm>
          <a:prstGeom prst="rect">
            <a:avLst/>
          </a:prstGeom>
        </p:spPr>
      </p:pic>
    </p:spTree>
    <p:extLst>
      <p:ext uri="{BB962C8B-B14F-4D97-AF65-F5344CB8AC3E}">
        <p14:creationId xmlns:p14="http://schemas.microsoft.com/office/powerpoint/2010/main" val="252990558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Does the treatment work?</a:t>
            </a:r>
            <a:endParaRPr lang="en-GB" dirty="0"/>
          </a:p>
        </p:txBody>
      </p:sp>
      <p:sp>
        <p:nvSpPr>
          <p:cNvPr id="3" name="Content Placeholder 2"/>
          <p:cNvSpPr>
            <a:spLocks noGrp="1"/>
          </p:cNvSpPr>
          <p:nvPr>
            <p:ph idx="1"/>
          </p:nvPr>
        </p:nvSpPr>
        <p:spPr/>
        <p:txBody>
          <a:bodyPr>
            <a:normAutofit/>
          </a:bodyPr>
          <a:lstStyle/>
          <a:p>
            <a:r>
              <a:rPr lang="en-GB" dirty="0" smtClean="0"/>
              <a:t>A comparison between the responses (outcomes) in the treatment group vs the responses in the control group is used to test whether the treatment under study works. </a:t>
            </a:r>
          </a:p>
          <a:p>
            <a:endParaRPr lang="en-GB" dirty="0"/>
          </a:p>
        </p:txBody>
      </p:sp>
    </p:spTree>
    <p:extLst>
      <p:ext uri="{BB962C8B-B14F-4D97-AF65-F5344CB8AC3E}">
        <p14:creationId xmlns:p14="http://schemas.microsoft.com/office/powerpoint/2010/main" val="282340539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9174" y="1873333"/>
            <a:ext cx="10515600" cy="4351338"/>
          </a:xfrm>
        </p:spPr>
        <p:txBody>
          <a:bodyPr>
            <a:normAutofit/>
          </a:bodyPr>
          <a:lstStyle/>
          <a:p>
            <a:pPr marL="0" indent="0" algn="ctr">
              <a:buNone/>
            </a:pPr>
            <a:r>
              <a:rPr lang="en-GB" sz="6600" dirty="0" smtClean="0"/>
              <a:t>Why do we need control groups?</a:t>
            </a:r>
            <a:endParaRPr lang="en-GB" sz="6600" dirty="0"/>
          </a:p>
        </p:txBody>
      </p:sp>
    </p:spTree>
    <p:extLst>
      <p:ext uri="{BB962C8B-B14F-4D97-AF65-F5344CB8AC3E}">
        <p14:creationId xmlns:p14="http://schemas.microsoft.com/office/powerpoint/2010/main" val="93557865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Why do we </a:t>
            </a:r>
            <a:r>
              <a:rPr lang="en-GB" dirty="0" smtClean="0"/>
              <a:t>need control groups?</a:t>
            </a:r>
            <a:endParaRPr lang="en-GB" dirty="0"/>
          </a:p>
        </p:txBody>
      </p:sp>
      <p:sp>
        <p:nvSpPr>
          <p:cNvPr id="3" name="Content Placeholder 2"/>
          <p:cNvSpPr>
            <a:spLocks noGrp="1"/>
          </p:cNvSpPr>
          <p:nvPr>
            <p:ph idx="1"/>
          </p:nvPr>
        </p:nvSpPr>
        <p:spPr/>
        <p:txBody>
          <a:bodyPr>
            <a:normAutofit fontScale="92500" lnSpcReduction="20000"/>
          </a:bodyPr>
          <a:lstStyle/>
          <a:p>
            <a:r>
              <a:rPr lang="en-GB" dirty="0" smtClean="0"/>
              <a:t>Suppose you are ill, and we want to know whether we should give you a particular treatment, or some alternative (a </a:t>
            </a:r>
            <a:r>
              <a:rPr lang="en-GB" i="1" dirty="0" smtClean="0"/>
              <a:t>control</a:t>
            </a:r>
            <a:r>
              <a:rPr lang="en-GB" dirty="0" smtClean="0"/>
              <a:t>).</a:t>
            </a:r>
          </a:p>
          <a:p>
            <a:endParaRPr lang="en-GB" sz="1200" dirty="0"/>
          </a:p>
          <a:p>
            <a:r>
              <a:rPr lang="en-GB" dirty="0" smtClean="0"/>
              <a:t>Ideally, to make that decision, we would like to know </a:t>
            </a:r>
            <a:r>
              <a:rPr lang="en-GB" b="1" dirty="0" smtClean="0"/>
              <a:t>what would happen to you </a:t>
            </a:r>
            <a:r>
              <a:rPr lang="en-GB" dirty="0" smtClean="0"/>
              <a:t>(that is, what your outcome would be) if we gave you each of the treatment and control.</a:t>
            </a:r>
          </a:p>
          <a:p>
            <a:endParaRPr lang="en-GB" sz="1200" dirty="0"/>
          </a:p>
          <a:p>
            <a:r>
              <a:rPr lang="en-GB" dirty="0" smtClean="0"/>
              <a:t>We can give you one of them, and see what happens. But we will never know if that is better or worse than what </a:t>
            </a:r>
            <a:r>
              <a:rPr lang="en-GB" b="1" dirty="0" smtClean="0"/>
              <a:t>would have happened </a:t>
            </a:r>
            <a:r>
              <a:rPr lang="en-GB" dirty="0" smtClean="0"/>
              <a:t>if we had given you the other treatment instead.</a:t>
            </a:r>
          </a:p>
          <a:p>
            <a:endParaRPr lang="en-GB" sz="1200" dirty="0"/>
          </a:p>
          <a:p>
            <a:r>
              <a:rPr lang="en-GB" dirty="0" smtClean="0"/>
              <a:t>RCTs are an attempt to estimate the ‘what would have happened’.</a:t>
            </a:r>
          </a:p>
          <a:p>
            <a:endParaRPr lang="en-GB" sz="1200" dirty="0"/>
          </a:p>
          <a:p>
            <a:r>
              <a:rPr lang="en-GB" dirty="0" smtClean="0"/>
              <a:t>More precisely, they attempt to estimate the </a:t>
            </a:r>
            <a:r>
              <a:rPr lang="en-GB" b="1" dirty="0" smtClean="0"/>
              <a:t>difference</a:t>
            </a:r>
            <a:r>
              <a:rPr lang="en-GB" dirty="0" smtClean="0"/>
              <a:t> </a:t>
            </a:r>
            <a:r>
              <a:rPr lang="en-GB" b="1" dirty="0" smtClean="0"/>
              <a:t>between outcomes </a:t>
            </a:r>
            <a:r>
              <a:rPr lang="en-GB" dirty="0" smtClean="0"/>
              <a:t>under the two possible scenarios – we call this difference the </a:t>
            </a:r>
            <a:r>
              <a:rPr lang="en-GB" b="1" dirty="0" smtClean="0"/>
              <a:t>treatment effect.</a:t>
            </a:r>
            <a:endParaRPr lang="en-GB" dirty="0"/>
          </a:p>
        </p:txBody>
      </p:sp>
      <p:sp>
        <p:nvSpPr>
          <p:cNvPr id="5" name="Slide Number Placeholder 4"/>
          <p:cNvSpPr>
            <a:spLocks noGrp="1"/>
          </p:cNvSpPr>
          <p:nvPr>
            <p:ph type="sldNum" sz="quarter" idx="12"/>
          </p:nvPr>
        </p:nvSpPr>
        <p:spPr/>
        <p:txBody>
          <a:bodyPr/>
          <a:lstStyle/>
          <a:p>
            <a:fld id="{295AAB7A-98F7-42CD-A204-DDD6725CD545}" type="slidenum">
              <a:rPr lang="en-GB" smtClean="0"/>
              <a:t>24</a:t>
            </a:fld>
            <a:endParaRPr lang="en-GB" dirty="0"/>
          </a:p>
        </p:txBody>
      </p:sp>
    </p:spTree>
    <p:extLst>
      <p:ext uri="{BB962C8B-B14F-4D97-AF65-F5344CB8AC3E}">
        <p14:creationId xmlns:p14="http://schemas.microsoft.com/office/powerpoint/2010/main" val="10298880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vert="horz" lIns="83201" tIns="41601" rIns="83201" bIns="41601" rtlCol="0" anchor="ctr">
            <a:normAutofit/>
          </a:bodyPr>
          <a:lstStyle/>
          <a:p>
            <a:r>
              <a:rPr lang="en-GB" dirty="0" smtClean="0"/>
              <a:t>Why do we need control groups? </a:t>
            </a:r>
            <a:br>
              <a:rPr lang="en-GB" dirty="0" smtClean="0"/>
            </a:br>
            <a:r>
              <a:rPr lang="en-GB" dirty="0" smtClean="0"/>
              <a:t>Fundamental concept of causal inference</a:t>
            </a:r>
            <a:endParaRPr lang="en-GB" dirty="0"/>
          </a:p>
        </p:txBody>
      </p:sp>
      <p:sp>
        <p:nvSpPr>
          <p:cNvPr id="4" name="Content Placeholder 3"/>
          <p:cNvSpPr>
            <a:spLocks noGrp="1"/>
          </p:cNvSpPr>
          <p:nvPr>
            <p:ph sz="half" idx="1"/>
          </p:nvPr>
        </p:nvSpPr>
        <p:spPr>
          <a:xfrm>
            <a:off x="1870367" y="1600205"/>
            <a:ext cx="4232564" cy="4525963"/>
          </a:xfrm>
        </p:spPr>
        <p:txBody>
          <a:bodyPr vert="horz" lIns="83201" tIns="41601" rIns="83201" bIns="41601" rtlCol="0">
            <a:normAutofit/>
          </a:bodyPr>
          <a:lstStyle/>
          <a:p>
            <a:pPr algn="ctr">
              <a:buNone/>
            </a:pPr>
            <a:endParaRPr lang="en-GB" dirty="0" smtClean="0"/>
          </a:p>
          <a:p>
            <a:endParaRPr lang="en-GB" dirty="0" smtClean="0"/>
          </a:p>
          <a:p>
            <a:endParaRPr lang="en-GB" dirty="0" smtClean="0"/>
          </a:p>
          <a:p>
            <a:endParaRPr lang="en-GB" dirty="0" smtClean="0"/>
          </a:p>
          <a:p>
            <a:endParaRPr lang="en-GB" dirty="0" smtClean="0"/>
          </a:p>
          <a:p>
            <a:pPr algn="ctr">
              <a:buNone/>
            </a:pPr>
            <a:endParaRPr lang="en-GB" dirty="0"/>
          </a:p>
          <a:p>
            <a:pPr algn="ctr">
              <a:buNone/>
            </a:pPr>
            <a:endParaRPr lang="en-GB" dirty="0" smtClean="0"/>
          </a:p>
        </p:txBody>
      </p:sp>
      <p:sp>
        <p:nvSpPr>
          <p:cNvPr id="5" name="Content Placeholder 4"/>
          <p:cNvSpPr>
            <a:spLocks noGrp="1"/>
          </p:cNvSpPr>
          <p:nvPr>
            <p:ph sz="half" idx="2"/>
          </p:nvPr>
        </p:nvSpPr>
        <p:spPr/>
        <p:txBody>
          <a:bodyPr vert="horz" lIns="83201" tIns="41601" rIns="83201" bIns="41601" rtlCol="0">
            <a:normAutofit/>
          </a:bodyPr>
          <a:lstStyle/>
          <a:p>
            <a:endParaRPr lang="en-GB" dirty="0" smtClean="0"/>
          </a:p>
          <a:p>
            <a:endParaRPr lang="en-GB" dirty="0" smtClean="0"/>
          </a:p>
          <a:p>
            <a:endParaRPr lang="en-GB" dirty="0" smtClean="0"/>
          </a:p>
          <a:p>
            <a:endParaRPr lang="en-GB" dirty="0" smtClean="0"/>
          </a:p>
          <a:p>
            <a:endParaRPr lang="en-GB" dirty="0" smtClean="0"/>
          </a:p>
          <a:p>
            <a:pPr algn="ctr">
              <a:buNone/>
            </a:pPr>
            <a:endParaRPr lang="en-GB" dirty="0" smtClean="0"/>
          </a:p>
        </p:txBody>
      </p:sp>
      <p:sp>
        <p:nvSpPr>
          <p:cNvPr id="2" name="Slide Number Placeholder 1"/>
          <p:cNvSpPr>
            <a:spLocks noGrp="1"/>
          </p:cNvSpPr>
          <p:nvPr>
            <p:ph type="sldNum" sz="quarter" idx="12"/>
          </p:nvPr>
        </p:nvSpPr>
        <p:spPr/>
        <p:txBody>
          <a:bodyPr/>
          <a:lstStyle/>
          <a:p>
            <a:fld id="{295AAB7A-98F7-42CD-A204-DDD6725CD545}" type="slidenum">
              <a:rPr lang="en-GB" smtClean="0"/>
              <a:t>25</a:t>
            </a:fld>
            <a:endParaRPr lang="en-GB"/>
          </a:p>
        </p:txBody>
      </p:sp>
      <p:pic>
        <p:nvPicPr>
          <p:cNvPr id="337922" name="Picture 2" descr="http://t0.gstatic.com/images?q=tbn:ANd9GcTiJGySos6eYZJUgcCobFdB6bEuElRfMPssI4i0la95i3rJZo0_"/>
          <p:cNvPicPr>
            <a:picLocks noChangeAspect="1" noChangeArrowheads="1"/>
          </p:cNvPicPr>
          <p:nvPr/>
        </p:nvPicPr>
        <p:blipFill>
          <a:blip r:embed="rId3" cstate="print"/>
          <a:srcRect r="24160"/>
          <a:stretch>
            <a:fillRect/>
          </a:stretch>
        </p:blipFill>
        <p:spPr bwMode="auto">
          <a:xfrm>
            <a:off x="3295729" y="2434746"/>
            <a:ext cx="1343616" cy="2581276"/>
          </a:xfrm>
          <a:prstGeom prst="rect">
            <a:avLst/>
          </a:prstGeom>
          <a:noFill/>
        </p:spPr>
      </p:pic>
      <p:pic>
        <p:nvPicPr>
          <p:cNvPr id="337924" name="Picture 4" descr="http://t0.gstatic.com/images?q=tbn:ANd9GcTiJGySos6eYZJUgcCobFdB6bEuElRfMPssI4i0la95i3rJZo0_"/>
          <p:cNvPicPr>
            <a:picLocks noChangeAspect="1" noChangeArrowheads="1"/>
          </p:cNvPicPr>
          <p:nvPr/>
        </p:nvPicPr>
        <p:blipFill>
          <a:blip r:embed="rId3" cstate="print"/>
          <a:srcRect r="21760"/>
          <a:stretch>
            <a:fillRect/>
          </a:stretch>
        </p:blipFill>
        <p:spPr bwMode="auto">
          <a:xfrm>
            <a:off x="7559382" y="2381583"/>
            <a:ext cx="1386147" cy="2581276"/>
          </a:xfrm>
          <a:prstGeom prst="rect">
            <a:avLst/>
          </a:prstGeom>
          <a:noFill/>
        </p:spPr>
      </p:pic>
      <p:sp>
        <p:nvSpPr>
          <p:cNvPr id="8" name="TextBox 7"/>
          <p:cNvSpPr txBox="1"/>
          <p:nvPr/>
        </p:nvSpPr>
        <p:spPr>
          <a:xfrm>
            <a:off x="157018" y="5606909"/>
            <a:ext cx="12284363" cy="830995"/>
          </a:xfrm>
          <a:prstGeom prst="rect">
            <a:avLst/>
          </a:prstGeom>
          <a:noFill/>
        </p:spPr>
        <p:txBody>
          <a:bodyPr wrap="square" lIns="91439" tIns="45719" rIns="91439" bIns="45719" rtlCol="0">
            <a:spAutoFit/>
          </a:bodyPr>
          <a:lstStyle/>
          <a:p>
            <a:r>
              <a:rPr lang="en-GB" sz="2400" dirty="0"/>
              <a:t>Comparison of outcomes </a:t>
            </a:r>
            <a:r>
              <a:rPr lang="en-GB" sz="2400" i="1" dirty="0"/>
              <a:t>would</a:t>
            </a:r>
            <a:r>
              <a:rPr lang="en-GB" sz="2400" dirty="0"/>
              <a:t> give an </a:t>
            </a:r>
            <a:r>
              <a:rPr lang="en-GB" sz="2400" b="1" dirty="0">
                <a:solidFill>
                  <a:srgbClr val="FF0000"/>
                </a:solidFill>
              </a:rPr>
              <a:t>individual treatment effect </a:t>
            </a:r>
            <a:r>
              <a:rPr lang="en-GB" sz="2400" dirty="0"/>
              <a:t>(but we only see one of these!)</a:t>
            </a:r>
            <a:endParaRPr lang="en-GB" sz="2400" b="1" dirty="0">
              <a:solidFill>
                <a:srgbClr val="FF0000"/>
              </a:solidFill>
            </a:endParaRPr>
          </a:p>
        </p:txBody>
      </p:sp>
      <p:sp>
        <p:nvSpPr>
          <p:cNvPr id="6" name="TextBox 5"/>
          <p:cNvSpPr txBox="1"/>
          <p:nvPr/>
        </p:nvSpPr>
        <p:spPr>
          <a:xfrm>
            <a:off x="2154382" y="1737360"/>
            <a:ext cx="4150581" cy="523220"/>
          </a:xfrm>
          <a:prstGeom prst="rect">
            <a:avLst/>
          </a:prstGeom>
          <a:noFill/>
        </p:spPr>
        <p:txBody>
          <a:bodyPr wrap="square" rtlCol="0">
            <a:spAutoFit/>
          </a:bodyPr>
          <a:lstStyle/>
          <a:p>
            <a:r>
              <a:rPr lang="en-GB" sz="2800" dirty="0" smtClean="0"/>
              <a:t>Receive treatment</a:t>
            </a:r>
            <a:endParaRPr lang="en-GB" sz="2800" dirty="0"/>
          </a:p>
        </p:txBody>
      </p:sp>
      <p:sp>
        <p:nvSpPr>
          <p:cNvPr id="7" name="TextBox 6"/>
          <p:cNvSpPr txBox="1"/>
          <p:nvPr/>
        </p:nvSpPr>
        <p:spPr>
          <a:xfrm>
            <a:off x="7136500" y="5169334"/>
            <a:ext cx="3252999" cy="523220"/>
          </a:xfrm>
          <a:prstGeom prst="rect">
            <a:avLst/>
          </a:prstGeom>
          <a:noFill/>
        </p:spPr>
        <p:txBody>
          <a:bodyPr wrap="square" rtlCol="0">
            <a:spAutoFit/>
          </a:bodyPr>
          <a:lstStyle/>
          <a:p>
            <a:r>
              <a:rPr lang="en-GB" sz="2800" dirty="0" smtClean="0"/>
              <a:t>Measure outcome</a:t>
            </a:r>
            <a:endParaRPr lang="en-GB" sz="2800" dirty="0"/>
          </a:p>
        </p:txBody>
      </p:sp>
      <p:sp>
        <p:nvSpPr>
          <p:cNvPr id="9" name="TextBox 8"/>
          <p:cNvSpPr txBox="1"/>
          <p:nvPr/>
        </p:nvSpPr>
        <p:spPr>
          <a:xfrm>
            <a:off x="6913975" y="1749988"/>
            <a:ext cx="3228628" cy="523220"/>
          </a:xfrm>
          <a:prstGeom prst="rect">
            <a:avLst/>
          </a:prstGeom>
          <a:noFill/>
        </p:spPr>
        <p:txBody>
          <a:bodyPr wrap="square" rtlCol="0">
            <a:spAutoFit/>
          </a:bodyPr>
          <a:lstStyle/>
          <a:p>
            <a:r>
              <a:rPr lang="en-GB" sz="2800" dirty="0" smtClean="0"/>
              <a:t>Receive control</a:t>
            </a:r>
            <a:endParaRPr lang="en-GB" sz="2800" dirty="0"/>
          </a:p>
        </p:txBody>
      </p:sp>
      <p:sp>
        <p:nvSpPr>
          <p:cNvPr id="10" name="TextBox 9"/>
          <p:cNvSpPr txBox="1"/>
          <p:nvPr/>
        </p:nvSpPr>
        <p:spPr>
          <a:xfrm>
            <a:off x="2770093" y="5169334"/>
            <a:ext cx="4251418" cy="523220"/>
          </a:xfrm>
          <a:prstGeom prst="rect">
            <a:avLst/>
          </a:prstGeom>
          <a:noFill/>
        </p:spPr>
        <p:txBody>
          <a:bodyPr wrap="square" rtlCol="0">
            <a:spAutoFit/>
          </a:bodyPr>
          <a:lstStyle/>
          <a:p>
            <a:r>
              <a:rPr lang="en-GB" sz="2800" dirty="0" smtClean="0"/>
              <a:t>Measured outcome</a:t>
            </a:r>
            <a:endParaRPr lang="en-GB" sz="2800" dirty="0"/>
          </a:p>
        </p:txBody>
      </p:sp>
    </p:spTree>
    <p:extLst>
      <p:ext uri="{BB962C8B-B14F-4D97-AF65-F5344CB8AC3E}">
        <p14:creationId xmlns:p14="http://schemas.microsoft.com/office/powerpoint/2010/main" val="42041073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379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79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vert="horz" lIns="83201" tIns="41601" rIns="83201" bIns="41601" rtlCol="0" anchor="ctr">
            <a:normAutofit/>
          </a:bodyPr>
          <a:lstStyle/>
          <a:p>
            <a:r>
              <a:rPr lang="en-GB" dirty="0"/>
              <a:t>Why do we </a:t>
            </a:r>
            <a:r>
              <a:rPr lang="en-GB" dirty="0" smtClean="0"/>
              <a:t>need control groups? </a:t>
            </a:r>
            <a:r>
              <a:rPr lang="en-GB" dirty="0"/>
              <a:t/>
            </a:r>
            <a:br>
              <a:rPr lang="en-GB" dirty="0"/>
            </a:br>
            <a:r>
              <a:rPr lang="en-GB" dirty="0"/>
              <a:t>Fundamental concept of causal inference</a:t>
            </a:r>
          </a:p>
        </p:txBody>
      </p:sp>
      <p:sp>
        <p:nvSpPr>
          <p:cNvPr id="4" name="Content Placeholder 3"/>
          <p:cNvSpPr>
            <a:spLocks noGrp="1"/>
          </p:cNvSpPr>
          <p:nvPr>
            <p:ph sz="half" idx="1"/>
          </p:nvPr>
        </p:nvSpPr>
        <p:spPr/>
        <p:txBody>
          <a:bodyPr vert="horz" lIns="83201" tIns="41601" rIns="83201" bIns="41601" rtlCol="0">
            <a:normAutofit/>
          </a:bodyPr>
          <a:lstStyle/>
          <a:p>
            <a:endParaRPr lang="en-GB" dirty="0" smtClean="0"/>
          </a:p>
          <a:p>
            <a:endParaRPr lang="en-GB" dirty="0" smtClean="0"/>
          </a:p>
          <a:p>
            <a:endParaRPr lang="en-GB" dirty="0" smtClean="0"/>
          </a:p>
          <a:p>
            <a:endParaRPr lang="en-GB" dirty="0" smtClean="0"/>
          </a:p>
          <a:p>
            <a:endParaRPr lang="en-GB" dirty="0" smtClean="0"/>
          </a:p>
          <a:p>
            <a:endParaRPr lang="en-GB" dirty="0" smtClean="0"/>
          </a:p>
        </p:txBody>
      </p:sp>
      <p:sp>
        <p:nvSpPr>
          <p:cNvPr id="5" name="Content Placeholder 4"/>
          <p:cNvSpPr>
            <a:spLocks noGrp="1"/>
          </p:cNvSpPr>
          <p:nvPr>
            <p:ph sz="half" idx="2"/>
          </p:nvPr>
        </p:nvSpPr>
        <p:spPr/>
        <p:txBody>
          <a:bodyPr vert="horz" lIns="83201" tIns="41601" rIns="83201" bIns="41601" rtlCol="0">
            <a:normAutofit/>
          </a:bodyPr>
          <a:lstStyle/>
          <a:p>
            <a:endParaRPr lang="en-GB" dirty="0" smtClean="0"/>
          </a:p>
          <a:p>
            <a:endParaRPr lang="en-GB" dirty="0" smtClean="0"/>
          </a:p>
          <a:p>
            <a:endParaRPr lang="en-GB" dirty="0" smtClean="0"/>
          </a:p>
          <a:p>
            <a:endParaRPr lang="en-GB" dirty="0" smtClean="0"/>
          </a:p>
          <a:p>
            <a:endParaRPr lang="en-GB" dirty="0" smtClean="0"/>
          </a:p>
          <a:p>
            <a:endParaRPr lang="en-GB" dirty="0" smtClean="0"/>
          </a:p>
        </p:txBody>
      </p:sp>
      <p:sp>
        <p:nvSpPr>
          <p:cNvPr id="2" name="Slide Number Placeholder 1"/>
          <p:cNvSpPr>
            <a:spLocks noGrp="1"/>
          </p:cNvSpPr>
          <p:nvPr>
            <p:ph type="sldNum" sz="quarter" idx="12"/>
          </p:nvPr>
        </p:nvSpPr>
        <p:spPr/>
        <p:txBody>
          <a:bodyPr/>
          <a:lstStyle/>
          <a:p>
            <a:fld id="{295AAB7A-98F7-42CD-A204-DDD6725CD545}" type="slidenum">
              <a:rPr lang="en-GB" smtClean="0"/>
              <a:t>26</a:t>
            </a:fld>
            <a:endParaRPr lang="en-GB"/>
          </a:p>
        </p:txBody>
      </p:sp>
      <p:pic>
        <p:nvPicPr>
          <p:cNvPr id="337922" name="Picture 2" descr="http://t0.gstatic.com/images?q=tbn:ANd9GcTiJGySos6eYZJUgcCobFdB6bEuElRfMPssI4i0la95i3rJZo0_"/>
          <p:cNvPicPr>
            <a:picLocks noChangeAspect="1" noChangeArrowheads="1"/>
          </p:cNvPicPr>
          <p:nvPr/>
        </p:nvPicPr>
        <p:blipFill>
          <a:blip r:embed="rId2" cstate="print"/>
          <a:srcRect r="24160"/>
          <a:stretch>
            <a:fillRect/>
          </a:stretch>
        </p:blipFill>
        <p:spPr bwMode="auto">
          <a:xfrm>
            <a:off x="3295729" y="2434746"/>
            <a:ext cx="1343616" cy="2581276"/>
          </a:xfrm>
          <a:prstGeom prst="rect">
            <a:avLst/>
          </a:prstGeom>
          <a:noFill/>
        </p:spPr>
      </p:pic>
      <p:sp>
        <p:nvSpPr>
          <p:cNvPr id="8" name="TextBox 7"/>
          <p:cNvSpPr txBox="1"/>
          <p:nvPr/>
        </p:nvSpPr>
        <p:spPr>
          <a:xfrm>
            <a:off x="1858296" y="5805383"/>
            <a:ext cx="9779521" cy="461663"/>
          </a:xfrm>
          <a:prstGeom prst="rect">
            <a:avLst/>
          </a:prstGeom>
          <a:noFill/>
        </p:spPr>
        <p:txBody>
          <a:bodyPr wrap="square" lIns="91439" tIns="45719" rIns="91439" bIns="45719" rtlCol="0">
            <a:spAutoFit/>
          </a:bodyPr>
          <a:lstStyle/>
          <a:p>
            <a:r>
              <a:rPr lang="en-GB" sz="2400" dirty="0"/>
              <a:t>Comparison of these outcomes </a:t>
            </a:r>
            <a:r>
              <a:rPr lang="en-GB" sz="2400" b="1" u="sng" dirty="0"/>
              <a:t>will not give</a:t>
            </a:r>
            <a:r>
              <a:rPr lang="en-GB" sz="2400" b="1" dirty="0"/>
              <a:t> </a:t>
            </a:r>
            <a:r>
              <a:rPr lang="en-GB" sz="2400" dirty="0"/>
              <a:t>an individual treatment effect</a:t>
            </a:r>
          </a:p>
        </p:txBody>
      </p:sp>
      <p:pic>
        <p:nvPicPr>
          <p:cNvPr id="471044" name="Picture 4" descr="http://upload.wikimedia.org/wikipedia/en/5/56/Mr_Burns.png"/>
          <p:cNvPicPr>
            <a:picLocks noChangeAspect="1" noChangeArrowheads="1"/>
          </p:cNvPicPr>
          <p:nvPr/>
        </p:nvPicPr>
        <p:blipFill>
          <a:blip r:embed="rId3" cstate="print"/>
          <a:srcRect/>
          <a:stretch>
            <a:fillRect/>
          </a:stretch>
        </p:blipFill>
        <p:spPr bwMode="auto">
          <a:xfrm>
            <a:off x="7623025" y="2341756"/>
            <a:ext cx="1800225" cy="2857500"/>
          </a:xfrm>
          <a:prstGeom prst="rect">
            <a:avLst/>
          </a:prstGeom>
          <a:noFill/>
        </p:spPr>
      </p:pic>
      <p:sp>
        <p:nvSpPr>
          <p:cNvPr id="6" name="Rectangle 5"/>
          <p:cNvSpPr/>
          <p:nvPr/>
        </p:nvSpPr>
        <p:spPr>
          <a:xfrm>
            <a:off x="2241025" y="1818536"/>
            <a:ext cx="2859694" cy="523220"/>
          </a:xfrm>
          <a:prstGeom prst="rect">
            <a:avLst/>
          </a:prstGeom>
        </p:spPr>
        <p:txBody>
          <a:bodyPr wrap="none">
            <a:spAutoFit/>
          </a:bodyPr>
          <a:lstStyle/>
          <a:p>
            <a:r>
              <a:rPr lang="en-GB" sz="2800" dirty="0"/>
              <a:t>Receive treatment</a:t>
            </a:r>
          </a:p>
        </p:txBody>
      </p:sp>
      <p:sp>
        <p:nvSpPr>
          <p:cNvPr id="7" name="Rectangle 6"/>
          <p:cNvSpPr/>
          <p:nvPr/>
        </p:nvSpPr>
        <p:spPr>
          <a:xfrm>
            <a:off x="7043719" y="1764349"/>
            <a:ext cx="2416624" cy="523220"/>
          </a:xfrm>
          <a:prstGeom prst="rect">
            <a:avLst/>
          </a:prstGeom>
        </p:spPr>
        <p:txBody>
          <a:bodyPr wrap="none">
            <a:spAutoFit/>
          </a:bodyPr>
          <a:lstStyle/>
          <a:p>
            <a:r>
              <a:rPr lang="en-GB" sz="2800" dirty="0"/>
              <a:t>Receive </a:t>
            </a:r>
            <a:r>
              <a:rPr lang="en-GB" sz="2800" dirty="0" smtClean="0"/>
              <a:t>control</a:t>
            </a:r>
            <a:endParaRPr lang="en-GB" sz="2800" dirty="0"/>
          </a:p>
        </p:txBody>
      </p:sp>
      <p:sp>
        <p:nvSpPr>
          <p:cNvPr id="9" name="Rectangle 8"/>
          <p:cNvSpPr/>
          <p:nvPr/>
        </p:nvSpPr>
        <p:spPr>
          <a:xfrm>
            <a:off x="2542724" y="5093631"/>
            <a:ext cx="2849626" cy="523220"/>
          </a:xfrm>
          <a:prstGeom prst="rect">
            <a:avLst/>
          </a:prstGeom>
        </p:spPr>
        <p:txBody>
          <a:bodyPr wrap="none">
            <a:spAutoFit/>
          </a:bodyPr>
          <a:lstStyle/>
          <a:p>
            <a:r>
              <a:rPr lang="en-GB" sz="2800" dirty="0" smtClean="0"/>
              <a:t>Measure outcome</a:t>
            </a:r>
            <a:endParaRPr lang="en-GB" sz="2800" dirty="0"/>
          </a:p>
        </p:txBody>
      </p:sp>
      <p:sp>
        <p:nvSpPr>
          <p:cNvPr id="10" name="Rectangle 9"/>
          <p:cNvSpPr/>
          <p:nvPr/>
        </p:nvSpPr>
        <p:spPr>
          <a:xfrm>
            <a:off x="7053151" y="5016022"/>
            <a:ext cx="2849626" cy="523220"/>
          </a:xfrm>
          <a:prstGeom prst="rect">
            <a:avLst/>
          </a:prstGeom>
        </p:spPr>
        <p:txBody>
          <a:bodyPr wrap="none">
            <a:spAutoFit/>
          </a:bodyPr>
          <a:lstStyle/>
          <a:p>
            <a:r>
              <a:rPr lang="en-GB" sz="2800" dirty="0"/>
              <a:t>Measure </a:t>
            </a:r>
            <a:r>
              <a:rPr lang="en-GB" sz="2800" dirty="0" smtClean="0"/>
              <a:t>outcome</a:t>
            </a:r>
            <a:endParaRPr lang="en-GB" sz="2800" dirty="0"/>
          </a:p>
        </p:txBody>
      </p:sp>
    </p:spTree>
    <p:extLst>
      <p:ext uri="{BB962C8B-B14F-4D97-AF65-F5344CB8AC3E}">
        <p14:creationId xmlns:p14="http://schemas.microsoft.com/office/powerpoint/2010/main" val="27379424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Why do we </a:t>
            </a:r>
            <a:r>
              <a:rPr lang="en-GB" dirty="0" smtClean="0"/>
              <a:t>need control groups? </a:t>
            </a:r>
            <a:r>
              <a:rPr lang="en-GB" dirty="0"/>
              <a:t/>
            </a:r>
            <a:br>
              <a:rPr lang="en-GB" dirty="0"/>
            </a:br>
            <a:r>
              <a:rPr lang="en-GB" dirty="0"/>
              <a:t>Fundamental concept of causal inference</a:t>
            </a:r>
          </a:p>
        </p:txBody>
      </p:sp>
      <p:sp>
        <p:nvSpPr>
          <p:cNvPr id="3" name="Content Placeholder 2"/>
          <p:cNvSpPr>
            <a:spLocks noGrp="1"/>
          </p:cNvSpPr>
          <p:nvPr>
            <p:ph idx="1"/>
          </p:nvPr>
        </p:nvSpPr>
        <p:spPr>
          <a:xfrm>
            <a:off x="1628372" y="1781737"/>
            <a:ext cx="8575040" cy="4678048"/>
          </a:xfrm>
        </p:spPr>
        <p:txBody>
          <a:bodyPr>
            <a:normAutofit/>
          </a:bodyPr>
          <a:lstStyle/>
          <a:p>
            <a:r>
              <a:rPr lang="en-GB" dirty="0" smtClean="0"/>
              <a:t>So we can’t (usually) work out the </a:t>
            </a:r>
            <a:r>
              <a:rPr lang="en-GB" i="1" dirty="0" smtClean="0"/>
              <a:t>individual</a:t>
            </a:r>
            <a:r>
              <a:rPr lang="en-GB" dirty="0" smtClean="0"/>
              <a:t> treatment effect, without a time machine, or the ability to travel into parallel universes.</a:t>
            </a:r>
          </a:p>
          <a:p>
            <a:pPr marL="0" indent="0">
              <a:buNone/>
            </a:pPr>
            <a:endParaRPr lang="en-GB" sz="800" dirty="0"/>
          </a:p>
          <a:p>
            <a:r>
              <a:rPr lang="en-GB" dirty="0" smtClean="0"/>
              <a:t>What about if we could take </a:t>
            </a:r>
            <a:r>
              <a:rPr lang="en-GB" i="1" dirty="0" smtClean="0"/>
              <a:t>everyone </a:t>
            </a:r>
            <a:r>
              <a:rPr lang="en-GB" dirty="0" smtClean="0"/>
              <a:t>who was ill with the same condition, and observe their outcomes under both treatments (we can’t for most conditions – we still have no time machine - but imagine).</a:t>
            </a:r>
          </a:p>
          <a:p>
            <a:pPr marL="0" indent="0">
              <a:buNone/>
            </a:pPr>
            <a:endParaRPr lang="en-GB" sz="800" i="1" dirty="0"/>
          </a:p>
          <a:p>
            <a:r>
              <a:rPr lang="en-GB" dirty="0" smtClean="0"/>
              <a:t>We could then calculate the individual treatment effects for everyone. And we could calculate the mean of these – the </a:t>
            </a:r>
            <a:r>
              <a:rPr lang="en-GB" b="1" dirty="0" smtClean="0"/>
              <a:t>average treatment effect.</a:t>
            </a:r>
          </a:p>
          <a:p>
            <a:endParaRPr lang="en-GB" sz="800" b="1" dirty="0"/>
          </a:p>
          <a:p>
            <a:r>
              <a:rPr lang="en-GB" dirty="0" smtClean="0"/>
              <a:t>It turns out, if we </a:t>
            </a:r>
            <a:r>
              <a:rPr lang="en-GB" i="1" dirty="0" smtClean="0"/>
              <a:t>randomly allocate </a:t>
            </a:r>
            <a:r>
              <a:rPr lang="en-GB" dirty="0" smtClean="0"/>
              <a:t>(randomise) each person to receive either the treatment or control, then the difference in mean outcomes between groups is an </a:t>
            </a:r>
            <a:r>
              <a:rPr lang="en-GB" b="1" dirty="0" smtClean="0"/>
              <a:t>unbiased estimate of the average treatment effect. </a:t>
            </a:r>
            <a:endParaRPr lang="en-GB" dirty="0"/>
          </a:p>
          <a:p>
            <a:pPr marL="0" indent="0">
              <a:buNone/>
            </a:pPr>
            <a:endParaRPr lang="en-GB" b="1" dirty="0"/>
          </a:p>
          <a:p>
            <a:pPr marL="0" indent="0">
              <a:buNone/>
            </a:pPr>
            <a:endParaRPr lang="en-GB" b="1" dirty="0"/>
          </a:p>
        </p:txBody>
      </p:sp>
      <p:sp>
        <p:nvSpPr>
          <p:cNvPr id="5" name="Slide Number Placeholder 4"/>
          <p:cNvSpPr>
            <a:spLocks noGrp="1"/>
          </p:cNvSpPr>
          <p:nvPr>
            <p:ph type="sldNum" sz="quarter" idx="12"/>
          </p:nvPr>
        </p:nvSpPr>
        <p:spPr/>
        <p:txBody>
          <a:bodyPr/>
          <a:lstStyle/>
          <a:p>
            <a:fld id="{295AAB7A-98F7-42CD-A204-DDD6725CD545}" type="slidenum">
              <a:rPr lang="en-GB" smtClean="0"/>
              <a:t>27</a:t>
            </a:fld>
            <a:endParaRPr lang="en-GB"/>
          </a:p>
        </p:txBody>
      </p:sp>
    </p:spTree>
    <p:extLst>
      <p:ext uri="{BB962C8B-B14F-4D97-AF65-F5344CB8AC3E}">
        <p14:creationId xmlns:p14="http://schemas.microsoft.com/office/powerpoint/2010/main" val="14163173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vert="horz" lIns="83201" tIns="41601" rIns="83201" bIns="41601" rtlCol="0" anchor="ctr">
            <a:normAutofit/>
          </a:bodyPr>
          <a:lstStyle/>
          <a:p>
            <a:r>
              <a:rPr lang="en-GB" dirty="0"/>
              <a:t>Why do we </a:t>
            </a:r>
            <a:r>
              <a:rPr lang="en-GB" dirty="0" smtClean="0"/>
              <a:t>need control groups? </a:t>
            </a:r>
            <a:r>
              <a:rPr lang="en-GB" dirty="0"/>
              <a:t/>
            </a:r>
            <a:br>
              <a:rPr lang="en-GB" dirty="0"/>
            </a:br>
            <a:r>
              <a:rPr lang="en-GB" dirty="0"/>
              <a:t>Fundamental concept of causal inference</a:t>
            </a:r>
          </a:p>
        </p:txBody>
      </p:sp>
      <p:sp>
        <p:nvSpPr>
          <p:cNvPr id="4" name="Content Placeholder 3"/>
          <p:cNvSpPr>
            <a:spLocks noGrp="1"/>
          </p:cNvSpPr>
          <p:nvPr>
            <p:ph sz="half" idx="1"/>
          </p:nvPr>
        </p:nvSpPr>
        <p:spPr/>
        <p:txBody>
          <a:bodyPr vert="horz" lIns="83201" tIns="41601" rIns="83201" bIns="41601" rtlCol="0">
            <a:normAutofit/>
          </a:bodyPr>
          <a:lstStyle/>
          <a:p>
            <a:pPr algn="ctr">
              <a:buNone/>
            </a:pPr>
            <a:r>
              <a:rPr lang="en-GB" sz="2800" dirty="0" smtClean="0"/>
              <a:t>Receive treatment</a:t>
            </a:r>
          </a:p>
          <a:p>
            <a:endParaRPr lang="en-GB" dirty="0" smtClean="0"/>
          </a:p>
          <a:p>
            <a:endParaRPr lang="en-GB" dirty="0" smtClean="0"/>
          </a:p>
          <a:p>
            <a:endParaRPr lang="en-GB" dirty="0" smtClean="0"/>
          </a:p>
          <a:p>
            <a:endParaRPr lang="en-GB" dirty="0" smtClean="0"/>
          </a:p>
          <a:p>
            <a:endParaRPr lang="en-GB" dirty="0" smtClean="0"/>
          </a:p>
          <a:p>
            <a:endParaRPr lang="en-GB" dirty="0" smtClean="0"/>
          </a:p>
          <a:p>
            <a:pPr algn="ctr">
              <a:buNone/>
            </a:pPr>
            <a:r>
              <a:rPr lang="en-GB" sz="2800" dirty="0" smtClean="0"/>
              <a:t>Measure outcome</a:t>
            </a:r>
            <a:endParaRPr lang="en-GB" sz="2800" dirty="0"/>
          </a:p>
        </p:txBody>
      </p:sp>
      <p:sp>
        <p:nvSpPr>
          <p:cNvPr id="5" name="Content Placeholder 4"/>
          <p:cNvSpPr>
            <a:spLocks noGrp="1"/>
          </p:cNvSpPr>
          <p:nvPr>
            <p:ph sz="half" idx="2"/>
          </p:nvPr>
        </p:nvSpPr>
        <p:spPr/>
        <p:txBody>
          <a:bodyPr vert="horz" lIns="83201" tIns="41601" rIns="83201" bIns="41601" rtlCol="0">
            <a:normAutofit/>
          </a:bodyPr>
          <a:lstStyle/>
          <a:p>
            <a:pPr algn="ctr">
              <a:buNone/>
            </a:pPr>
            <a:r>
              <a:rPr lang="en-GB" sz="2800" dirty="0" smtClean="0"/>
              <a:t>Receive control</a:t>
            </a:r>
          </a:p>
          <a:p>
            <a:endParaRPr lang="en-GB" dirty="0" smtClean="0"/>
          </a:p>
          <a:p>
            <a:endParaRPr lang="en-GB" dirty="0" smtClean="0"/>
          </a:p>
          <a:p>
            <a:endParaRPr lang="en-GB" dirty="0" smtClean="0"/>
          </a:p>
          <a:p>
            <a:endParaRPr lang="en-GB" dirty="0" smtClean="0"/>
          </a:p>
          <a:p>
            <a:endParaRPr lang="en-GB" dirty="0" smtClean="0"/>
          </a:p>
          <a:p>
            <a:endParaRPr lang="en-GB" dirty="0" smtClean="0"/>
          </a:p>
          <a:p>
            <a:pPr algn="ctr">
              <a:buNone/>
            </a:pPr>
            <a:r>
              <a:rPr lang="en-GB" sz="2800" dirty="0" smtClean="0"/>
              <a:t>Measure outcome</a:t>
            </a:r>
            <a:endParaRPr lang="en-GB" sz="2800" dirty="0"/>
          </a:p>
        </p:txBody>
      </p:sp>
      <p:sp>
        <p:nvSpPr>
          <p:cNvPr id="2" name="Slide Number Placeholder 1"/>
          <p:cNvSpPr>
            <a:spLocks noGrp="1"/>
          </p:cNvSpPr>
          <p:nvPr>
            <p:ph type="sldNum" sz="quarter" idx="12"/>
          </p:nvPr>
        </p:nvSpPr>
        <p:spPr/>
        <p:txBody>
          <a:bodyPr/>
          <a:lstStyle/>
          <a:p>
            <a:fld id="{295AAB7A-98F7-42CD-A204-DDD6725CD545}" type="slidenum">
              <a:rPr lang="en-GB" smtClean="0"/>
              <a:t>28</a:t>
            </a:fld>
            <a:endParaRPr lang="en-GB"/>
          </a:p>
        </p:txBody>
      </p:sp>
      <p:sp>
        <p:nvSpPr>
          <p:cNvPr id="8" name="TextBox 7"/>
          <p:cNvSpPr txBox="1"/>
          <p:nvPr/>
        </p:nvSpPr>
        <p:spPr>
          <a:xfrm>
            <a:off x="1431636" y="5692742"/>
            <a:ext cx="10520217" cy="461663"/>
          </a:xfrm>
          <a:prstGeom prst="rect">
            <a:avLst/>
          </a:prstGeom>
          <a:noFill/>
        </p:spPr>
        <p:txBody>
          <a:bodyPr wrap="square" lIns="91439" tIns="45719" rIns="91439" bIns="45719" rtlCol="0">
            <a:spAutoFit/>
          </a:bodyPr>
          <a:lstStyle/>
          <a:p>
            <a:r>
              <a:rPr lang="en-GB" sz="2400" dirty="0"/>
              <a:t>Comparison of average outcomes </a:t>
            </a:r>
            <a:r>
              <a:rPr lang="en-GB" sz="2400" b="1" dirty="0"/>
              <a:t>defines</a:t>
            </a:r>
            <a:r>
              <a:rPr lang="en-GB" sz="2400" dirty="0"/>
              <a:t> the </a:t>
            </a:r>
            <a:r>
              <a:rPr lang="en-GB" sz="2400" b="1" dirty="0">
                <a:solidFill>
                  <a:srgbClr val="FF0000"/>
                </a:solidFill>
              </a:rPr>
              <a:t>average treatment effect</a:t>
            </a:r>
          </a:p>
        </p:txBody>
      </p:sp>
      <p:grpSp>
        <p:nvGrpSpPr>
          <p:cNvPr id="21" name="Group 20"/>
          <p:cNvGrpSpPr/>
          <p:nvPr/>
        </p:nvGrpSpPr>
        <p:grpSpPr>
          <a:xfrm>
            <a:off x="3165138" y="2541512"/>
            <a:ext cx="1866091" cy="1117560"/>
            <a:chOff x="156905" y="2360317"/>
            <a:chExt cx="4094512" cy="2581276"/>
          </a:xfrm>
        </p:grpSpPr>
        <p:pic>
          <p:nvPicPr>
            <p:cNvPr id="337922" name="Picture 2" descr="http://t0.gstatic.com/images?q=tbn:ANd9GcTiJGySos6eYZJUgcCobFdB6bEuElRfMPssI4i0la95i3rJZo0_"/>
            <p:cNvPicPr>
              <a:picLocks noChangeAspect="1" noChangeArrowheads="1"/>
            </p:cNvPicPr>
            <p:nvPr/>
          </p:nvPicPr>
          <p:blipFill>
            <a:blip r:embed="rId2" cstate="print"/>
            <a:srcRect l="16425" r="30762"/>
            <a:stretch>
              <a:fillRect/>
            </a:stretch>
          </p:blipFill>
          <p:spPr bwMode="auto">
            <a:xfrm>
              <a:off x="156905" y="2360317"/>
              <a:ext cx="935665" cy="2581276"/>
            </a:xfrm>
            <a:prstGeom prst="rect">
              <a:avLst/>
            </a:prstGeom>
            <a:noFill/>
          </p:spPr>
        </p:pic>
        <p:pic>
          <p:nvPicPr>
            <p:cNvPr id="472066" name="Picture 2" descr="http://images.wikia.com/simpsons/images/a/a9/Carl_Carlson.png"/>
            <p:cNvPicPr>
              <a:picLocks noChangeAspect="1" noChangeArrowheads="1"/>
            </p:cNvPicPr>
            <p:nvPr/>
          </p:nvPicPr>
          <p:blipFill>
            <a:blip r:embed="rId3" cstate="print"/>
            <a:srcRect/>
            <a:stretch>
              <a:fillRect/>
            </a:stretch>
          </p:blipFill>
          <p:spPr bwMode="auto">
            <a:xfrm>
              <a:off x="774521" y="2415671"/>
              <a:ext cx="1415773" cy="2446260"/>
            </a:xfrm>
            <a:prstGeom prst="rect">
              <a:avLst/>
            </a:prstGeom>
            <a:noFill/>
          </p:spPr>
        </p:pic>
        <p:pic>
          <p:nvPicPr>
            <p:cNvPr id="472070" name="Picture 6" descr="http://t1.gstatic.com/images?q=tbn:ANd9GcRedax-Fp72g9HU194EhztiBNUrGACaz3sIU7Ao25s5P3VEw14p"/>
            <p:cNvPicPr>
              <a:picLocks noChangeAspect="1" noChangeArrowheads="1"/>
            </p:cNvPicPr>
            <p:nvPr/>
          </p:nvPicPr>
          <p:blipFill>
            <a:blip r:embed="rId4" cstate="print"/>
            <a:srcRect/>
            <a:stretch>
              <a:fillRect/>
            </a:stretch>
          </p:blipFill>
          <p:spPr bwMode="auto">
            <a:xfrm>
              <a:off x="1935737" y="2489509"/>
              <a:ext cx="1543445" cy="2327818"/>
            </a:xfrm>
            <a:prstGeom prst="rect">
              <a:avLst/>
            </a:prstGeom>
            <a:noFill/>
          </p:spPr>
        </p:pic>
        <p:pic>
          <p:nvPicPr>
            <p:cNvPr id="472074" name="Picture 10" descr="http://t1.gstatic.com/images?q=tbn:ANd9GcSMfo6Uc3W60C2rRag7jjVe45y5nGwJ6ca5QSfQ1BEuwhSCUjBB"/>
            <p:cNvPicPr>
              <a:picLocks noChangeAspect="1" noChangeArrowheads="1"/>
            </p:cNvPicPr>
            <p:nvPr/>
          </p:nvPicPr>
          <p:blipFill>
            <a:blip r:embed="rId5" cstate="print"/>
            <a:srcRect/>
            <a:stretch>
              <a:fillRect/>
            </a:stretch>
          </p:blipFill>
          <p:spPr bwMode="auto">
            <a:xfrm>
              <a:off x="3422742" y="2504881"/>
              <a:ext cx="828675" cy="2286001"/>
            </a:xfrm>
            <a:prstGeom prst="rect">
              <a:avLst/>
            </a:prstGeom>
            <a:noFill/>
          </p:spPr>
        </p:pic>
      </p:grpSp>
      <p:grpSp>
        <p:nvGrpSpPr>
          <p:cNvPr id="22" name="Group 21"/>
          <p:cNvGrpSpPr/>
          <p:nvPr/>
        </p:nvGrpSpPr>
        <p:grpSpPr>
          <a:xfrm>
            <a:off x="3142867" y="3659074"/>
            <a:ext cx="2077604" cy="1256180"/>
            <a:chOff x="4254529" y="2384154"/>
            <a:chExt cx="4889471" cy="2495551"/>
          </a:xfrm>
        </p:grpSpPr>
        <p:pic>
          <p:nvPicPr>
            <p:cNvPr id="472068" name="Picture 4" descr="http://t3.gstatic.com/images?q=tbn:ANd9GcSaetmbZVP5sx5g2Pv4AGB1KsphqfWXr0uNtvUhH6LAV95laLy_hQ"/>
            <p:cNvPicPr>
              <a:picLocks noChangeAspect="1" noChangeArrowheads="1"/>
            </p:cNvPicPr>
            <p:nvPr/>
          </p:nvPicPr>
          <p:blipFill>
            <a:blip r:embed="rId6" cstate="print"/>
            <a:srcRect/>
            <a:stretch>
              <a:fillRect/>
            </a:stretch>
          </p:blipFill>
          <p:spPr bwMode="auto">
            <a:xfrm>
              <a:off x="6489299" y="2493730"/>
              <a:ext cx="990600" cy="2286001"/>
            </a:xfrm>
            <a:prstGeom prst="rect">
              <a:avLst/>
            </a:prstGeom>
            <a:noFill/>
          </p:spPr>
        </p:pic>
        <p:pic>
          <p:nvPicPr>
            <p:cNvPr id="472072" name="Picture 8" descr="http://t1.gstatic.com/images?q=tbn:ANd9GcSmZK-imNar-VeD92UHqq_9fSK2l74z6q6BUyTz-S12uhowXcOA"/>
            <p:cNvPicPr>
              <a:picLocks noChangeAspect="1" noChangeArrowheads="1"/>
            </p:cNvPicPr>
            <p:nvPr/>
          </p:nvPicPr>
          <p:blipFill>
            <a:blip r:embed="rId7" cstate="print"/>
            <a:srcRect/>
            <a:stretch>
              <a:fillRect/>
            </a:stretch>
          </p:blipFill>
          <p:spPr bwMode="auto">
            <a:xfrm>
              <a:off x="7458075" y="2384154"/>
              <a:ext cx="1685925" cy="2495551"/>
            </a:xfrm>
            <a:prstGeom prst="rect">
              <a:avLst/>
            </a:prstGeom>
            <a:noFill/>
          </p:spPr>
        </p:pic>
        <p:pic>
          <p:nvPicPr>
            <p:cNvPr id="472076" name="Picture 12" descr="http://t1.gstatic.com/images?q=tbn:ANd9GcTiwn4i0wGdY6wBK161e8BaV3Z-yYHkfLUmwMIiMEDHzI6qSkizeA"/>
            <p:cNvPicPr>
              <a:picLocks noChangeAspect="1" noChangeArrowheads="1"/>
            </p:cNvPicPr>
            <p:nvPr/>
          </p:nvPicPr>
          <p:blipFill>
            <a:blip r:embed="rId8" cstate="print"/>
            <a:srcRect/>
            <a:stretch>
              <a:fillRect/>
            </a:stretch>
          </p:blipFill>
          <p:spPr bwMode="auto">
            <a:xfrm>
              <a:off x="5209961" y="2577441"/>
              <a:ext cx="1292825" cy="2251037"/>
            </a:xfrm>
            <a:prstGeom prst="rect">
              <a:avLst/>
            </a:prstGeom>
            <a:noFill/>
          </p:spPr>
        </p:pic>
        <p:pic>
          <p:nvPicPr>
            <p:cNvPr id="472078" name="Picture 14" descr="http://t1.gstatic.com/images?q=tbn:ANd9GcQLZmknhhYWYJWhb86D4usy9lZmr50qwlGNCejfxFvURdhc6qWS"/>
            <p:cNvPicPr>
              <a:picLocks noChangeAspect="1" noChangeArrowheads="1"/>
            </p:cNvPicPr>
            <p:nvPr/>
          </p:nvPicPr>
          <p:blipFill>
            <a:blip r:embed="rId9" cstate="print"/>
            <a:srcRect l="17900" r="7358"/>
            <a:stretch>
              <a:fillRect/>
            </a:stretch>
          </p:blipFill>
          <p:spPr bwMode="auto">
            <a:xfrm>
              <a:off x="4254529" y="2660261"/>
              <a:ext cx="975395" cy="2101308"/>
            </a:xfrm>
            <a:prstGeom prst="rect">
              <a:avLst/>
            </a:prstGeom>
            <a:noFill/>
          </p:spPr>
        </p:pic>
      </p:grpSp>
      <p:grpSp>
        <p:nvGrpSpPr>
          <p:cNvPr id="16" name="Group 15"/>
          <p:cNvGrpSpPr/>
          <p:nvPr/>
        </p:nvGrpSpPr>
        <p:grpSpPr>
          <a:xfrm>
            <a:off x="7132454" y="2565477"/>
            <a:ext cx="1866091" cy="1117560"/>
            <a:chOff x="156905" y="2360317"/>
            <a:chExt cx="4094512" cy="2581276"/>
          </a:xfrm>
        </p:grpSpPr>
        <p:pic>
          <p:nvPicPr>
            <p:cNvPr id="17" name="Picture 2" descr="http://t0.gstatic.com/images?q=tbn:ANd9GcTiJGySos6eYZJUgcCobFdB6bEuElRfMPssI4i0la95i3rJZo0_"/>
            <p:cNvPicPr>
              <a:picLocks noChangeAspect="1" noChangeArrowheads="1"/>
            </p:cNvPicPr>
            <p:nvPr/>
          </p:nvPicPr>
          <p:blipFill>
            <a:blip r:embed="rId2" cstate="print"/>
            <a:srcRect l="16425" r="30762"/>
            <a:stretch>
              <a:fillRect/>
            </a:stretch>
          </p:blipFill>
          <p:spPr bwMode="auto">
            <a:xfrm>
              <a:off x="156905" y="2360317"/>
              <a:ext cx="935665" cy="2581276"/>
            </a:xfrm>
            <a:prstGeom prst="rect">
              <a:avLst/>
            </a:prstGeom>
            <a:noFill/>
          </p:spPr>
        </p:pic>
        <p:pic>
          <p:nvPicPr>
            <p:cNvPr id="18" name="Picture 2" descr="http://images.wikia.com/simpsons/images/a/a9/Carl_Carlson.png"/>
            <p:cNvPicPr>
              <a:picLocks noChangeAspect="1" noChangeArrowheads="1"/>
            </p:cNvPicPr>
            <p:nvPr/>
          </p:nvPicPr>
          <p:blipFill>
            <a:blip r:embed="rId3" cstate="print"/>
            <a:srcRect/>
            <a:stretch>
              <a:fillRect/>
            </a:stretch>
          </p:blipFill>
          <p:spPr bwMode="auto">
            <a:xfrm>
              <a:off x="774521" y="2415671"/>
              <a:ext cx="1415773" cy="2446260"/>
            </a:xfrm>
            <a:prstGeom prst="rect">
              <a:avLst/>
            </a:prstGeom>
            <a:noFill/>
          </p:spPr>
        </p:pic>
        <p:pic>
          <p:nvPicPr>
            <p:cNvPr id="19" name="Picture 6" descr="http://t1.gstatic.com/images?q=tbn:ANd9GcRedax-Fp72g9HU194EhztiBNUrGACaz3sIU7Ao25s5P3VEw14p"/>
            <p:cNvPicPr>
              <a:picLocks noChangeAspect="1" noChangeArrowheads="1"/>
            </p:cNvPicPr>
            <p:nvPr/>
          </p:nvPicPr>
          <p:blipFill>
            <a:blip r:embed="rId4" cstate="print"/>
            <a:srcRect/>
            <a:stretch>
              <a:fillRect/>
            </a:stretch>
          </p:blipFill>
          <p:spPr bwMode="auto">
            <a:xfrm>
              <a:off x="1935737" y="2489509"/>
              <a:ext cx="1543445" cy="2327818"/>
            </a:xfrm>
            <a:prstGeom prst="rect">
              <a:avLst/>
            </a:prstGeom>
            <a:noFill/>
          </p:spPr>
        </p:pic>
        <p:pic>
          <p:nvPicPr>
            <p:cNvPr id="20" name="Picture 10" descr="http://t1.gstatic.com/images?q=tbn:ANd9GcSMfo6Uc3W60C2rRag7jjVe45y5nGwJ6ca5QSfQ1BEuwhSCUjBB"/>
            <p:cNvPicPr>
              <a:picLocks noChangeAspect="1" noChangeArrowheads="1"/>
            </p:cNvPicPr>
            <p:nvPr/>
          </p:nvPicPr>
          <p:blipFill>
            <a:blip r:embed="rId5" cstate="print"/>
            <a:srcRect/>
            <a:stretch>
              <a:fillRect/>
            </a:stretch>
          </p:blipFill>
          <p:spPr bwMode="auto">
            <a:xfrm>
              <a:off x="3422742" y="2504881"/>
              <a:ext cx="828675" cy="2286001"/>
            </a:xfrm>
            <a:prstGeom prst="rect">
              <a:avLst/>
            </a:prstGeom>
            <a:noFill/>
          </p:spPr>
        </p:pic>
      </p:grpSp>
      <p:grpSp>
        <p:nvGrpSpPr>
          <p:cNvPr id="23" name="Group 22"/>
          <p:cNvGrpSpPr/>
          <p:nvPr/>
        </p:nvGrpSpPr>
        <p:grpSpPr>
          <a:xfrm>
            <a:off x="7110183" y="3683038"/>
            <a:ext cx="2077604" cy="1256180"/>
            <a:chOff x="4254529" y="2384154"/>
            <a:chExt cx="4889471" cy="2495551"/>
          </a:xfrm>
        </p:grpSpPr>
        <p:pic>
          <p:nvPicPr>
            <p:cNvPr id="24" name="Picture 4" descr="http://t3.gstatic.com/images?q=tbn:ANd9GcSaetmbZVP5sx5g2Pv4AGB1KsphqfWXr0uNtvUhH6LAV95laLy_hQ"/>
            <p:cNvPicPr>
              <a:picLocks noChangeAspect="1" noChangeArrowheads="1"/>
            </p:cNvPicPr>
            <p:nvPr/>
          </p:nvPicPr>
          <p:blipFill>
            <a:blip r:embed="rId6" cstate="print"/>
            <a:srcRect/>
            <a:stretch>
              <a:fillRect/>
            </a:stretch>
          </p:blipFill>
          <p:spPr bwMode="auto">
            <a:xfrm>
              <a:off x="6489299" y="2493730"/>
              <a:ext cx="990600" cy="2286001"/>
            </a:xfrm>
            <a:prstGeom prst="rect">
              <a:avLst/>
            </a:prstGeom>
            <a:noFill/>
          </p:spPr>
        </p:pic>
        <p:pic>
          <p:nvPicPr>
            <p:cNvPr id="25" name="Picture 8" descr="http://t1.gstatic.com/images?q=tbn:ANd9GcSmZK-imNar-VeD92UHqq_9fSK2l74z6q6BUyTz-S12uhowXcOA"/>
            <p:cNvPicPr>
              <a:picLocks noChangeAspect="1" noChangeArrowheads="1"/>
            </p:cNvPicPr>
            <p:nvPr/>
          </p:nvPicPr>
          <p:blipFill>
            <a:blip r:embed="rId7" cstate="print"/>
            <a:srcRect/>
            <a:stretch>
              <a:fillRect/>
            </a:stretch>
          </p:blipFill>
          <p:spPr bwMode="auto">
            <a:xfrm>
              <a:off x="7458075" y="2384154"/>
              <a:ext cx="1685925" cy="2495551"/>
            </a:xfrm>
            <a:prstGeom prst="rect">
              <a:avLst/>
            </a:prstGeom>
            <a:noFill/>
          </p:spPr>
        </p:pic>
        <p:pic>
          <p:nvPicPr>
            <p:cNvPr id="26" name="Picture 12" descr="http://t1.gstatic.com/images?q=tbn:ANd9GcTiwn4i0wGdY6wBK161e8BaV3Z-yYHkfLUmwMIiMEDHzI6qSkizeA"/>
            <p:cNvPicPr>
              <a:picLocks noChangeAspect="1" noChangeArrowheads="1"/>
            </p:cNvPicPr>
            <p:nvPr/>
          </p:nvPicPr>
          <p:blipFill>
            <a:blip r:embed="rId8" cstate="print"/>
            <a:srcRect/>
            <a:stretch>
              <a:fillRect/>
            </a:stretch>
          </p:blipFill>
          <p:spPr bwMode="auto">
            <a:xfrm>
              <a:off x="5209961" y="2577441"/>
              <a:ext cx="1292825" cy="2251037"/>
            </a:xfrm>
            <a:prstGeom prst="rect">
              <a:avLst/>
            </a:prstGeom>
            <a:noFill/>
          </p:spPr>
        </p:pic>
        <p:pic>
          <p:nvPicPr>
            <p:cNvPr id="27" name="Picture 14" descr="http://t1.gstatic.com/images?q=tbn:ANd9GcQLZmknhhYWYJWhb86D4usy9lZmr50qwlGNCejfxFvURdhc6qWS"/>
            <p:cNvPicPr>
              <a:picLocks noChangeAspect="1" noChangeArrowheads="1"/>
            </p:cNvPicPr>
            <p:nvPr/>
          </p:nvPicPr>
          <p:blipFill>
            <a:blip r:embed="rId9" cstate="print"/>
            <a:srcRect l="17900" r="7358"/>
            <a:stretch>
              <a:fillRect/>
            </a:stretch>
          </p:blipFill>
          <p:spPr bwMode="auto">
            <a:xfrm>
              <a:off x="4254529" y="2660261"/>
              <a:ext cx="975395" cy="2101308"/>
            </a:xfrm>
            <a:prstGeom prst="rect">
              <a:avLst/>
            </a:prstGeom>
            <a:noFill/>
          </p:spPr>
        </p:pic>
      </p:grpSp>
    </p:spTree>
    <p:extLst>
      <p:ext uri="{BB962C8B-B14F-4D97-AF65-F5344CB8AC3E}">
        <p14:creationId xmlns:p14="http://schemas.microsoft.com/office/powerpoint/2010/main" val="19661872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vert="horz" lIns="83201" tIns="41601" rIns="83201" bIns="41601" rtlCol="0" anchor="ctr">
            <a:normAutofit/>
          </a:bodyPr>
          <a:lstStyle/>
          <a:p>
            <a:r>
              <a:rPr lang="en-GB" dirty="0"/>
              <a:t>Why do we </a:t>
            </a:r>
            <a:r>
              <a:rPr lang="en-GB" dirty="0" smtClean="0"/>
              <a:t>need control groups? </a:t>
            </a:r>
            <a:r>
              <a:rPr lang="en-GB" dirty="0"/>
              <a:t/>
            </a:r>
            <a:br>
              <a:rPr lang="en-GB" dirty="0"/>
            </a:br>
            <a:r>
              <a:rPr lang="en-GB" dirty="0"/>
              <a:t>Fundamental concept of causal inference</a:t>
            </a:r>
          </a:p>
        </p:txBody>
      </p:sp>
      <p:sp>
        <p:nvSpPr>
          <p:cNvPr id="4" name="Content Placeholder 3"/>
          <p:cNvSpPr>
            <a:spLocks noGrp="1"/>
          </p:cNvSpPr>
          <p:nvPr>
            <p:ph sz="half" idx="1"/>
          </p:nvPr>
        </p:nvSpPr>
        <p:spPr/>
        <p:txBody>
          <a:bodyPr vert="horz" lIns="83201" tIns="41601" rIns="83201" bIns="41601" rtlCol="0">
            <a:normAutofit/>
          </a:bodyPr>
          <a:lstStyle/>
          <a:p>
            <a:pPr algn="ctr">
              <a:buNone/>
            </a:pPr>
            <a:r>
              <a:rPr lang="en-GB" sz="2800" dirty="0" smtClean="0"/>
              <a:t>Randomise treatment*</a:t>
            </a:r>
          </a:p>
          <a:p>
            <a:endParaRPr lang="en-GB" dirty="0" smtClean="0"/>
          </a:p>
          <a:p>
            <a:endParaRPr lang="en-GB" dirty="0" smtClean="0"/>
          </a:p>
          <a:p>
            <a:endParaRPr lang="en-GB" dirty="0" smtClean="0"/>
          </a:p>
          <a:p>
            <a:endParaRPr lang="en-GB" dirty="0" smtClean="0"/>
          </a:p>
          <a:p>
            <a:endParaRPr lang="en-GB" dirty="0" smtClean="0"/>
          </a:p>
          <a:p>
            <a:endParaRPr lang="en-GB" sz="1200" dirty="0"/>
          </a:p>
          <a:p>
            <a:pPr algn="ctr">
              <a:buNone/>
            </a:pPr>
            <a:r>
              <a:rPr lang="en-GB" dirty="0" smtClean="0"/>
              <a:t>Measure outcome</a:t>
            </a:r>
            <a:endParaRPr lang="en-GB" dirty="0"/>
          </a:p>
        </p:txBody>
      </p:sp>
      <p:sp>
        <p:nvSpPr>
          <p:cNvPr id="5" name="Content Placeholder 4"/>
          <p:cNvSpPr>
            <a:spLocks noGrp="1"/>
          </p:cNvSpPr>
          <p:nvPr>
            <p:ph sz="half" idx="2"/>
          </p:nvPr>
        </p:nvSpPr>
        <p:spPr/>
        <p:txBody>
          <a:bodyPr vert="horz" lIns="83201" tIns="41601" rIns="83201" bIns="41601" rtlCol="0">
            <a:normAutofit/>
          </a:bodyPr>
          <a:lstStyle/>
          <a:p>
            <a:pPr algn="ctr">
              <a:buNone/>
            </a:pPr>
            <a:r>
              <a:rPr lang="en-GB" sz="2800" dirty="0" smtClean="0"/>
              <a:t>Randomise control*</a:t>
            </a:r>
          </a:p>
          <a:p>
            <a:endParaRPr lang="en-GB" dirty="0" smtClean="0"/>
          </a:p>
          <a:p>
            <a:endParaRPr lang="en-GB" dirty="0" smtClean="0"/>
          </a:p>
          <a:p>
            <a:endParaRPr lang="en-GB" dirty="0" smtClean="0"/>
          </a:p>
          <a:p>
            <a:endParaRPr lang="en-GB" dirty="0" smtClean="0"/>
          </a:p>
          <a:p>
            <a:endParaRPr lang="en-GB" dirty="0" smtClean="0"/>
          </a:p>
          <a:p>
            <a:endParaRPr lang="en-GB" sz="1200" dirty="0"/>
          </a:p>
          <a:p>
            <a:pPr algn="ctr">
              <a:buNone/>
            </a:pPr>
            <a:r>
              <a:rPr lang="en-GB" dirty="0" smtClean="0"/>
              <a:t>Measure outcome</a:t>
            </a:r>
            <a:endParaRPr lang="en-GB" dirty="0"/>
          </a:p>
        </p:txBody>
      </p:sp>
      <p:sp>
        <p:nvSpPr>
          <p:cNvPr id="2" name="Slide Number Placeholder 1"/>
          <p:cNvSpPr>
            <a:spLocks noGrp="1"/>
          </p:cNvSpPr>
          <p:nvPr>
            <p:ph type="sldNum" sz="quarter" idx="12"/>
          </p:nvPr>
        </p:nvSpPr>
        <p:spPr/>
        <p:txBody>
          <a:bodyPr/>
          <a:lstStyle/>
          <a:p>
            <a:fld id="{295AAB7A-98F7-42CD-A204-DDD6725CD545}" type="slidenum">
              <a:rPr lang="en-GB" smtClean="0"/>
              <a:t>29</a:t>
            </a:fld>
            <a:endParaRPr lang="en-GB"/>
          </a:p>
        </p:txBody>
      </p:sp>
      <p:sp>
        <p:nvSpPr>
          <p:cNvPr id="8" name="TextBox 7"/>
          <p:cNvSpPr txBox="1"/>
          <p:nvPr/>
        </p:nvSpPr>
        <p:spPr>
          <a:xfrm>
            <a:off x="1644073" y="5723066"/>
            <a:ext cx="9661236" cy="461663"/>
          </a:xfrm>
          <a:prstGeom prst="rect">
            <a:avLst/>
          </a:prstGeom>
          <a:noFill/>
        </p:spPr>
        <p:txBody>
          <a:bodyPr wrap="square" lIns="91439" tIns="45719" rIns="91439" bIns="45719" rtlCol="0">
            <a:spAutoFit/>
          </a:bodyPr>
          <a:lstStyle/>
          <a:p>
            <a:r>
              <a:rPr lang="en-GB" sz="2400" dirty="0"/>
              <a:t>Comparison of average outcomes </a:t>
            </a:r>
            <a:r>
              <a:rPr lang="en-GB" sz="2400" b="1" dirty="0"/>
              <a:t>estimates</a:t>
            </a:r>
            <a:r>
              <a:rPr lang="en-GB" sz="2400" dirty="0"/>
              <a:t> the </a:t>
            </a:r>
            <a:r>
              <a:rPr lang="en-GB" sz="2400" b="1" dirty="0">
                <a:solidFill>
                  <a:srgbClr val="FF0000"/>
                </a:solidFill>
              </a:rPr>
              <a:t>average treatment effect</a:t>
            </a:r>
          </a:p>
        </p:txBody>
      </p:sp>
      <p:grpSp>
        <p:nvGrpSpPr>
          <p:cNvPr id="21" name="Group 20"/>
          <p:cNvGrpSpPr/>
          <p:nvPr/>
        </p:nvGrpSpPr>
        <p:grpSpPr>
          <a:xfrm>
            <a:off x="2538766" y="2605645"/>
            <a:ext cx="2846363" cy="2010961"/>
            <a:chOff x="156905" y="2360317"/>
            <a:chExt cx="4094512" cy="2581276"/>
          </a:xfrm>
        </p:grpSpPr>
        <p:pic>
          <p:nvPicPr>
            <p:cNvPr id="337922" name="Picture 2" descr="http://t0.gstatic.com/images?q=tbn:ANd9GcTiJGySos6eYZJUgcCobFdB6bEuElRfMPssI4i0la95i3rJZo0_"/>
            <p:cNvPicPr>
              <a:picLocks noChangeAspect="1" noChangeArrowheads="1"/>
            </p:cNvPicPr>
            <p:nvPr/>
          </p:nvPicPr>
          <p:blipFill>
            <a:blip r:embed="rId2" cstate="print"/>
            <a:srcRect l="16425" r="30762"/>
            <a:stretch>
              <a:fillRect/>
            </a:stretch>
          </p:blipFill>
          <p:spPr bwMode="auto">
            <a:xfrm>
              <a:off x="156905" y="2360317"/>
              <a:ext cx="935665" cy="2581276"/>
            </a:xfrm>
            <a:prstGeom prst="rect">
              <a:avLst/>
            </a:prstGeom>
            <a:noFill/>
          </p:spPr>
        </p:pic>
        <p:pic>
          <p:nvPicPr>
            <p:cNvPr id="472066" name="Picture 2" descr="http://images.wikia.com/simpsons/images/a/a9/Carl_Carlson.png"/>
            <p:cNvPicPr>
              <a:picLocks noChangeAspect="1" noChangeArrowheads="1"/>
            </p:cNvPicPr>
            <p:nvPr/>
          </p:nvPicPr>
          <p:blipFill>
            <a:blip r:embed="rId3" cstate="print"/>
            <a:srcRect/>
            <a:stretch>
              <a:fillRect/>
            </a:stretch>
          </p:blipFill>
          <p:spPr bwMode="auto">
            <a:xfrm>
              <a:off x="774521" y="2415671"/>
              <a:ext cx="1415773" cy="2446260"/>
            </a:xfrm>
            <a:prstGeom prst="rect">
              <a:avLst/>
            </a:prstGeom>
            <a:noFill/>
          </p:spPr>
        </p:pic>
        <p:pic>
          <p:nvPicPr>
            <p:cNvPr id="472070" name="Picture 6" descr="http://t1.gstatic.com/images?q=tbn:ANd9GcRedax-Fp72g9HU194EhztiBNUrGACaz3sIU7Ao25s5P3VEw14p"/>
            <p:cNvPicPr>
              <a:picLocks noChangeAspect="1" noChangeArrowheads="1"/>
            </p:cNvPicPr>
            <p:nvPr/>
          </p:nvPicPr>
          <p:blipFill>
            <a:blip r:embed="rId4" cstate="print"/>
            <a:srcRect/>
            <a:stretch>
              <a:fillRect/>
            </a:stretch>
          </p:blipFill>
          <p:spPr bwMode="auto">
            <a:xfrm>
              <a:off x="1935737" y="2489509"/>
              <a:ext cx="1543445" cy="2327818"/>
            </a:xfrm>
            <a:prstGeom prst="rect">
              <a:avLst/>
            </a:prstGeom>
            <a:noFill/>
          </p:spPr>
        </p:pic>
        <p:pic>
          <p:nvPicPr>
            <p:cNvPr id="472074" name="Picture 10" descr="http://t1.gstatic.com/images?q=tbn:ANd9GcSMfo6Uc3W60C2rRag7jjVe45y5nGwJ6ca5QSfQ1BEuwhSCUjBB"/>
            <p:cNvPicPr>
              <a:picLocks noChangeAspect="1" noChangeArrowheads="1"/>
            </p:cNvPicPr>
            <p:nvPr/>
          </p:nvPicPr>
          <p:blipFill>
            <a:blip r:embed="rId5" cstate="print"/>
            <a:srcRect/>
            <a:stretch>
              <a:fillRect/>
            </a:stretch>
          </p:blipFill>
          <p:spPr bwMode="auto">
            <a:xfrm>
              <a:off x="3422742" y="2504881"/>
              <a:ext cx="828675" cy="2286001"/>
            </a:xfrm>
            <a:prstGeom prst="rect">
              <a:avLst/>
            </a:prstGeom>
            <a:noFill/>
          </p:spPr>
        </p:pic>
      </p:grpSp>
      <p:grpSp>
        <p:nvGrpSpPr>
          <p:cNvPr id="22" name="Group 21"/>
          <p:cNvGrpSpPr/>
          <p:nvPr/>
        </p:nvGrpSpPr>
        <p:grpSpPr>
          <a:xfrm>
            <a:off x="6620107" y="2696388"/>
            <a:ext cx="3657600" cy="1931368"/>
            <a:chOff x="4254529" y="2384154"/>
            <a:chExt cx="4889471" cy="2495551"/>
          </a:xfrm>
        </p:grpSpPr>
        <p:pic>
          <p:nvPicPr>
            <p:cNvPr id="472068" name="Picture 4" descr="http://t3.gstatic.com/images?q=tbn:ANd9GcSaetmbZVP5sx5g2Pv4AGB1KsphqfWXr0uNtvUhH6LAV95laLy_hQ"/>
            <p:cNvPicPr>
              <a:picLocks noChangeAspect="1" noChangeArrowheads="1"/>
            </p:cNvPicPr>
            <p:nvPr/>
          </p:nvPicPr>
          <p:blipFill>
            <a:blip r:embed="rId6" cstate="print"/>
            <a:srcRect/>
            <a:stretch>
              <a:fillRect/>
            </a:stretch>
          </p:blipFill>
          <p:spPr bwMode="auto">
            <a:xfrm>
              <a:off x="6489299" y="2493730"/>
              <a:ext cx="990600" cy="2286001"/>
            </a:xfrm>
            <a:prstGeom prst="rect">
              <a:avLst/>
            </a:prstGeom>
            <a:noFill/>
          </p:spPr>
        </p:pic>
        <p:pic>
          <p:nvPicPr>
            <p:cNvPr id="472072" name="Picture 8" descr="http://t1.gstatic.com/images?q=tbn:ANd9GcSmZK-imNar-VeD92UHqq_9fSK2l74z6q6BUyTz-S12uhowXcOA"/>
            <p:cNvPicPr>
              <a:picLocks noChangeAspect="1" noChangeArrowheads="1"/>
            </p:cNvPicPr>
            <p:nvPr/>
          </p:nvPicPr>
          <p:blipFill>
            <a:blip r:embed="rId7" cstate="print"/>
            <a:srcRect/>
            <a:stretch>
              <a:fillRect/>
            </a:stretch>
          </p:blipFill>
          <p:spPr bwMode="auto">
            <a:xfrm>
              <a:off x="7458075" y="2384154"/>
              <a:ext cx="1685925" cy="2495551"/>
            </a:xfrm>
            <a:prstGeom prst="rect">
              <a:avLst/>
            </a:prstGeom>
            <a:noFill/>
          </p:spPr>
        </p:pic>
        <p:pic>
          <p:nvPicPr>
            <p:cNvPr id="472076" name="Picture 12" descr="http://t1.gstatic.com/images?q=tbn:ANd9GcTiwn4i0wGdY6wBK161e8BaV3Z-yYHkfLUmwMIiMEDHzI6qSkizeA"/>
            <p:cNvPicPr>
              <a:picLocks noChangeAspect="1" noChangeArrowheads="1"/>
            </p:cNvPicPr>
            <p:nvPr/>
          </p:nvPicPr>
          <p:blipFill>
            <a:blip r:embed="rId8" cstate="print"/>
            <a:srcRect/>
            <a:stretch>
              <a:fillRect/>
            </a:stretch>
          </p:blipFill>
          <p:spPr bwMode="auto">
            <a:xfrm>
              <a:off x="5209961" y="2577441"/>
              <a:ext cx="1292825" cy="2251037"/>
            </a:xfrm>
            <a:prstGeom prst="rect">
              <a:avLst/>
            </a:prstGeom>
            <a:noFill/>
          </p:spPr>
        </p:pic>
        <p:pic>
          <p:nvPicPr>
            <p:cNvPr id="472078" name="Picture 14" descr="http://t1.gstatic.com/images?q=tbn:ANd9GcQLZmknhhYWYJWhb86D4usy9lZmr50qwlGNCejfxFvURdhc6qWS"/>
            <p:cNvPicPr>
              <a:picLocks noChangeAspect="1" noChangeArrowheads="1"/>
            </p:cNvPicPr>
            <p:nvPr/>
          </p:nvPicPr>
          <p:blipFill>
            <a:blip r:embed="rId9" cstate="print"/>
            <a:srcRect l="17900" r="7358"/>
            <a:stretch>
              <a:fillRect/>
            </a:stretch>
          </p:blipFill>
          <p:spPr bwMode="auto">
            <a:xfrm>
              <a:off x="4254529" y="2660261"/>
              <a:ext cx="975395" cy="2101308"/>
            </a:xfrm>
            <a:prstGeom prst="rect">
              <a:avLst/>
            </a:prstGeom>
            <a:noFill/>
          </p:spPr>
        </p:pic>
      </p:grpSp>
      <p:sp>
        <p:nvSpPr>
          <p:cNvPr id="6" name="TextBox 5"/>
          <p:cNvSpPr txBox="1"/>
          <p:nvPr/>
        </p:nvSpPr>
        <p:spPr>
          <a:xfrm>
            <a:off x="1690254" y="5357580"/>
            <a:ext cx="8756073" cy="400110"/>
          </a:xfrm>
          <a:prstGeom prst="rect">
            <a:avLst/>
          </a:prstGeom>
          <a:noFill/>
        </p:spPr>
        <p:txBody>
          <a:bodyPr wrap="square" rtlCol="0">
            <a:spAutoFit/>
          </a:bodyPr>
          <a:lstStyle/>
          <a:p>
            <a:r>
              <a:rPr lang="en-GB" sz="2000" dirty="0" smtClean="0"/>
              <a:t>*Or successfully control for confounding another way in a non-randomised study</a:t>
            </a:r>
            <a:endParaRPr lang="en-GB" sz="2000" dirty="0"/>
          </a:p>
        </p:txBody>
      </p:sp>
    </p:spTree>
    <p:extLst>
      <p:ext uri="{BB962C8B-B14F-4D97-AF65-F5344CB8AC3E}">
        <p14:creationId xmlns:p14="http://schemas.microsoft.com/office/powerpoint/2010/main" val="10007715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Why do we </a:t>
            </a:r>
            <a:r>
              <a:rPr lang="en-GB" dirty="0" smtClean="0"/>
              <a:t>need control groups? </a:t>
            </a:r>
            <a:r>
              <a:rPr lang="en-GB" dirty="0"/>
              <a:t/>
            </a:r>
            <a:br>
              <a:rPr lang="en-GB" dirty="0"/>
            </a:br>
            <a:r>
              <a:rPr lang="en-GB" dirty="0"/>
              <a:t>Fundamental concept of causal inference</a:t>
            </a:r>
          </a:p>
        </p:txBody>
      </p:sp>
      <p:sp>
        <p:nvSpPr>
          <p:cNvPr id="3" name="Content Placeholder 2"/>
          <p:cNvSpPr>
            <a:spLocks noGrp="1"/>
          </p:cNvSpPr>
          <p:nvPr>
            <p:ph idx="1"/>
          </p:nvPr>
        </p:nvSpPr>
        <p:spPr/>
        <p:txBody>
          <a:bodyPr/>
          <a:lstStyle/>
          <a:p>
            <a:r>
              <a:rPr lang="en-GB" dirty="0" smtClean="0"/>
              <a:t>Moreover, it turns out that if we take a random sample of people from the population of interest, and randomly allocate them to receive either treatment or control, then the </a:t>
            </a:r>
            <a:r>
              <a:rPr lang="en-GB" i="1" dirty="0" smtClean="0"/>
              <a:t>sample</a:t>
            </a:r>
            <a:r>
              <a:rPr lang="en-GB" dirty="0" smtClean="0"/>
              <a:t> average treatment effect is an estimate of the </a:t>
            </a:r>
            <a:r>
              <a:rPr lang="en-GB" i="1" dirty="0" smtClean="0"/>
              <a:t>population </a:t>
            </a:r>
            <a:r>
              <a:rPr lang="en-GB" dirty="0" smtClean="0"/>
              <a:t>average treatment effect! (caveats…)</a:t>
            </a:r>
          </a:p>
          <a:p>
            <a:endParaRPr lang="en-GB" sz="1200" dirty="0"/>
          </a:p>
          <a:p>
            <a:r>
              <a:rPr lang="en-GB" dirty="0" smtClean="0"/>
              <a:t>Our estimate of the </a:t>
            </a:r>
            <a:r>
              <a:rPr lang="en-GB" i="1" dirty="0" smtClean="0"/>
              <a:t>average treatment effect</a:t>
            </a:r>
            <a:r>
              <a:rPr lang="en-GB" dirty="0" smtClean="0"/>
              <a:t> is usually the best estimate we can get of the </a:t>
            </a:r>
            <a:r>
              <a:rPr lang="en-GB" i="1" dirty="0" smtClean="0"/>
              <a:t>individual treatment effect</a:t>
            </a:r>
            <a:r>
              <a:rPr lang="en-GB" dirty="0" smtClean="0"/>
              <a:t>.</a:t>
            </a:r>
            <a:endParaRPr lang="en-GB" dirty="0"/>
          </a:p>
          <a:p>
            <a:pPr marL="0" indent="0">
              <a:buNone/>
            </a:pPr>
            <a:endParaRPr lang="en-GB" dirty="0" smtClean="0"/>
          </a:p>
        </p:txBody>
      </p:sp>
      <p:sp>
        <p:nvSpPr>
          <p:cNvPr id="5" name="Slide Number Placeholder 4"/>
          <p:cNvSpPr>
            <a:spLocks noGrp="1"/>
          </p:cNvSpPr>
          <p:nvPr>
            <p:ph type="sldNum" sz="quarter" idx="12"/>
          </p:nvPr>
        </p:nvSpPr>
        <p:spPr/>
        <p:txBody>
          <a:bodyPr/>
          <a:lstStyle/>
          <a:p>
            <a:fld id="{295AAB7A-98F7-42CD-A204-DDD6725CD545}" type="slidenum">
              <a:rPr lang="en-GB" smtClean="0"/>
              <a:t>30</a:t>
            </a:fld>
            <a:endParaRPr lang="en-GB"/>
          </a:p>
        </p:txBody>
      </p:sp>
    </p:spTree>
    <p:extLst>
      <p:ext uri="{BB962C8B-B14F-4D97-AF65-F5344CB8AC3E}">
        <p14:creationId xmlns:p14="http://schemas.microsoft.com/office/powerpoint/2010/main" val="41408194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Summarising</a:t>
            </a:r>
            <a:endParaRPr lang="en-GB" dirty="0"/>
          </a:p>
        </p:txBody>
      </p:sp>
      <p:sp>
        <p:nvSpPr>
          <p:cNvPr id="3" name="Content Placeholder 2"/>
          <p:cNvSpPr>
            <a:spLocks noGrp="1"/>
          </p:cNvSpPr>
          <p:nvPr>
            <p:ph idx="1"/>
          </p:nvPr>
        </p:nvSpPr>
        <p:spPr/>
        <p:txBody>
          <a:bodyPr>
            <a:normAutofit fontScale="92500" lnSpcReduction="10000"/>
          </a:bodyPr>
          <a:lstStyle/>
          <a:p>
            <a:r>
              <a:rPr lang="en-GB" dirty="0" smtClean="0"/>
              <a:t>A comparison between the responses (outcomes) in the treatment group vs the responses in the control group is used to test whether the treatment under study works. </a:t>
            </a:r>
          </a:p>
          <a:p>
            <a:endParaRPr lang="en-GB" dirty="0"/>
          </a:p>
          <a:p>
            <a:r>
              <a:rPr lang="en-GB" dirty="0" smtClean="0"/>
              <a:t>The question we are trying to answer is: are patients better off when given the treatment compared to how they </a:t>
            </a:r>
            <a:r>
              <a:rPr lang="en-GB" i="1" dirty="0" smtClean="0"/>
              <a:t>would have been </a:t>
            </a:r>
            <a:r>
              <a:rPr lang="en-GB" dirty="0" smtClean="0"/>
              <a:t>if they had been given the control?</a:t>
            </a:r>
          </a:p>
          <a:p>
            <a:endParaRPr lang="en-GB" dirty="0"/>
          </a:p>
          <a:p>
            <a:r>
              <a:rPr lang="en-GB" dirty="0" smtClean="0"/>
              <a:t>We can’t observe both possibilities in patients – we must observe one or the other (treatment or control). The other is </a:t>
            </a:r>
            <a:r>
              <a:rPr lang="en-GB" i="1" dirty="0" smtClean="0"/>
              <a:t>counterfactual.</a:t>
            </a:r>
          </a:p>
          <a:p>
            <a:endParaRPr lang="en-GB" i="1" dirty="0"/>
          </a:p>
          <a:p>
            <a:r>
              <a:rPr lang="en-GB" dirty="0" smtClean="0"/>
              <a:t>The comparison between treatment and control groups stands in for this impossible ‘multiple reality’ comparison, but we need to use random allocation (or successfully control for confounding in a non-randomised study)</a:t>
            </a:r>
            <a:endParaRPr lang="en-GB" dirty="0"/>
          </a:p>
        </p:txBody>
      </p:sp>
    </p:spTree>
    <p:extLst>
      <p:ext uri="{BB962C8B-B14F-4D97-AF65-F5344CB8AC3E}">
        <p14:creationId xmlns:p14="http://schemas.microsoft.com/office/powerpoint/2010/main" val="59671253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So control groups are essential</a:t>
            </a:r>
            <a:endParaRPr lang="en-GB" dirty="0"/>
          </a:p>
        </p:txBody>
      </p:sp>
      <p:sp>
        <p:nvSpPr>
          <p:cNvPr id="3" name="Content Placeholder 2"/>
          <p:cNvSpPr>
            <a:spLocks noGrp="1"/>
          </p:cNvSpPr>
          <p:nvPr>
            <p:ph idx="1"/>
          </p:nvPr>
        </p:nvSpPr>
        <p:spPr/>
        <p:txBody>
          <a:bodyPr>
            <a:normAutofit/>
          </a:bodyPr>
          <a:lstStyle/>
          <a:p>
            <a:r>
              <a:rPr lang="en-GB" dirty="0" smtClean="0"/>
              <a:t>It follows that we can’t usually determine whether or not a treatment works without a control group. </a:t>
            </a:r>
          </a:p>
          <a:p>
            <a:endParaRPr lang="en-GB" dirty="0"/>
          </a:p>
          <a:p>
            <a:r>
              <a:rPr lang="en-GB" dirty="0" smtClean="0"/>
              <a:t>A common fallacy – looking to see if people in treatment group ‘got better’ or ‘got worse’.</a:t>
            </a:r>
          </a:p>
          <a:p>
            <a:pPr marL="0" indent="0">
              <a:buNone/>
            </a:pPr>
            <a:endParaRPr lang="en-GB" dirty="0" smtClean="0"/>
          </a:p>
          <a:p>
            <a:r>
              <a:rPr lang="en-GB" dirty="0" smtClean="0"/>
              <a:t>This doesn’t tell us anything about the counterfactual – what would have happened to them otherwise. </a:t>
            </a:r>
          </a:p>
          <a:p>
            <a:endParaRPr lang="en-GB" dirty="0"/>
          </a:p>
          <a:p>
            <a:r>
              <a:rPr lang="en-GB" dirty="0" smtClean="0"/>
              <a:t>Example: anti-ageing cream. After 40 years, participants look 20 years older. They ‘got worse’ = cream doesn’t work?</a:t>
            </a:r>
          </a:p>
          <a:p>
            <a:endParaRPr lang="en-GB" dirty="0"/>
          </a:p>
          <a:p>
            <a:endParaRPr lang="en-GB" dirty="0" smtClean="0"/>
          </a:p>
          <a:p>
            <a:endParaRPr lang="en-GB" dirty="0"/>
          </a:p>
          <a:p>
            <a:endParaRPr lang="en-GB" dirty="0"/>
          </a:p>
        </p:txBody>
      </p:sp>
    </p:spTree>
    <p:extLst>
      <p:ext uri="{BB962C8B-B14F-4D97-AF65-F5344CB8AC3E}">
        <p14:creationId xmlns:p14="http://schemas.microsoft.com/office/powerpoint/2010/main" val="29267504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6960" y="2720696"/>
            <a:ext cx="10972800" cy="990600"/>
          </a:xfrm>
        </p:spPr>
        <p:txBody>
          <a:bodyPr>
            <a:noAutofit/>
          </a:bodyPr>
          <a:lstStyle/>
          <a:p>
            <a:pPr algn="ctr"/>
            <a:r>
              <a:rPr lang="en-GB" sz="5400" dirty="0" smtClean="0"/>
              <a:t>Why do we prefer random allocation to treatments?</a:t>
            </a:r>
            <a:endParaRPr lang="en-GB" sz="5400" dirty="0"/>
          </a:p>
        </p:txBody>
      </p:sp>
    </p:spTree>
    <p:extLst>
      <p:ext uri="{BB962C8B-B14F-4D97-AF65-F5344CB8AC3E}">
        <p14:creationId xmlns:p14="http://schemas.microsoft.com/office/powerpoint/2010/main" val="149664108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How is treatment allocated?</a:t>
            </a:r>
            <a:endParaRPr lang="en-GB" dirty="0"/>
          </a:p>
        </p:txBody>
      </p:sp>
      <p:sp>
        <p:nvSpPr>
          <p:cNvPr id="3" name="Content Placeholder 2"/>
          <p:cNvSpPr>
            <a:spLocks noGrp="1"/>
          </p:cNvSpPr>
          <p:nvPr>
            <p:ph idx="1"/>
          </p:nvPr>
        </p:nvSpPr>
        <p:spPr>
          <a:xfrm>
            <a:off x="1260764" y="1664860"/>
            <a:ext cx="8229600" cy="4744035"/>
          </a:xfrm>
        </p:spPr>
        <p:txBody>
          <a:bodyPr/>
          <a:lstStyle/>
          <a:p>
            <a:endParaRPr lang="en-GB" sz="900" dirty="0"/>
          </a:p>
          <a:p>
            <a:pPr marL="0" indent="0">
              <a:buNone/>
            </a:pPr>
            <a:r>
              <a:rPr lang="en-GB" sz="2800" dirty="0"/>
              <a:t>There are two generic types of research study:</a:t>
            </a:r>
          </a:p>
          <a:p>
            <a:pPr marL="0" indent="0">
              <a:buNone/>
            </a:pPr>
            <a:endParaRPr lang="en-GB" i="1" dirty="0"/>
          </a:p>
          <a:p>
            <a:pPr lvl="1" indent="-342900"/>
            <a:r>
              <a:rPr lang="en-GB" sz="2800" i="1" dirty="0"/>
              <a:t>Observational</a:t>
            </a:r>
            <a:r>
              <a:rPr lang="en-GB" sz="2800" dirty="0"/>
              <a:t> </a:t>
            </a:r>
          </a:p>
          <a:p>
            <a:pPr lvl="1" indent="-342900"/>
            <a:endParaRPr lang="en-GB" sz="2800" dirty="0"/>
          </a:p>
          <a:p>
            <a:pPr lvl="1" indent="-342900"/>
            <a:r>
              <a:rPr lang="en-GB" sz="2800" i="1" dirty="0"/>
              <a:t>Experimental</a:t>
            </a:r>
            <a:endParaRPr lang="en-GB" sz="2800" dirty="0"/>
          </a:p>
        </p:txBody>
      </p:sp>
    </p:spTree>
    <p:extLst>
      <p:ext uri="{BB962C8B-B14F-4D97-AF65-F5344CB8AC3E}">
        <p14:creationId xmlns:p14="http://schemas.microsoft.com/office/powerpoint/2010/main" val="22622093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
            </a:r>
            <a:br>
              <a:rPr lang="en-GB" dirty="0"/>
            </a:br>
            <a:r>
              <a:rPr lang="en-GB" dirty="0" smtClean="0"/>
              <a:t>Different types of research study</a:t>
            </a:r>
            <a:endParaRPr lang="en-GB" dirty="0"/>
          </a:p>
        </p:txBody>
      </p:sp>
      <p:sp>
        <p:nvSpPr>
          <p:cNvPr id="3" name="Content Placeholder 2"/>
          <p:cNvSpPr>
            <a:spLocks noGrp="1"/>
          </p:cNvSpPr>
          <p:nvPr>
            <p:ph idx="1"/>
          </p:nvPr>
        </p:nvSpPr>
        <p:spPr>
          <a:xfrm>
            <a:off x="1981200" y="1600205"/>
            <a:ext cx="8229600" cy="4744035"/>
          </a:xfrm>
        </p:spPr>
        <p:txBody>
          <a:bodyPr/>
          <a:lstStyle/>
          <a:p>
            <a:endParaRPr lang="en-GB" sz="900" dirty="0"/>
          </a:p>
          <a:p>
            <a:pPr marL="0" indent="0">
              <a:buNone/>
            </a:pPr>
            <a:r>
              <a:rPr lang="en-GB" sz="2400" b="1" dirty="0"/>
              <a:t>Experimental studies</a:t>
            </a:r>
            <a:r>
              <a:rPr lang="en-GB" sz="2400" dirty="0"/>
              <a:t> </a:t>
            </a:r>
          </a:p>
          <a:p>
            <a:endParaRPr lang="en-GB" sz="1200" dirty="0"/>
          </a:p>
          <a:p>
            <a:pPr>
              <a:spcAft>
                <a:spcPts val="600"/>
              </a:spcAft>
            </a:pPr>
            <a:r>
              <a:rPr lang="en-GB" sz="2400" dirty="0"/>
              <a:t>We </a:t>
            </a:r>
            <a:r>
              <a:rPr lang="en-GB" sz="2400" b="1" dirty="0"/>
              <a:t>do </a:t>
            </a:r>
            <a:r>
              <a:rPr lang="en-GB" sz="2400" dirty="0"/>
              <a:t>manipulate the </a:t>
            </a:r>
            <a:r>
              <a:rPr lang="en-GB" sz="2400" dirty="0" smtClean="0"/>
              <a:t>treatment variable – we decide who does and does not get treated</a:t>
            </a:r>
            <a:endParaRPr lang="en-GB" sz="2400" dirty="0"/>
          </a:p>
          <a:p>
            <a:endParaRPr lang="en-GB" sz="1200" dirty="0"/>
          </a:p>
          <a:p>
            <a:r>
              <a:rPr lang="en-GB" sz="2400" dirty="0"/>
              <a:t>Then collect the data and compare outcomes between those </a:t>
            </a:r>
            <a:r>
              <a:rPr lang="en-GB" sz="2400" dirty="0" smtClean="0"/>
              <a:t>treated </a:t>
            </a:r>
            <a:r>
              <a:rPr lang="en-GB" sz="2400" dirty="0"/>
              <a:t>and those </a:t>
            </a:r>
            <a:r>
              <a:rPr lang="en-GB" sz="2400" dirty="0" smtClean="0"/>
              <a:t>untreated</a:t>
            </a:r>
            <a:endParaRPr lang="en-GB" sz="2400" dirty="0"/>
          </a:p>
        </p:txBody>
      </p:sp>
      <p:sp>
        <p:nvSpPr>
          <p:cNvPr id="5" name="Slide Number Placeholder 4"/>
          <p:cNvSpPr>
            <a:spLocks noGrp="1"/>
          </p:cNvSpPr>
          <p:nvPr>
            <p:ph type="sldNum" sz="quarter" idx="12"/>
          </p:nvPr>
        </p:nvSpPr>
        <p:spPr/>
        <p:txBody>
          <a:bodyPr/>
          <a:lstStyle/>
          <a:p>
            <a:fld id="{295AAB7A-98F7-42CD-A204-DDD6725CD545}" type="slidenum">
              <a:rPr lang="en-GB" smtClean="0"/>
              <a:t>35</a:t>
            </a:fld>
            <a:endParaRPr lang="en-GB" dirty="0"/>
          </a:p>
        </p:txBody>
      </p:sp>
    </p:spTree>
    <p:extLst>
      <p:ext uri="{BB962C8B-B14F-4D97-AF65-F5344CB8AC3E}">
        <p14:creationId xmlns:p14="http://schemas.microsoft.com/office/powerpoint/2010/main" val="34837969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4642"/>
            <a:ext cx="10515600" cy="1325563"/>
          </a:xfrm>
        </p:spPr>
        <p:txBody>
          <a:bodyPr>
            <a:normAutofit fontScale="90000"/>
          </a:bodyPr>
          <a:lstStyle/>
          <a:p>
            <a:r>
              <a:rPr lang="en-GB" dirty="0"/>
              <a:t/>
            </a:r>
            <a:br>
              <a:rPr lang="en-GB" dirty="0"/>
            </a:br>
            <a:r>
              <a:rPr lang="en-GB" dirty="0" smtClean="0"/>
              <a:t>Different types of research study</a:t>
            </a:r>
            <a:endParaRPr lang="en-GB" dirty="0"/>
          </a:p>
        </p:txBody>
      </p:sp>
      <p:sp>
        <p:nvSpPr>
          <p:cNvPr id="3" name="Content Placeholder 2"/>
          <p:cNvSpPr>
            <a:spLocks noGrp="1"/>
          </p:cNvSpPr>
          <p:nvPr>
            <p:ph idx="1"/>
          </p:nvPr>
        </p:nvSpPr>
        <p:spPr>
          <a:xfrm>
            <a:off x="1981200" y="1600205"/>
            <a:ext cx="8229600" cy="4744035"/>
          </a:xfrm>
        </p:spPr>
        <p:txBody>
          <a:bodyPr/>
          <a:lstStyle/>
          <a:p>
            <a:endParaRPr lang="en-GB" sz="900" dirty="0"/>
          </a:p>
          <a:p>
            <a:pPr marL="0" indent="0">
              <a:buNone/>
            </a:pPr>
            <a:r>
              <a:rPr lang="en-GB" sz="2400" b="1" dirty="0"/>
              <a:t>Observational studies</a:t>
            </a:r>
            <a:r>
              <a:rPr lang="en-GB" sz="2400" dirty="0"/>
              <a:t> </a:t>
            </a:r>
          </a:p>
          <a:p>
            <a:endParaRPr lang="en-GB" sz="1200" dirty="0"/>
          </a:p>
          <a:p>
            <a:r>
              <a:rPr lang="en-GB" sz="2400" dirty="0"/>
              <a:t>We do </a:t>
            </a:r>
            <a:r>
              <a:rPr lang="en-GB" sz="2400" b="1" dirty="0"/>
              <a:t>not</a:t>
            </a:r>
            <a:r>
              <a:rPr lang="en-GB" sz="2400" dirty="0"/>
              <a:t> directly manipulate the </a:t>
            </a:r>
            <a:r>
              <a:rPr lang="en-GB" sz="2400" b="1" dirty="0" smtClean="0"/>
              <a:t>treatment </a:t>
            </a:r>
            <a:r>
              <a:rPr lang="en-GB" sz="2400" b="1" dirty="0"/>
              <a:t>variable</a:t>
            </a:r>
            <a:endParaRPr lang="en-GB" sz="2400" dirty="0"/>
          </a:p>
          <a:p>
            <a:endParaRPr lang="en-GB" sz="600" i="1" dirty="0"/>
          </a:p>
          <a:p>
            <a:r>
              <a:rPr lang="en-GB" sz="2400" dirty="0" smtClean="0"/>
              <a:t>We </a:t>
            </a:r>
            <a:r>
              <a:rPr lang="en-GB" sz="2400" dirty="0"/>
              <a:t>then </a:t>
            </a:r>
            <a:r>
              <a:rPr lang="en-GB" sz="2400" i="1" dirty="0"/>
              <a:t>observe</a:t>
            </a:r>
            <a:r>
              <a:rPr lang="en-GB" sz="2400" dirty="0"/>
              <a:t> the outcome in people who have been </a:t>
            </a:r>
            <a:r>
              <a:rPr lang="en-GB" sz="2400" dirty="0" smtClean="0"/>
              <a:t>treated, </a:t>
            </a:r>
            <a:r>
              <a:rPr lang="en-GB" sz="2400" dirty="0"/>
              <a:t>and compare to people who have not been </a:t>
            </a:r>
            <a:r>
              <a:rPr lang="en-GB" sz="2400" dirty="0" smtClean="0"/>
              <a:t>treated.</a:t>
            </a:r>
            <a:endParaRPr lang="en-GB" sz="2400" dirty="0"/>
          </a:p>
          <a:p>
            <a:endParaRPr lang="en-GB" sz="2400" dirty="0"/>
          </a:p>
          <a:p>
            <a:endParaRPr lang="en-GB" sz="2400" dirty="0"/>
          </a:p>
          <a:p>
            <a:endParaRPr lang="en-GB" sz="2400" dirty="0"/>
          </a:p>
        </p:txBody>
      </p:sp>
      <p:sp>
        <p:nvSpPr>
          <p:cNvPr id="5" name="Slide Number Placeholder 4"/>
          <p:cNvSpPr>
            <a:spLocks noGrp="1"/>
          </p:cNvSpPr>
          <p:nvPr>
            <p:ph type="sldNum" sz="quarter" idx="12"/>
          </p:nvPr>
        </p:nvSpPr>
        <p:spPr/>
        <p:txBody>
          <a:bodyPr/>
          <a:lstStyle/>
          <a:p>
            <a:fld id="{295AAB7A-98F7-42CD-A204-DDD6725CD545}" type="slidenum">
              <a:rPr lang="en-GB" smtClean="0"/>
              <a:t>36</a:t>
            </a:fld>
            <a:endParaRPr lang="en-GB" dirty="0"/>
          </a:p>
        </p:txBody>
      </p:sp>
    </p:spTree>
    <p:extLst>
      <p:ext uri="{BB962C8B-B14F-4D97-AF65-F5344CB8AC3E}">
        <p14:creationId xmlns:p14="http://schemas.microsoft.com/office/powerpoint/2010/main" val="20412566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How is treatment allocated?</a:t>
            </a:r>
            <a:endParaRPr lang="en-GB" dirty="0"/>
          </a:p>
        </p:txBody>
      </p:sp>
      <p:sp>
        <p:nvSpPr>
          <p:cNvPr id="3" name="TextBox 2"/>
          <p:cNvSpPr txBox="1"/>
          <p:nvPr/>
        </p:nvSpPr>
        <p:spPr>
          <a:xfrm>
            <a:off x="609600" y="1737360"/>
            <a:ext cx="11330354" cy="2862322"/>
          </a:xfrm>
          <a:prstGeom prst="rect">
            <a:avLst/>
          </a:prstGeom>
          <a:noFill/>
        </p:spPr>
        <p:txBody>
          <a:bodyPr wrap="square" rtlCol="0">
            <a:spAutoFit/>
          </a:bodyPr>
          <a:lstStyle/>
          <a:p>
            <a:pPr marL="285750" indent="-285750">
              <a:buFont typeface="Arial" panose="020B0604020202020204" pitchFamily="34" charset="0"/>
              <a:buChar char="•"/>
            </a:pPr>
            <a:r>
              <a:rPr lang="en-GB" dirty="0" smtClean="0"/>
              <a:t>How do we determine who ends up in the treatment or control groups?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smtClean="0"/>
          </a:p>
          <a:p>
            <a:r>
              <a:rPr lang="en-GB" dirty="0" smtClean="0"/>
              <a:t>In </a:t>
            </a:r>
            <a:r>
              <a:rPr lang="en-GB" b="1" dirty="0" smtClean="0"/>
              <a:t>experimental studies, </a:t>
            </a:r>
            <a:r>
              <a:rPr lang="en-GB" dirty="0" smtClean="0"/>
              <a:t>we have direct control over who enters the treatment and control groups. </a:t>
            </a:r>
          </a:p>
          <a:p>
            <a:r>
              <a:rPr lang="en-GB" dirty="0" smtClean="0"/>
              <a:t>    </a:t>
            </a:r>
          </a:p>
          <a:p>
            <a:endParaRPr lang="en-GB" dirty="0" smtClean="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smtClean="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
        <p:nvSpPr>
          <p:cNvPr id="5" name="TextBox 4"/>
          <p:cNvSpPr txBox="1"/>
          <p:nvPr/>
        </p:nvSpPr>
        <p:spPr>
          <a:xfrm>
            <a:off x="5996354" y="3341077"/>
            <a:ext cx="6049108" cy="2585323"/>
          </a:xfrm>
          <a:prstGeom prst="rect">
            <a:avLst/>
          </a:prstGeom>
          <a:noFill/>
        </p:spPr>
        <p:txBody>
          <a:bodyPr wrap="square" rtlCol="0">
            <a:spAutoFit/>
          </a:bodyPr>
          <a:lstStyle/>
          <a:p>
            <a:pPr marL="285750" indent="-285750">
              <a:buFont typeface="Arial" panose="020B0604020202020204" pitchFamily="34" charset="0"/>
              <a:buChar char="•"/>
            </a:pPr>
            <a:r>
              <a:rPr lang="en-GB" dirty="0" smtClean="0"/>
              <a:t>A randomised controlled trial (RCT) is an example of an experimental study.</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smtClean="0"/>
              <a:t>Participants were randomly allocated to IVF with (treatment group) or without (control group) endometrial scratch.</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smtClean="0"/>
          </a:p>
          <a:p>
            <a:pPr marL="285750" indent="-285750">
              <a:buFont typeface="Arial" panose="020B0604020202020204" pitchFamily="34" charset="0"/>
              <a:buChar char="•"/>
            </a:pPr>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4092" y="3080431"/>
            <a:ext cx="4363472" cy="3133376"/>
          </a:xfrm>
          <a:prstGeom prst="rect">
            <a:avLst/>
          </a:prstGeom>
        </p:spPr>
      </p:pic>
    </p:spTree>
    <p:extLst>
      <p:ext uri="{BB962C8B-B14F-4D97-AF65-F5344CB8AC3E}">
        <p14:creationId xmlns:p14="http://schemas.microsoft.com/office/powerpoint/2010/main" val="365882284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How is treatment allocated?</a:t>
            </a:r>
            <a:endParaRPr lang="en-GB" dirty="0"/>
          </a:p>
        </p:txBody>
      </p:sp>
      <p:sp>
        <p:nvSpPr>
          <p:cNvPr id="3" name="TextBox 2"/>
          <p:cNvSpPr txBox="1"/>
          <p:nvPr/>
        </p:nvSpPr>
        <p:spPr>
          <a:xfrm>
            <a:off x="628073" y="1771416"/>
            <a:ext cx="11330354" cy="3139321"/>
          </a:xfrm>
          <a:prstGeom prst="rect">
            <a:avLst/>
          </a:prstGeom>
          <a:noFill/>
        </p:spPr>
        <p:txBody>
          <a:bodyPr wrap="square" rtlCol="0">
            <a:spAutoFit/>
          </a:bodyPr>
          <a:lstStyle/>
          <a:p>
            <a:pPr marL="285750" indent="-285750">
              <a:buFont typeface="Arial" panose="020B0604020202020204" pitchFamily="34" charset="0"/>
              <a:buChar char="•"/>
            </a:pPr>
            <a:r>
              <a:rPr lang="en-GB" dirty="0" smtClean="0"/>
              <a:t>How do we determine who ends up in the treatment or control groups?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smtClean="0"/>
          </a:p>
          <a:p>
            <a:r>
              <a:rPr lang="en-GB" dirty="0" smtClean="0"/>
              <a:t>In </a:t>
            </a:r>
            <a:r>
              <a:rPr lang="en-GB" b="1" dirty="0" smtClean="0"/>
              <a:t>observational studies</a:t>
            </a:r>
            <a:r>
              <a:rPr lang="en-GB" dirty="0" smtClean="0"/>
              <a:t>, we do not have direct control over this – we just observe the outcome in people who have been given the intervention, and compare to people who have not.</a:t>
            </a:r>
          </a:p>
          <a:p>
            <a:r>
              <a:rPr lang="en-GB" dirty="0" smtClean="0"/>
              <a:t>    </a:t>
            </a:r>
          </a:p>
          <a:p>
            <a:endParaRPr lang="en-GB" dirty="0" smtClean="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smtClean="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
        <p:nvSpPr>
          <p:cNvPr id="5" name="TextBox 4"/>
          <p:cNvSpPr txBox="1"/>
          <p:nvPr/>
        </p:nvSpPr>
        <p:spPr>
          <a:xfrm>
            <a:off x="6086569" y="3430921"/>
            <a:ext cx="6049108" cy="2308324"/>
          </a:xfrm>
          <a:prstGeom prst="rect">
            <a:avLst/>
          </a:prstGeom>
          <a:noFill/>
        </p:spPr>
        <p:txBody>
          <a:bodyPr wrap="square" rtlCol="0">
            <a:spAutoFit/>
          </a:bodyPr>
          <a:lstStyle/>
          <a:p>
            <a:pPr marL="285750" indent="-285750">
              <a:buFont typeface="Arial" panose="020B0604020202020204" pitchFamily="34" charset="0"/>
              <a:buChar char="•"/>
            </a:pPr>
            <a:r>
              <a:rPr lang="en-GB" dirty="0" smtClean="0"/>
              <a:t>A cohort study is an example of an observational study.</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smtClean="0"/>
              <a:t>It is also an example of a </a:t>
            </a:r>
            <a:r>
              <a:rPr lang="en-GB" b="1" dirty="0" smtClean="0"/>
              <a:t>non-randomised study of an intervention.</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smtClean="0"/>
              <a:t>Changes in clinical practice in the centre: compared outcome of patients prior to and after introduction of HA-rich culture medium.</a:t>
            </a:r>
            <a:endParaRPr lang="en-GB"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8288" y="3307021"/>
            <a:ext cx="5278066" cy="1930128"/>
          </a:xfrm>
          <a:prstGeom prst="rect">
            <a:avLst/>
          </a:prstGeom>
        </p:spPr>
      </p:pic>
    </p:spTree>
    <p:extLst>
      <p:ext uri="{BB962C8B-B14F-4D97-AF65-F5344CB8AC3E}">
        <p14:creationId xmlns:p14="http://schemas.microsoft.com/office/powerpoint/2010/main" val="274357402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Experimental vs observational studies</a:t>
            </a:r>
            <a:endParaRPr lang="en-GB" dirty="0"/>
          </a:p>
        </p:txBody>
      </p:sp>
      <p:sp>
        <p:nvSpPr>
          <p:cNvPr id="3" name="TextBox 2"/>
          <p:cNvSpPr txBox="1"/>
          <p:nvPr/>
        </p:nvSpPr>
        <p:spPr>
          <a:xfrm>
            <a:off x="469127" y="1690688"/>
            <a:ext cx="11092070" cy="3693319"/>
          </a:xfrm>
          <a:prstGeom prst="rect">
            <a:avLst/>
          </a:prstGeom>
          <a:noFill/>
        </p:spPr>
        <p:txBody>
          <a:bodyPr wrap="square" rtlCol="0">
            <a:spAutoFit/>
          </a:bodyPr>
          <a:lstStyle/>
          <a:p>
            <a:pPr marL="285750" indent="-285750">
              <a:buFont typeface="Arial" panose="020B0604020202020204" pitchFamily="34" charset="0"/>
              <a:buChar char="•"/>
            </a:pPr>
            <a:r>
              <a:rPr lang="en-GB" dirty="0" smtClean="0"/>
              <a:t>All RCTs are experimental.</a:t>
            </a:r>
          </a:p>
          <a:p>
            <a:endParaRPr lang="en-GB" dirty="0" smtClean="0"/>
          </a:p>
          <a:p>
            <a:endParaRPr lang="en-GB" dirty="0"/>
          </a:p>
          <a:p>
            <a:pPr marL="285750" indent="-285750">
              <a:buFont typeface="Arial" panose="020B0604020202020204" pitchFamily="34" charset="0"/>
              <a:buChar char="•"/>
            </a:pPr>
            <a:r>
              <a:rPr lang="en-GB" dirty="0" smtClean="0"/>
              <a:t>But not all experimental studies are RCTs! People could allocate treatments in a non-random way (</a:t>
            </a:r>
            <a:r>
              <a:rPr lang="en-GB" b="1" dirty="0" smtClean="0"/>
              <a:t>non-randomised study of an intervention (NRSI)</a:t>
            </a:r>
            <a:r>
              <a:rPr lang="en-GB" dirty="0" smtClean="0"/>
              <a:t>).</a:t>
            </a:r>
          </a:p>
          <a:p>
            <a:endParaRPr lang="en-GB" dirty="0" smtClean="0"/>
          </a:p>
          <a:p>
            <a:endParaRPr lang="en-GB" dirty="0"/>
          </a:p>
          <a:p>
            <a:pPr marL="285750" indent="-285750">
              <a:buFont typeface="Arial" panose="020B0604020202020204" pitchFamily="34" charset="0"/>
              <a:buChar char="•"/>
            </a:pPr>
            <a:r>
              <a:rPr lang="en-GB" dirty="0" smtClean="0"/>
              <a:t>The distinction we are really interested in in this course is between RCTs and NRSI</a:t>
            </a:r>
            <a:r>
              <a:rPr lang="en-GB" b="1" dirty="0" smtClean="0"/>
              <a:t>.</a:t>
            </a:r>
          </a:p>
          <a:p>
            <a:endParaRPr lang="en-GB" b="1" dirty="0"/>
          </a:p>
          <a:p>
            <a:pPr marL="285750" indent="-285750">
              <a:buFont typeface="Arial" panose="020B0604020202020204" pitchFamily="34" charset="0"/>
              <a:buChar char="•"/>
            </a:pPr>
            <a:r>
              <a:rPr lang="en-GB" dirty="0" smtClean="0"/>
              <a:t>NRSI may be observational or experimental.</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smtClean="0"/>
              <a:t>Note: </a:t>
            </a:r>
            <a:r>
              <a:rPr lang="en-GB" dirty="0" smtClean="0"/>
              <a:t>there are lots of different study designs which could be called ‘observational’, but which have nothing to do with testing interventions (e.g. </a:t>
            </a:r>
            <a:r>
              <a:rPr lang="en-GB" b="1" dirty="0" smtClean="0"/>
              <a:t>developing</a:t>
            </a:r>
            <a:r>
              <a:rPr lang="en-GB" dirty="0" smtClean="0"/>
              <a:t> a clinical prediction model using electronic health records).</a:t>
            </a:r>
            <a:endParaRPr lang="en-GB" dirty="0"/>
          </a:p>
        </p:txBody>
      </p:sp>
    </p:spTree>
    <p:extLst>
      <p:ext uri="{BB962C8B-B14F-4D97-AF65-F5344CB8AC3E}">
        <p14:creationId xmlns:p14="http://schemas.microsoft.com/office/powerpoint/2010/main" val="366179176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034472" y="1062120"/>
            <a:ext cx="10344727" cy="8774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 name="Group 7"/>
          <p:cNvGrpSpPr/>
          <p:nvPr/>
        </p:nvGrpSpPr>
        <p:grpSpPr>
          <a:xfrm>
            <a:off x="1265382" y="1542473"/>
            <a:ext cx="9107054" cy="4488872"/>
            <a:chOff x="1265382" y="1542473"/>
            <a:chExt cx="9107054" cy="4488872"/>
          </a:xfrm>
        </p:grpSpPr>
        <p:sp>
          <p:nvSpPr>
            <p:cNvPr id="3" name="Rectangle 2"/>
            <p:cNvSpPr/>
            <p:nvPr/>
          </p:nvSpPr>
          <p:spPr>
            <a:xfrm>
              <a:off x="1265382" y="1542473"/>
              <a:ext cx="4553527" cy="4488872"/>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p:cNvSpPr/>
            <p:nvPr/>
          </p:nvSpPr>
          <p:spPr>
            <a:xfrm>
              <a:off x="5818909" y="1542473"/>
              <a:ext cx="4553527" cy="4488872"/>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p:cNvSpPr txBox="1"/>
            <p:nvPr/>
          </p:nvSpPr>
          <p:spPr>
            <a:xfrm>
              <a:off x="2235200" y="1754909"/>
              <a:ext cx="3583709" cy="369332"/>
            </a:xfrm>
            <a:prstGeom prst="rect">
              <a:avLst/>
            </a:prstGeom>
            <a:noFill/>
          </p:spPr>
          <p:txBody>
            <a:bodyPr wrap="square" rtlCol="0">
              <a:spAutoFit/>
            </a:bodyPr>
            <a:lstStyle/>
            <a:p>
              <a:r>
                <a:rPr lang="en-GB" dirty="0" smtClean="0"/>
                <a:t>Experimental studies</a:t>
              </a:r>
              <a:endParaRPr lang="en-GB" dirty="0"/>
            </a:p>
          </p:txBody>
        </p:sp>
        <p:sp>
          <p:nvSpPr>
            <p:cNvPr id="6" name="TextBox 5"/>
            <p:cNvSpPr txBox="1"/>
            <p:nvPr/>
          </p:nvSpPr>
          <p:spPr>
            <a:xfrm>
              <a:off x="6862618" y="1690254"/>
              <a:ext cx="3269673" cy="369332"/>
            </a:xfrm>
            <a:prstGeom prst="rect">
              <a:avLst/>
            </a:prstGeom>
            <a:noFill/>
          </p:spPr>
          <p:txBody>
            <a:bodyPr wrap="square" rtlCol="0">
              <a:spAutoFit/>
            </a:bodyPr>
            <a:lstStyle/>
            <a:p>
              <a:r>
                <a:rPr lang="en-GB" dirty="0" smtClean="0"/>
                <a:t>Observational studies</a:t>
              </a:r>
              <a:endParaRPr lang="en-GB" dirty="0"/>
            </a:p>
          </p:txBody>
        </p:sp>
      </p:grpSp>
      <p:sp>
        <p:nvSpPr>
          <p:cNvPr id="9" name="Oval 8"/>
          <p:cNvSpPr/>
          <p:nvPr/>
        </p:nvSpPr>
        <p:spPr>
          <a:xfrm>
            <a:off x="1856510" y="2512260"/>
            <a:ext cx="1782619" cy="1191490"/>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p:cNvSpPr txBox="1"/>
          <p:nvPr/>
        </p:nvSpPr>
        <p:spPr>
          <a:xfrm>
            <a:off x="2447639" y="2909516"/>
            <a:ext cx="1422400" cy="369332"/>
          </a:xfrm>
          <a:prstGeom prst="rect">
            <a:avLst/>
          </a:prstGeom>
          <a:noFill/>
        </p:spPr>
        <p:txBody>
          <a:bodyPr wrap="square" rtlCol="0">
            <a:spAutoFit/>
          </a:bodyPr>
          <a:lstStyle/>
          <a:p>
            <a:r>
              <a:rPr lang="en-GB" dirty="0" smtClean="0"/>
              <a:t>RCTs</a:t>
            </a:r>
            <a:endParaRPr lang="en-GB" dirty="0"/>
          </a:p>
        </p:txBody>
      </p:sp>
      <p:sp>
        <p:nvSpPr>
          <p:cNvPr id="12" name="Oval 11"/>
          <p:cNvSpPr/>
          <p:nvPr/>
        </p:nvSpPr>
        <p:spPr>
          <a:xfrm>
            <a:off x="3357417" y="3874745"/>
            <a:ext cx="4738255" cy="803502"/>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p:cNvSpPr txBox="1"/>
          <p:nvPr/>
        </p:nvSpPr>
        <p:spPr>
          <a:xfrm>
            <a:off x="3870039" y="4064123"/>
            <a:ext cx="4165600" cy="369332"/>
          </a:xfrm>
          <a:prstGeom prst="rect">
            <a:avLst/>
          </a:prstGeom>
          <a:noFill/>
        </p:spPr>
        <p:txBody>
          <a:bodyPr wrap="square" rtlCol="0">
            <a:spAutoFit/>
          </a:bodyPr>
          <a:lstStyle/>
          <a:p>
            <a:r>
              <a:rPr lang="en-GB" dirty="0" smtClean="0"/>
              <a:t>Non-Randomised </a:t>
            </a:r>
            <a:r>
              <a:rPr lang="en-GB" dirty="0"/>
              <a:t>S</a:t>
            </a:r>
            <a:r>
              <a:rPr lang="en-GB" dirty="0" smtClean="0"/>
              <a:t>tudies of Interventions</a:t>
            </a:r>
            <a:endParaRPr lang="en-GB" dirty="0"/>
          </a:p>
        </p:txBody>
      </p:sp>
      <p:sp>
        <p:nvSpPr>
          <p:cNvPr id="13" name="TextBox 12"/>
          <p:cNvSpPr txBox="1"/>
          <p:nvPr/>
        </p:nvSpPr>
        <p:spPr>
          <a:xfrm>
            <a:off x="1948872" y="397104"/>
            <a:ext cx="10150764" cy="369332"/>
          </a:xfrm>
          <a:prstGeom prst="rect">
            <a:avLst/>
          </a:prstGeom>
          <a:noFill/>
        </p:spPr>
        <p:txBody>
          <a:bodyPr wrap="square" rtlCol="0">
            <a:spAutoFit/>
          </a:bodyPr>
          <a:lstStyle/>
          <a:p>
            <a:r>
              <a:rPr lang="en-GB" b="1" dirty="0" smtClean="0"/>
              <a:t>RCTs are experimental studies, NRSI may be experimental or observational</a:t>
            </a:r>
            <a:endParaRPr lang="en-GB" b="1" dirty="0"/>
          </a:p>
        </p:txBody>
      </p:sp>
    </p:spTree>
    <p:extLst>
      <p:ext uri="{BB962C8B-B14F-4D97-AF65-F5344CB8AC3E}">
        <p14:creationId xmlns:p14="http://schemas.microsoft.com/office/powerpoint/2010/main" val="93576172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9661" y="159551"/>
            <a:ext cx="10515600" cy="1325563"/>
          </a:xfrm>
        </p:spPr>
        <p:txBody>
          <a:bodyPr>
            <a:normAutofit fontScale="90000"/>
          </a:bodyPr>
          <a:lstStyle/>
          <a:p>
            <a:r>
              <a:rPr lang="en-GB" dirty="0"/>
              <a:t/>
            </a:r>
            <a:br>
              <a:rPr lang="en-GB" dirty="0"/>
            </a:br>
            <a:r>
              <a:rPr lang="en-GB" dirty="0"/>
              <a:t>What </a:t>
            </a:r>
            <a:r>
              <a:rPr lang="en-GB" dirty="0" smtClean="0"/>
              <a:t>is Bias?</a:t>
            </a:r>
            <a:endParaRPr lang="en-GB" dirty="0"/>
          </a:p>
        </p:txBody>
      </p:sp>
      <p:sp>
        <p:nvSpPr>
          <p:cNvPr id="3" name="Content Placeholder 2"/>
          <p:cNvSpPr>
            <a:spLocks noGrp="1"/>
          </p:cNvSpPr>
          <p:nvPr>
            <p:ph idx="1"/>
          </p:nvPr>
        </p:nvSpPr>
        <p:spPr>
          <a:xfrm>
            <a:off x="1096425" y="1552497"/>
            <a:ext cx="8524568" cy="4525963"/>
          </a:xfrm>
        </p:spPr>
        <p:txBody>
          <a:bodyPr/>
          <a:lstStyle/>
          <a:p>
            <a:pPr marL="0" indent="0">
              <a:buNone/>
            </a:pPr>
            <a:endParaRPr lang="en-GB" sz="1200" dirty="0"/>
          </a:p>
          <a:p>
            <a:r>
              <a:rPr lang="en-GB" sz="2200" dirty="0"/>
              <a:t>In medical research, </a:t>
            </a:r>
            <a:r>
              <a:rPr lang="en-GB" sz="2200" b="1" dirty="0"/>
              <a:t>bias </a:t>
            </a:r>
            <a:r>
              <a:rPr lang="en-GB" sz="2200" dirty="0"/>
              <a:t>occurs when some factor systematically corrupts the result of a study – it makes us get the wrong answer</a:t>
            </a:r>
            <a:r>
              <a:rPr lang="en-GB" sz="2200" dirty="0" smtClean="0"/>
              <a:t>.</a:t>
            </a:r>
          </a:p>
          <a:p>
            <a:endParaRPr lang="en-GB" sz="2200" dirty="0"/>
          </a:p>
          <a:p>
            <a:r>
              <a:rPr lang="en-GB" sz="2200" dirty="0" smtClean="0"/>
              <a:t>If there is bias: if we were to repeat the study many times over, our results would be too large or too small (or even in the wrong direction) compared to the truth (which we never know).</a:t>
            </a:r>
            <a:endParaRPr lang="en-GB" sz="2200" dirty="0"/>
          </a:p>
          <a:p>
            <a:endParaRPr lang="en-GB" sz="1200" dirty="0"/>
          </a:p>
          <a:p>
            <a:r>
              <a:rPr lang="en-GB" sz="2200" dirty="0" smtClean="0"/>
              <a:t>Bias can be introduced in two ways:</a:t>
            </a:r>
            <a:endParaRPr lang="en-GB" sz="2200" dirty="0"/>
          </a:p>
          <a:p>
            <a:pPr lvl="1"/>
            <a:r>
              <a:rPr lang="en-GB" sz="2200" dirty="0" smtClean="0"/>
              <a:t>Due </a:t>
            </a:r>
            <a:r>
              <a:rPr lang="en-GB" sz="2200" dirty="0"/>
              <a:t>to the </a:t>
            </a:r>
            <a:r>
              <a:rPr lang="en-GB" sz="2200" b="1" dirty="0"/>
              <a:t>design</a:t>
            </a:r>
            <a:r>
              <a:rPr lang="en-GB" sz="2200" dirty="0"/>
              <a:t> of the study.</a:t>
            </a:r>
            <a:r>
              <a:rPr lang="en-GB" sz="2200" b="1" dirty="0"/>
              <a:t> </a:t>
            </a:r>
          </a:p>
          <a:p>
            <a:pPr lvl="1"/>
            <a:r>
              <a:rPr lang="en-GB" sz="2200" dirty="0" smtClean="0"/>
              <a:t>Related </a:t>
            </a:r>
            <a:r>
              <a:rPr lang="en-GB" sz="2200" dirty="0"/>
              <a:t>to properties of the </a:t>
            </a:r>
            <a:r>
              <a:rPr lang="en-GB" sz="2200" dirty="0" smtClean="0"/>
              <a:t>method you use to </a:t>
            </a:r>
            <a:r>
              <a:rPr lang="en-GB" sz="2200" b="1" dirty="0" smtClean="0"/>
              <a:t>analyse</a:t>
            </a:r>
            <a:r>
              <a:rPr lang="en-GB" sz="2200" dirty="0" smtClean="0"/>
              <a:t> the data.  </a:t>
            </a:r>
            <a:endParaRPr lang="en-GB" sz="1200" b="1" dirty="0"/>
          </a:p>
          <a:p>
            <a:pPr marL="0" indent="0">
              <a:buNone/>
            </a:pPr>
            <a:endParaRPr lang="en-GB" b="1" dirty="0" smtClean="0"/>
          </a:p>
          <a:p>
            <a:pPr marL="0" indent="0">
              <a:buNone/>
            </a:pPr>
            <a:endParaRPr lang="en-GB" b="1" dirty="0"/>
          </a:p>
          <a:p>
            <a:pPr marL="0" indent="0">
              <a:buNone/>
            </a:pPr>
            <a:endParaRPr lang="en-GB" b="1" dirty="0"/>
          </a:p>
        </p:txBody>
      </p:sp>
      <p:sp>
        <p:nvSpPr>
          <p:cNvPr id="5" name="Slide Number Placeholder 4"/>
          <p:cNvSpPr>
            <a:spLocks noGrp="1"/>
          </p:cNvSpPr>
          <p:nvPr>
            <p:ph type="sldNum" sz="quarter" idx="12"/>
          </p:nvPr>
        </p:nvSpPr>
        <p:spPr/>
        <p:txBody>
          <a:bodyPr/>
          <a:lstStyle/>
          <a:p>
            <a:fld id="{295AAB7A-98F7-42CD-A204-DDD6725CD545}" type="slidenum">
              <a:rPr lang="en-GB" smtClean="0"/>
              <a:t>41</a:t>
            </a:fld>
            <a:endParaRPr lang="en-GB"/>
          </a:p>
        </p:txBody>
      </p:sp>
    </p:spTree>
    <p:extLst>
      <p:ext uri="{BB962C8B-B14F-4D97-AF65-F5344CB8AC3E}">
        <p14:creationId xmlns:p14="http://schemas.microsoft.com/office/powerpoint/2010/main" val="41935536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is Bias?</a:t>
            </a:r>
            <a:endParaRPr lang="en-GB" dirty="0"/>
          </a:p>
        </p:txBody>
      </p:sp>
      <p:sp>
        <p:nvSpPr>
          <p:cNvPr id="3" name="Content Placeholder 2"/>
          <p:cNvSpPr>
            <a:spLocks noGrp="1"/>
          </p:cNvSpPr>
          <p:nvPr>
            <p:ph idx="1"/>
          </p:nvPr>
        </p:nvSpPr>
        <p:spPr>
          <a:xfrm>
            <a:off x="1722105" y="1911928"/>
            <a:ext cx="8178353" cy="4333586"/>
          </a:xfrm>
        </p:spPr>
        <p:txBody>
          <a:bodyPr>
            <a:normAutofit fontScale="92500" lnSpcReduction="10000"/>
          </a:bodyPr>
          <a:lstStyle/>
          <a:p>
            <a:r>
              <a:rPr lang="en-GB" sz="2400" dirty="0"/>
              <a:t>Bias, particularly </a:t>
            </a:r>
            <a:r>
              <a:rPr lang="en-GB" sz="2400" dirty="0" smtClean="0"/>
              <a:t>relating to </a:t>
            </a:r>
            <a:r>
              <a:rPr lang="en-GB" sz="2400" b="1" dirty="0" smtClean="0"/>
              <a:t>design</a:t>
            </a:r>
            <a:r>
              <a:rPr lang="en-GB" sz="2400" dirty="0" smtClean="0"/>
              <a:t>, is </a:t>
            </a:r>
            <a:r>
              <a:rPr lang="en-GB" sz="2400" dirty="0"/>
              <a:t>a major concern in medical research.</a:t>
            </a:r>
          </a:p>
          <a:p>
            <a:endParaRPr lang="en-GB" sz="1200" dirty="0"/>
          </a:p>
          <a:p>
            <a:r>
              <a:rPr lang="en-GB" sz="2400" dirty="0"/>
              <a:t>It may occur in many different ways.</a:t>
            </a:r>
          </a:p>
          <a:p>
            <a:endParaRPr lang="en-GB" sz="1200" dirty="0"/>
          </a:p>
          <a:p>
            <a:r>
              <a:rPr lang="en-GB" sz="2400" dirty="0"/>
              <a:t>I</a:t>
            </a:r>
            <a:r>
              <a:rPr lang="en-GB" sz="2400" dirty="0" smtClean="0"/>
              <a:t>t </a:t>
            </a:r>
            <a:r>
              <a:rPr lang="en-GB" sz="2400" dirty="0"/>
              <a:t>is a greater problem in </a:t>
            </a:r>
            <a:r>
              <a:rPr lang="en-GB" sz="2400" dirty="0" smtClean="0"/>
              <a:t>non-randomised studies than RCTs.</a:t>
            </a:r>
            <a:endParaRPr lang="en-GB" sz="2400" dirty="0"/>
          </a:p>
          <a:p>
            <a:endParaRPr lang="en-GB" sz="1200" b="1" dirty="0"/>
          </a:p>
          <a:p>
            <a:r>
              <a:rPr lang="en-GB" sz="2400" dirty="0"/>
              <a:t>Next week, we will learn about different kinds of bias </a:t>
            </a:r>
            <a:r>
              <a:rPr lang="en-GB" sz="2400" dirty="0" smtClean="0"/>
              <a:t>in RCTs, </a:t>
            </a:r>
            <a:r>
              <a:rPr lang="en-GB" sz="2400" dirty="0"/>
              <a:t>and how to prevent these</a:t>
            </a:r>
          </a:p>
          <a:p>
            <a:endParaRPr lang="en-GB" sz="1200" dirty="0"/>
          </a:p>
          <a:p>
            <a:r>
              <a:rPr lang="en-GB" sz="2400" dirty="0"/>
              <a:t>This week we will just consider a particular types of bias, called </a:t>
            </a:r>
            <a:r>
              <a:rPr lang="en-GB" sz="2400" b="1" dirty="0"/>
              <a:t>confounding</a:t>
            </a:r>
            <a:r>
              <a:rPr lang="en-GB" sz="2400" dirty="0"/>
              <a:t> bias.</a:t>
            </a:r>
          </a:p>
          <a:p>
            <a:pPr marL="0" indent="0">
              <a:buNone/>
            </a:pPr>
            <a:endParaRPr lang="en-GB" b="1" dirty="0"/>
          </a:p>
          <a:p>
            <a:pPr marL="0" indent="0">
              <a:buNone/>
            </a:pPr>
            <a:endParaRPr lang="en-GB" b="1" dirty="0"/>
          </a:p>
        </p:txBody>
      </p:sp>
      <p:sp>
        <p:nvSpPr>
          <p:cNvPr id="5" name="Slide Number Placeholder 4"/>
          <p:cNvSpPr>
            <a:spLocks noGrp="1"/>
          </p:cNvSpPr>
          <p:nvPr>
            <p:ph type="sldNum" sz="quarter" idx="12"/>
          </p:nvPr>
        </p:nvSpPr>
        <p:spPr/>
        <p:txBody>
          <a:bodyPr/>
          <a:lstStyle/>
          <a:p>
            <a:fld id="{295AAB7A-98F7-42CD-A204-DDD6725CD545}" type="slidenum">
              <a:rPr lang="en-GB" smtClean="0"/>
              <a:t>42</a:t>
            </a:fld>
            <a:endParaRPr lang="en-GB"/>
          </a:p>
        </p:txBody>
      </p:sp>
    </p:spTree>
    <p:extLst>
      <p:ext uri="{BB962C8B-B14F-4D97-AF65-F5344CB8AC3E}">
        <p14:creationId xmlns:p14="http://schemas.microsoft.com/office/powerpoint/2010/main" val="17475276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Why do we prefer random allocation?</a:t>
            </a:r>
            <a:endParaRPr lang="en-GB" dirty="0"/>
          </a:p>
        </p:txBody>
      </p:sp>
      <p:sp>
        <p:nvSpPr>
          <p:cNvPr id="3" name="TextBox 2"/>
          <p:cNvSpPr txBox="1"/>
          <p:nvPr/>
        </p:nvSpPr>
        <p:spPr>
          <a:xfrm>
            <a:off x="518746" y="2001821"/>
            <a:ext cx="11368454" cy="461665"/>
          </a:xfrm>
          <a:prstGeom prst="rect">
            <a:avLst/>
          </a:prstGeom>
          <a:noFill/>
        </p:spPr>
        <p:txBody>
          <a:bodyPr wrap="square" rtlCol="0">
            <a:spAutoFit/>
          </a:bodyPr>
          <a:lstStyle/>
          <a:p>
            <a:pPr marL="285750" indent="-285750">
              <a:buFont typeface="Arial" panose="020B0604020202020204" pitchFamily="34" charset="0"/>
              <a:buChar char="•"/>
            </a:pPr>
            <a:r>
              <a:rPr lang="en-GB" sz="2400" dirty="0" smtClean="0"/>
              <a:t>Main reason: non-randomised studies are subject to </a:t>
            </a:r>
            <a:r>
              <a:rPr lang="en-GB" sz="2400" b="1" dirty="0" smtClean="0"/>
              <a:t>confounding</a:t>
            </a:r>
            <a:r>
              <a:rPr lang="en-GB" sz="2400" dirty="0" smtClean="0"/>
              <a:t>.</a:t>
            </a:r>
            <a:endParaRPr lang="en-GB" sz="2400" dirty="0"/>
          </a:p>
        </p:txBody>
      </p:sp>
      <p:sp>
        <p:nvSpPr>
          <p:cNvPr id="4" name="TextBox 3"/>
          <p:cNvSpPr txBox="1"/>
          <p:nvPr/>
        </p:nvSpPr>
        <p:spPr>
          <a:xfrm>
            <a:off x="518746" y="2514600"/>
            <a:ext cx="8440616" cy="461665"/>
          </a:xfrm>
          <a:prstGeom prst="rect">
            <a:avLst/>
          </a:prstGeom>
          <a:noFill/>
        </p:spPr>
        <p:txBody>
          <a:bodyPr wrap="square" rtlCol="0">
            <a:spAutoFit/>
          </a:bodyPr>
          <a:lstStyle/>
          <a:p>
            <a:r>
              <a:rPr lang="en-GB" sz="2400" dirty="0" smtClean="0">
                <a:latin typeface="+mj-lt"/>
              </a:rPr>
              <a:t>Example: coffee causes cancer</a:t>
            </a:r>
            <a:endParaRPr lang="en-GB" sz="2400" dirty="0">
              <a:latin typeface="+mj-lt"/>
            </a:endParaRPr>
          </a:p>
        </p:txBody>
      </p:sp>
      <p:grpSp>
        <p:nvGrpSpPr>
          <p:cNvPr id="5" name="Group 4"/>
          <p:cNvGrpSpPr/>
          <p:nvPr/>
        </p:nvGrpSpPr>
        <p:grpSpPr>
          <a:xfrm>
            <a:off x="1876520" y="3209192"/>
            <a:ext cx="8041203" cy="2885428"/>
            <a:chOff x="126851" y="1772816"/>
            <a:chExt cx="8853055" cy="3688758"/>
          </a:xfrm>
        </p:grpSpPr>
        <p:sp>
          <p:nvSpPr>
            <p:cNvPr id="6" name="TextBox 5"/>
            <p:cNvSpPr txBox="1"/>
            <p:nvPr/>
          </p:nvSpPr>
          <p:spPr>
            <a:xfrm>
              <a:off x="126851" y="1772816"/>
              <a:ext cx="8853055" cy="1569660"/>
            </a:xfrm>
            <a:prstGeom prst="rect">
              <a:avLst/>
            </a:prstGeom>
            <a:noFill/>
          </p:spPr>
          <p:txBody>
            <a:bodyPr wrap="square" rtlCol="0">
              <a:spAutoFit/>
            </a:bodyPr>
            <a:lstStyle/>
            <a:p>
              <a:pPr marL="342900" indent="-342900" eaLnBrk="0" fontAlgn="base" hangingPunct="0">
                <a:spcBef>
                  <a:spcPct val="0"/>
                </a:spcBef>
                <a:spcAft>
                  <a:spcPct val="0"/>
                </a:spcAft>
                <a:buFont typeface="Arial" panose="020B0604020202020204" pitchFamily="34" charset="0"/>
                <a:buChar char="•"/>
              </a:pPr>
              <a:r>
                <a:rPr lang="en-GB" sz="2400" dirty="0" smtClean="0">
                  <a:solidFill>
                    <a:srgbClr val="000000"/>
                  </a:solidFill>
                </a:rPr>
                <a:t>Suppose an observational study suggests that coffee causes cancer:</a:t>
              </a:r>
            </a:p>
            <a:p>
              <a:pPr marL="342900" indent="-342900" eaLnBrk="0" fontAlgn="base" hangingPunct="0">
                <a:spcBef>
                  <a:spcPct val="0"/>
                </a:spcBef>
                <a:spcAft>
                  <a:spcPct val="0"/>
                </a:spcAft>
                <a:buFont typeface="Arial" panose="020B0604020202020204" pitchFamily="34" charset="0"/>
                <a:buChar char="•"/>
              </a:pPr>
              <a:endParaRPr lang="en-GB" sz="2400" dirty="0">
                <a:solidFill>
                  <a:srgbClr val="000000"/>
                </a:solidFill>
              </a:endParaRPr>
            </a:p>
            <a:p>
              <a:pPr marL="342900" indent="-342900" eaLnBrk="0" fontAlgn="base" hangingPunct="0">
                <a:spcBef>
                  <a:spcPct val="0"/>
                </a:spcBef>
                <a:spcAft>
                  <a:spcPct val="0"/>
                </a:spcAft>
                <a:buFont typeface="Arial" panose="020B0604020202020204" pitchFamily="34" charset="0"/>
                <a:buChar char="•"/>
              </a:pPr>
              <a:endParaRPr lang="en-GB" sz="2400" dirty="0">
                <a:solidFill>
                  <a:srgbClr val="000000"/>
                </a:solidFill>
              </a:endParaRPr>
            </a:p>
          </p:txBody>
        </p:sp>
        <p:grpSp>
          <p:nvGrpSpPr>
            <p:cNvPr id="7" name="Group 6"/>
            <p:cNvGrpSpPr/>
            <p:nvPr/>
          </p:nvGrpSpPr>
          <p:grpSpPr>
            <a:xfrm>
              <a:off x="1625600" y="2854702"/>
              <a:ext cx="5648960" cy="1696720"/>
              <a:chOff x="1625600" y="3952240"/>
              <a:chExt cx="5648960" cy="1696720"/>
            </a:xfrm>
          </p:grpSpPr>
          <p:sp>
            <p:nvSpPr>
              <p:cNvPr id="9" name="Oval 8"/>
              <p:cNvSpPr/>
              <p:nvPr/>
            </p:nvSpPr>
            <p:spPr bwMode="auto">
              <a:xfrm>
                <a:off x="1625600" y="4003040"/>
                <a:ext cx="1762760" cy="1645920"/>
              </a:xfrm>
              <a:prstGeom prst="ellipse">
                <a:avLst/>
              </a:prstGeom>
              <a:noFill/>
              <a:ln w="508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smtClean="0">
                  <a:solidFill>
                    <a:srgbClr val="000000"/>
                  </a:solidFill>
                </a:endParaRPr>
              </a:p>
            </p:txBody>
          </p:sp>
          <p:sp>
            <p:nvSpPr>
              <p:cNvPr id="10" name="Oval 9"/>
              <p:cNvSpPr/>
              <p:nvPr/>
            </p:nvSpPr>
            <p:spPr bwMode="auto">
              <a:xfrm>
                <a:off x="5567680" y="3952240"/>
                <a:ext cx="1706880" cy="1696720"/>
              </a:xfrm>
              <a:prstGeom prst="ellipse">
                <a:avLst/>
              </a:prstGeom>
              <a:noFill/>
              <a:ln w="508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smtClean="0">
                  <a:solidFill>
                    <a:srgbClr val="000000"/>
                  </a:solidFill>
                </a:endParaRPr>
              </a:p>
            </p:txBody>
          </p:sp>
          <p:cxnSp>
            <p:nvCxnSpPr>
              <p:cNvPr id="11" name="Straight Arrow Connector 10"/>
              <p:cNvCxnSpPr>
                <a:stCxn id="9" idx="6"/>
                <a:endCxn id="10" idx="2"/>
              </p:cNvCxnSpPr>
              <p:nvPr/>
            </p:nvCxnSpPr>
            <p:spPr bwMode="auto">
              <a:xfrm flipV="1">
                <a:off x="3388360" y="4800600"/>
                <a:ext cx="2179320" cy="25400"/>
              </a:xfrm>
              <a:prstGeom prst="straightConnector1">
                <a:avLst/>
              </a:prstGeom>
              <a:solidFill>
                <a:schemeClr val="accent1"/>
              </a:solidFill>
              <a:ln w="76200" cap="flat" cmpd="sng" algn="ctr">
                <a:solidFill>
                  <a:schemeClr val="tx1"/>
                </a:solidFill>
                <a:prstDash val="solid"/>
                <a:round/>
                <a:headEnd type="none" w="med" len="med"/>
                <a:tailEnd type="triangle"/>
              </a:ln>
              <a:effectLst/>
            </p:spPr>
          </p:cxnSp>
          <p:sp>
            <p:nvSpPr>
              <p:cNvPr id="12" name="TextBox 11"/>
              <p:cNvSpPr txBox="1"/>
              <p:nvPr/>
            </p:nvSpPr>
            <p:spPr>
              <a:xfrm>
                <a:off x="1667063" y="4367789"/>
                <a:ext cx="1679833" cy="865621"/>
              </a:xfrm>
              <a:prstGeom prst="rect">
                <a:avLst/>
              </a:prstGeom>
              <a:noFill/>
            </p:spPr>
            <p:txBody>
              <a:bodyPr wrap="square" rtlCol="0">
                <a:spAutoFit/>
              </a:bodyPr>
              <a:lstStyle/>
              <a:p>
                <a:pPr algn="ctr" eaLnBrk="0" fontAlgn="base" hangingPunct="0">
                  <a:spcBef>
                    <a:spcPct val="0"/>
                  </a:spcBef>
                  <a:spcAft>
                    <a:spcPct val="0"/>
                  </a:spcAft>
                </a:pPr>
                <a:r>
                  <a:rPr lang="en-GB" sz="1900" dirty="0" smtClean="0">
                    <a:solidFill>
                      <a:srgbClr val="000000"/>
                    </a:solidFill>
                  </a:rPr>
                  <a:t>Coffee</a:t>
                </a:r>
              </a:p>
              <a:p>
                <a:pPr algn="ctr" eaLnBrk="0" fontAlgn="base" hangingPunct="0">
                  <a:spcBef>
                    <a:spcPct val="0"/>
                  </a:spcBef>
                  <a:spcAft>
                    <a:spcPct val="0"/>
                  </a:spcAft>
                </a:pPr>
                <a:r>
                  <a:rPr lang="en-GB" sz="1900" dirty="0" smtClean="0">
                    <a:solidFill>
                      <a:srgbClr val="000000"/>
                    </a:solidFill>
                  </a:rPr>
                  <a:t>Consumption</a:t>
                </a:r>
                <a:endParaRPr lang="en-GB" sz="1900" dirty="0">
                  <a:solidFill>
                    <a:srgbClr val="000000"/>
                  </a:solidFill>
                </a:endParaRPr>
              </a:p>
            </p:txBody>
          </p:sp>
          <p:sp>
            <p:nvSpPr>
              <p:cNvPr id="13" name="TextBox 12"/>
              <p:cNvSpPr txBox="1"/>
              <p:nvPr/>
            </p:nvSpPr>
            <p:spPr>
              <a:xfrm>
                <a:off x="5883953" y="4551422"/>
                <a:ext cx="1074333" cy="400110"/>
              </a:xfrm>
              <a:prstGeom prst="rect">
                <a:avLst/>
              </a:prstGeom>
              <a:noFill/>
            </p:spPr>
            <p:txBody>
              <a:bodyPr wrap="none" rtlCol="0">
                <a:spAutoFit/>
              </a:bodyPr>
              <a:lstStyle/>
              <a:p>
                <a:pPr algn="ctr" eaLnBrk="0" fontAlgn="base" hangingPunct="0">
                  <a:spcBef>
                    <a:spcPct val="0"/>
                  </a:spcBef>
                  <a:spcAft>
                    <a:spcPct val="0"/>
                  </a:spcAft>
                </a:pPr>
                <a:r>
                  <a:rPr lang="en-GB" sz="2000" dirty="0" smtClean="0">
                    <a:solidFill>
                      <a:srgbClr val="000000"/>
                    </a:solidFill>
                  </a:rPr>
                  <a:t>Cancer</a:t>
                </a:r>
                <a:endParaRPr lang="en-GB" sz="2000" dirty="0">
                  <a:solidFill>
                    <a:srgbClr val="000000"/>
                  </a:solidFill>
                </a:endParaRPr>
              </a:p>
            </p:txBody>
          </p:sp>
        </p:grpSp>
        <p:sp>
          <p:nvSpPr>
            <p:cNvPr id="8" name="TextBox 7"/>
            <p:cNvSpPr txBox="1"/>
            <p:nvPr/>
          </p:nvSpPr>
          <p:spPr>
            <a:xfrm>
              <a:off x="1978660" y="4876799"/>
              <a:ext cx="2499360" cy="584775"/>
            </a:xfrm>
            <a:prstGeom prst="rect">
              <a:avLst/>
            </a:prstGeom>
            <a:noFill/>
          </p:spPr>
          <p:txBody>
            <a:bodyPr wrap="square" rtlCol="0">
              <a:spAutoFit/>
            </a:bodyPr>
            <a:lstStyle/>
            <a:p>
              <a:pPr algn="ctr" eaLnBrk="0" fontAlgn="base" hangingPunct="0">
                <a:spcBef>
                  <a:spcPct val="0"/>
                </a:spcBef>
                <a:spcAft>
                  <a:spcPct val="0"/>
                </a:spcAft>
              </a:pPr>
              <a:r>
                <a:rPr lang="en-GB" sz="3200" b="1" dirty="0">
                  <a:solidFill>
                    <a:srgbClr val="000000"/>
                  </a:solidFill>
                </a:rPr>
                <a:t>U</a:t>
              </a:r>
              <a:r>
                <a:rPr lang="en-GB" sz="3200" b="1" dirty="0" smtClean="0">
                  <a:solidFill>
                    <a:srgbClr val="000000"/>
                  </a:solidFill>
                </a:rPr>
                <a:t>h oh!</a:t>
              </a:r>
              <a:endParaRPr lang="en-GB" sz="3200" b="1" dirty="0">
                <a:solidFill>
                  <a:srgbClr val="000000"/>
                </a:solidFill>
              </a:endParaRPr>
            </a:p>
          </p:txBody>
        </p:sp>
      </p:grpSp>
    </p:spTree>
    <p:extLst>
      <p:ext uri="{BB962C8B-B14F-4D97-AF65-F5344CB8AC3E}">
        <p14:creationId xmlns:p14="http://schemas.microsoft.com/office/powerpoint/2010/main" val="270372958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Confounding example: coffee causes cancer?</a:t>
            </a:r>
            <a:endParaRPr lang="en-GB" dirty="0"/>
          </a:p>
        </p:txBody>
      </p:sp>
      <p:sp>
        <p:nvSpPr>
          <p:cNvPr id="5" name="TextBox 4"/>
          <p:cNvSpPr txBox="1"/>
          <p:nvPr/>
        </p:nvSpPr>
        <p:spPr>
          <a:xfrm>
            <a:off x="1617519" y="1535777"/>
            <a:ext cx="8853055" cy="707886"/>
          </a:xfrm>
          <a:prstGeom prst="rect">
            <a:avLst/>
          </a:prstGeom>
          <a:noFill/>
        </p:spPr>
        <p:txBody>
          <a:bodyPr wrap="square" rtlCol="0">
            <a:spAutoFit/>
          </a:bodyPr>
          <a:lstStyle/>
          <a:p>
            <a:pPr marL="342900" indent="-342900" eaLnBrk="0" fontAlgn="base" hangingPunct="0">
              <a:spcBef>
                <a:spcPct val="0"/>
              </a:spcBef>
              <a:spcAft>
                <a:spcPct val="0"/>
              </a:spcAft>
              <a:buFont typeface="Arial" panose="020B0604020202020204" pitchFamily="34" charset="0"/>
              <a:buChar char="•"/>
            </a:pPr>
            <a:endParaRPr lang="en-GB" sz="2000" dirty="0">
              <a:solidFill>
                <a:srgbClr val="000000"/>
              </a:solidFill>
            </a:endParaRPr>
          </a:p>
          <a:p>
            <a:pPr marL="342900" indent="-342900" eaLnBrk="0" fontAlgn="base" hangingPunct="0">
              <a:spcBef>
                <a:spcPct val="0"/>
              </a:spcBef>
              <a:spcAft>
                <a:spcPct val="0"/>
              </a:spcAft>
              <a:buFont typeface="Arial" panose="020B0604020202020204" pitchFamily="34" charset="0"/>
              <a:buChar char="•"/>
            </a:pPr>
            <a:endParaRPr lang="en-GB" sz="2000" dirty="0">
              <a:solidFill>
                <a:srgbClr val="000000"/>
              </a:solidFill>
            </a:endParaRPr>
          </a:p>
        </p:txBody>
      </p:sp>
      <p:grpSp>
        <p:nvGrpSpPr>
          <p:cNvPr id="12" name="Group 11"/>
          <p:cNvGrpSpPr/>
          <p:nvPr/>
        </p:nvGrpSpPr>
        <p:grpSpPr>
          <a:xfrm>
            <a:off x="3195435" y="1535778"/>
            <a:ext cx="5697220" cy="3279803"/>
            <a:chOff x="3195435" y="1535778"/>
            <a:chExt cx="5697220" cy="3279803"/>
          </a:xfrm>
        </p:grpSpPr>
        <p:grpSp>
          <p:nvGrpSpPr>
            <p:cNvPr id="15" name="Group 14"/>
            <p:cNvGrpSpPr/>
            <p:nvPr/>
          </p:nvGrpSpPr>
          <p:grpSpPr>
            <a:xfrm>
              <a:off x="3195435" y="3118861"/>
              <a:ext cx="5697220" cy="1696720"/>
              <a:chOff x="1577340" y="3952240"/>
              <a:chExt cx="5697220" cy="1696720"/>
            </a:xfrm>
          </p:grpSpPr>
          <p:sp>
            <p:nvSpPr>
              <p:cNvPr id="6" name="Oval 5"/>
              <p:cNvSpPr/>
              <p:nvPr/>
            </p:nvSpPr>
            <p:spPr bwMode="auto">
              <a:xfrm>
                <a:off x="1625600" y="4003040"/>
                <a:ext cx="1762760" cy="1645920"/>
              </a:xfrm>
              <a:prstGeom prst="ellipse">
                <a:avLst/>
              </a:prstGeom>
              <a:noFill/>
              <a:ln w="508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solidFill>
                    <a:srgbClr val="000000"/>
                  </a:solidFill>
                </a:endParaRPr>
              </a:p>
            </p:txBody>
          </p:sp>
          <p:sp>
            <p:nvSpPr>
              <p:cNvPr id="7" name="Oval 6"/>
              <p:cNvSpPr/>
              <p:nvPr/>
            </p:nvSpPr>
            <p:spPr bwMode="auto">
              <a:xfrm>
                <a:off x="5567680" y="3952240"/>
                <a:ext cx="1706880" cy="1696720"/>
              </a:xfrm>
              <a:prstGeom prst="ellipse">
                <a:avLst/>
              </a:prstGeom>
              <a:noFill/>
              <a:ln w="508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solidFill>
                    <a:srgbClr val="000000"/>
                  </a:solidFill>
                </a:endParaRPr>
              </a:p>
            </p:txBody>
          </p:sp>
          <p:cxnSp>
            <p:nvCxnSpPr>
              <p:cNvPr id="9" name="Straight Arrow Connector 8"/>
              <p:cNvCxnSpPr>
                <a:stCxn id="6" idx="6"/>
                <a:endCxn id="7" idx="2"/>
              </p:cNvCxnSpPr>
              <p:nvPr/>
            </p:nvCxnSpPr>
            <p:spPr bwMode="auto">
              <a:xfrm flipV="1">
                <a:off x="3388360" y="4800600"/>
                <a:ext cx="2179320" cy="25400"/>
              </a:xfrm>
              <a:prstGeom prst="straightConnector1">
                <a:avLst/>
              </a:prstGeom>
              <a:solidFill>
                <a:schemeClr val="accent1"/>
              </a:solidFill>
              <a:ln w="76200" cap="flat" cmpd="sng" algn="ctr">
                <a:solidFill>
                  <a:schemeClr val="tx1"/>
                </a:solidFill>
                <a:prstDash val="solid"/>
                <a:round/>
                <a:headEnd type="none" w="med" len="med"/>
                <a:tailEnd type="triangle"/>
              </a:ln>
              <a:effectLst/>
            </p:spPr>
          </p:cxnSp>
          <p:sp>
            <p:nvSpPr>
              <p:cNvPr id="11" name="TextBox 10"/>
              <p:cNvSpPr txBox="1"/>
              <p:nvPr/>
            </p:nvSpPr>
            <p:spPr>
              <a:xfrm>
                <a:off x="1577340" y="4433372"/>
                <a:ext cx="1859280" cy="677108"/>
              </a:xfrm>
              <a:prstGeom prst="rect">
                <a:avLst/>
              </a:prstGeom>
              <a:noFill/>
            </p:spPr>
            <p:txBody>
              <a:bodyPr wrap="square" rtlCol="0">
                <a:spAutoFit/>
              </a:bodyPr>
              <a:lstStyle/>
              <a:p>
                <a:pPr algn="ctr" eaLnBrk="0" fontAlgn="base" hangingPunct="0">
                  <a:spcBef>
                    <a:spcPct val="0"/>
                  </a:spcBef>
                  <a:spcAft>
                    <a:spcPct val="0"/>
                  </a:spcAft>
                </a:pPr>
                <a:r>
                  <a:rPr lang="en-GB" sz="1900" dirty="0">
                    <a:solidFill>
                      <a:srgbClr val="000000"/>
                    </a:solidFill>
                  </a:rPr>
                  <a:t>Coffee</a:t>
                </a:r>
              </a:p>
              <a:p>
                <a:pPr algn="ctr" eaLnBrk="0" fontAlgn="base" hangingPunct="0">
                  <a:spcBef>
                    <a:spcPct val="0"/>
                  </a:spcBef>
                  <a:spcAft>
                    <a:spcPct val="0"/>
                  </a:spcAft>
                </a:pPr>
                <a:r>
                  <a:rPr lang="en-GB" sz="1900" dirty="0">
                    <a:solidFill>
                      <a:srgbClr val="000000"/>
                    </a:solidFill>
                  </a:rPr>
                  <a:t>Consumption</a:t>
                </a:r>
              </a:p>
            </p:txBody>
          </p:sp>
          <p:sp>
            <p:nvSpPr>
              <p:cNvPr id="14" name="TextBox 13"/>
              <p:cNvSpPr txBox="1"/>
              <p:nvPr/>
            </p:nvSpPr>
            <p:spPr>
              <a:xfrm>
                <a:off x="5915212" y="4551422"/>
                <a:ext cx="1011815" cy="400110"/>
              </a:xfrm>
              <a:prstGeom prst="rect">
                <a:avLst/>
              </a:prstGeom>
              <a:noFill/>
            </p:spPr>
            <p:txBody>
              <a:bodyPr wrap="none" rtlCol="0">
                <a:spAutoFit/>
              </a:bodyPr>
              <a:lstStyle/>
              <a:p>
                <a:pPr algn="ctr" eaLnBrk="0" fontAlgn="base" hangingPunct="0">
                  <a:spcBef>
                    <a:spcPct val="0"/>
                  </a:spcBef>
                  <a:spcAft>
                    <a:spcPct val="0"/>
                  </a:spcAft>
                </a:pPr>
                <a:r>
                  <a:rPr lang="en-GB" sz="2000" dirty="0">
                    <a:solidFill>
                      <a:srgbClr val="000000"/>
                    </a:solidFill>
                  </a:rPr>
                  <a:t>Cancer</a:t>
                </a:r>
              </a:p>
            </p:txBody>
          </p:sp>
        </p:grpSp>
        <p:sp>
          <p:nvSpPr>
            <p:cNvPr id="3" name="Oval 2"/>
            <p:cNvSpPr/>
            <p:nvPr/>
          </p:nvSpPr>
          <p:spPr bwMode="auto">
            <a:xfrm>
              <a:off x="5217275" y="1535778"/>
              <a:ext cx="1757680" cy="1710273"/>
            </a:xfrm>
            <a:prstGeom prst="ellipse">
              <a:avLst/>
            </a:prstGeom>
            <a:solidFill>
              <a:schemeClr val="bg1"/>
            </a:solidFill>
            <a:ln w="508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solidFill>
                  <a:srgbClr val="000000"/>
                </a:solidFill>
              </a:endParaRPr>
            </a:p>
          </p:txBody>
        </p:sp>
        <p:sp>
          <p:nvSpPr>
            <p:cNvPr id="4" name="TextBox 3"/>
            <p:cNvSpPr txBox="1"/>
            <p:nvPr/>
          </p:nvSpPr>
          <p:spPr>
            <a:xfrm>
              <a:off x="5504447" y="2143760"/>
              <a:ext cx="1183336" cy="400110"/>
            </a:xfrm>
            <a:prstGeom prst="rect">
              <a:avLst/>
            </a:prstGeom>
            <a:noFill/>
          </p:spPr>
          <p:txBody>
            <a:bodyPr wrap="none" rtlCol="0">
              <a:spAutoFit/>
            </a:bodyPr>
            <a:lstStyle/>
            <a:p>
              <a:pPr algn="ctr" eaLnBrk="0" fontAlgn="base" hangingPunct="0">
                <a:spcBef>
                  <a:spcPct val="0"/>
                </a:spcBef>
                <a:spcAft>
                  <a:spcPct val="0"/>
                </a:spcAft>
              </a:pPr>
              <a:r>
                <a:rPr lang="en-GB" sz="2000" dirty="0">
                  <a:solidFill>
                    <a:srgbClr val="000000"/>
                  </a:solidFill>
                </a:rPr>
                <a:t>Smoking</a:t>
              </a:r>
            </a:p>
          </p:txBody>
        </p:sp>
        <p:cxnSp>
          <p:nvCxnSpPr>
            <p:cNvPr id="10" name="Straight Arrow Connector 9"/>
            <p:cNvCxnSpPr>
              <a:endCxn id="6" idx="7"/>
            </p:cNvCxnSpPr>
            <p:nvPr/>
          </p:nvCxnSpPr>
          <p:spPr bwMode="auto">
            <a:xfrm flipH="1">
              <a:off x="4748306" y="2773680"/>
              <a:ext cx="595855" cy="637020"/>
            </a:xfrm>
            <a:prstGeom prst="straightConnector1">
              <a:avLst/>
            </a:prstGeom>
            <a:solidFill>
              <a:schemeClr val="accent1"/>
            </a:solidFill>
            <a:ln w="73025" cap="flat" cmpd="sng" algn="ctr">
              <a:solidFill>
                <a:schemeClr val="tx1"/>
              </a:solidFill>
              <a:prstDash val="solid"/>
              <a:round/>
              <a:headEnd type="none" w="med" len="med"/>
              <a:tailEnd type="triangle"/>
            </a:ln>
            <a:effectLst/>
          </p:spPr>
        </p:cxnSp>
        <p:cxnSp>
          <p:nvCxnSpPr>
            <p:cNvPr id="13" name="Straight Arrow Connector 12"/>
            <p:cNvCxnSpPr>
              <a:endCxn id="7" idx="1"/>
            </p:cNvCxnSpPr>
            <p:nvPr/>
          </p:nvCxnSpPr>
          <p:spPr bwMode="auto">
            <a:xfrm>
              <a:off x="6888480" y="2773680"/>
              <a:ext cx="547262" cy="593660"/>
            </a:xfrm>
            <a:prstGeom prst="straightConnector1">
              <a:avLst/>
            </a:prstGeom>
            <a:solidFill>
              <a:schemeClr val="accent1"/>
            </a:solidFill>
            <a:ln w="73025" cap="flat" cmpd="sng" algn="ctr">
              <a:solidFill>
                <a:schemeClr val="tx1"/>
              </a:solidFill>
              <a:prstDash val="solid"/>
              <a:round/>
              <a:headEnd type="none" w="med" len="med"/>
              <a:tailEnd type="triangle"/>
            </a:ln>
            <a:effectLst/>
          </p:spPr>
        </p:cxnSp>
      </p:grpSp>
      <p:sp>
        <p:nvSpPr>
          <p:cNvPr id="17" name="TextBox 16"/>
          <p:cNvSpPr txBox="1"/>
          <p:nvPr/>
        </p:nvSpPr>
        <p:spPr>
          <a:xfrm>
            <a:off x="2407920" y="5100321"/>
            <a:ext cx="6908800" cy="1015663"/>
          </a:xfrm>
          <a:prstGeom prst="rect">
            <a:avLst/>
          </a:prstGeom>
          <a:noFill/>
        </p:spPr>
        <p:txBody>
          <a:bodyPr wrap="square" rtlCol="0">
            <a:spAutoFit/>
          </a:bodyPr>
          <a:lstStyle/>
          <a:p>
            <a:pPr eaLnBrk="0" fontAlgn="base" hangingPunct="0">
              <a:spcBef>
                <a:spcPct val="0"/>
              </a:spcBef>
              <a:spcAft>
                <a:spcPct val="0"/>
              </a:spcAft>
            </a:pPr>
            <a:r>
              <a:rPr lang="en-GB" sz="2000" dirty="0">
                <a:solidFill>
                  <a:srgbClr val="000000"/>
                </a:solidFill>
              </a:rPr>
              <a:t>Maybe coffee drinkers tend to be smokers, and smoking causes cancer. If so, smoking is a confounder. It made us think that coffee caused cancer! </a:t>
            </a:r>
          </a:p>
        </p:txBody>
      </p:sp>
    </p:spTree>
    <p:extLst>
      <p:ext uri="{BB962C8B-B14F-4D97-AF65-F5344CB8AC3E}">
        <p14:creationId xmlns:p14="http://schemas.microsoft.com/office/powerpoint/2010/main" val="41757089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Confounding in non-randomised studies</a:t>
            </a:r>
            <a:endParaRPr lang="en-GB" dirty="0"/>
          </a:p>
        </p:txBody>
      </p:sp>
      <p:sp>
        <p:nvSpPr>
          <p:cNvPr id="4" name="Content Placeholder 3"/>
          <p:cNvSpPr txBox="1">
            <a:spLocks noGrp="1"/>
          </p:cNvSpPr>
          <p:nvPr>
            <p:ph idx="1"/>
          </p:nvPr>
        </p:nvSpPr>
        <p:spPr>
          <a:prstGeom prst="rect">
            <a:avLst/>
          </a:prstGeom>
          <a:noFill/>
        </p:spPr>
        <p:txBody>
          <a:bodyPr wrap="square" rtlCol="0">
            <a:spAutoFit/>
          </a:bodyPr>
          <a:lstStyle/>
          <a:p>
            <a:pPr marL="342900" indent="-342900" eaLnBrk="0" fontAlgn="base" hangingPunct="0">
              <a:spcBef>
                <a:spcPct val="0"/>
              </a:spcBef>
              <a:spcAft>
                <a:spcPct val="0"/>
              </a:spcAft>
              <a:buFont typeface="Arial" panose="020B0604020202020204" pitchFamily="34" charset="0"/>
              <a:buChar char="•"/>
            </a:pPr>
            <a:endParaRPr lang="en-GB" sz="2000" dirty="0">
              <a:solidFill>
                <a:srgbClr val="000000"/>
              </a:solidFill>
            </a:endParaRPr>
          </a:p>
          <a:p>
            <a:pPr marL="342900" indent="-342900" eaLnBrk="0" fontAlgn="base" hangingPunct="0">
              <a:spcBef>
                <a:spcPct val="0"/>
              </a:spcBef>
              <a:spcAft>
                <a:spcPct val="0"/>
              </a:spcAft>
              <a:buFont typeface="Arial" panose="020B0604020202020204" pitchFamily="34" charset="0"/>
              <a:buChar char="•"/>
            </a:pPr>
            <a:endParaRPr lang="en-GB" sz="2000" dirty="0">
              <a:solidFill>
                <a:srgbClr val="000000"/>
              </a:solidFill>
            </a:endParaRPr>
          </a:p>
        </p:txBody>
      </p:sp>
      <p:sp>
        <p:nvSpPr>
          <p:cNvPr id="5" name="TextBox 4"/>
          <p:cNvSpPr txBox="1"/>
          <p:nvPr/>
        </p:nvSpPr>
        <p:spPr>
          <a:xfrm>
            <a:off x="1617519" y="1535777"/>
            <a:ext cx="8853055" cy="707886"/>
          </a:xfrm>
          <a:prstGeom prst="rect">
            <a:avLst/>
          </a:prstGeom>
          <a:noFill/>
        </p:spPr>
        <p:txBody>
          <a:bodyPr wrap="square" rtlCol="0">
            <a:spAutoFit/>
          </a:bodyPr>
          <a:lstStyle/>
          <a:p>
            <a:pPr marL="342900" indent="-342900" eaLnBrk="0" fontAlgn="base" hangingPunct="0">
              <a:spcBef>
                <a:spcPct val="0"/>
              </a:spcBef>
              <a:spcAft>
                <a:spcPct val="0"/>
              </a:spcAft>
              <a:buFont typeface="Arial" panose="020B0604020202020204" pitchFamily="34" charset="0"/>
              <a:buChar char="•"/>
            </a:pPr>
            <a:endParaRPr lang="en-GB" sz="2000" dirty="0">
              <a:solidFill>
                <a:srgbClr val="000000"/>
              </a:solidFill>
            </a:endParaRPr>
          </a:p>
          <a:p>
            <a:pPr marL="342900" indent="-342900" eaLnBrk="0" fontAlgn="base" hangingPunct="0">
              <a:spcBef>
                <a:spcPct val="0"/>
              </a:spcBef>
              <a:spcAft>
                <a:spcPct val="0"/>
              </a:spcAft>
              <a:buFont typeface="Arial" panose="020B0604020202020204" pitchFamily="34" charset="0"/>
              <a:buChar char="•"/>
            </a:pPr>
            <a:endParaRPr lang="en-GB" sz="2000" dirty="0">
              <a:solidFill>
                <a:srgbClr val="000000"/>
              </a:solidFill>
            </a:endParaRPr>
          </a:p>
        </p:txBody>
      </p:sp>
      <p:grpSp>
        <p:nvGrpSpPr>
          <p:cNvPr id="6" name="Group 5"/>
          <p:cNvGrpSpPr/>
          <p:nvPr/>
        </p:nvGrpSpPr>
        <p:grpSpPr>
          <a:xfrm>
            <a:off x="3247390" y="1720417"/>
            <a:ext cx="5697220" cy="3279803"/>
            <a:chOff x="3195435" y="1535778"/>
            <a:chExt cx="5697220" cy="3279803"/>
          </a:xfrm>
        </p:grpSpPr>
        <p:grpSp>
          <p:nvGrpSpPr>
            <p:cNvPr id="7" name="Group 6"/>
            <p:cNvGrpSpPr/>
            <p:nvPr/>
          </p:nvGrpSpPr>
          <p:grpSpPr>
            <a:xfrm>
              <a:off x="3195435" y="3118861"/>
              <a:ext cx="5697220" cy="1696720"/>
              <a:chOff x="1577340" y="3952240"/>
              <a:chExt cx="5697220" cy="1696720"/>
            </a:xfrm>
          </p:grpSpPr>
          <p:sp>
            <p:nvSpPr>
              <p:cNvPr id="12" name="Oval 11"/>
              <p:cNvSpPr/>
              <p:nvPr/>
            </p:nvSpPr>
            <p:spPr bwMode="auto">
              <a:xfrm>
                <a:off x="1625600" y="4003040"/>
                <a:ext cx="1762760" cy="1645920"/>
              </a:xfrm>
              <a:prstGeom prst="ellipse">
                <a:avLst/>
              </a:prstGeom>
              <a:noFill/>
              <a:ln w="508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solidFill>
                    <a:srgbClr val="000000"/>
                  </a:solidFill>
                </a:endParaRPr>
              </a:p>
            </p:txBody>
          </p:sp>
          <p:sp>
            <p:nvSpPr>
              <p:cNvPr id="13" name="Oval 12"/>
              <p:cNvSpPr/>
              <p:nvPr/>
            </p:nvSpPr>
            <p:spPr bwMode="auto">
              <a:xfrm>
                <a:off x="5567680" y="3952240"/>
                <a:ext cx="1706880" cy="1696720"/>
              </a:xfrm>
              <a:prstGeom prst="ellipse">
                <a:avLst/>
              </a:prstGeom>
              <a:noFill/>
              <a:ln w="508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solidFill>
                    <a:srgbClr val="000000"/>
                  </a:solidFill>
                </a:endParaRPr>
              </a:p>
            </p:txBody>
          </p:sp>
          <p:cxnSp>
            <p:nvCxnSpPr>
              <p:cNvPr id="14" name="Straight Arrow Connector 13"/>
              <p:cNvCxnSpPr>
                <a:stCxn id="12" idx="6"/>
                <a:endCxn id="13" idx="2"/>
              </p:cNvCxnSpPr>
              <p:nvPr/>
            </p:nvCxnSpPr>
            <p:spPr bwMode="auto">
              <a:xfrm flipV="1">
                <a:off x="3388360" y="4800600"/>
                <a:ext cx="2179320" cy="25400"/>
              </a:xfrm>
              <a:prstGeom prst="straightConnector1">
                <a:avLst/>
              </a:prstGeom>
              <a:solidFill>
                <a:schemeClr val="accent1"/>
              </a:solidFill>
              <a:ln w="76200" cap="flat" cmpd="sng" algn="ctr">
                <a:solidFill>
                  <a:schemeClr val="tx1"/>
                </a:solidFill>
                <a:prstDash val="solid"/>
                <a:round/>
                <a:headEnd type="none" w="med" len="med"/>
                <a:tailEnd type="triangle"/>
              </a:ln>
              <a:effectLst/>
            </p:spPr>
          </p:cxnSp>
          <p:sp>
            <p:nvSpPr>
              <p:cNvPr id="15" name="TextBox 14"/>
              <p:cNvSpPr txBox="1"/>
              <p:nvPr/>
            </p:nvSpPr>
            <p:spPr>
              <a:xfrm>
                <a:off x="1577340" y="4433372"/>
                <a:ext cx="1859280" cy="384721"/>
              </a:xfrm>
              <a:prstGeom prst="rect">
                <a:avLst/>
              </a:prstGeom>
              <a:noFill/>
            </p:spPr>
            <p:txBody>
              <a:bodyPr wrap="square" rtlCol="0">
                <a:spAutoFit/>
              </a:bodyPr>
              <a:lstStyle/>
              <a:p>
                <a:pPr algn="ctr" eaLnBrk="0" fontAlgn="base" hangingPunct="0">
                  <a:spcBef>
                    <a:spcPct val="0"/>
                  </a:spcBef>
                  <a:spcAft>
                    <a:spcPct val="0"/>
                  </a:spcAft>
                </a:pPr>
                <a:endParaRPr lang="en-GB" sz="1900" dirty="0">
                  <a:solidFill>
                    <a:srgbClr val="000000"/>
                  </a:solidFill>
                </a:endParaRPr>
              </a:p>
            </p:txBody>
          </p:sp>
          <p:sp>
            <p:nvSpPr>
              <p:cNvPr id="16" name="TextBox 15"/>
              <p:cNvSpPr txBox="1"/>
              <p:nvPr/>
            </p:nvSpPr>
            <p:spPr>
              <a:xfrm>
                <a:off x="5809414" y="4551422"/>
                <a:ext cx="1223413" cy="400110"/>
              </a:xfrm>
              <a:prstGeom prst="rect">
                <a:avLst/>
              </a:prstGeom>
              <a:noFill/>
            </p:spPr>
            <p:txBody>
              <a:bodyPr wrap="none" rtlCol="0">
                <a:spAutoFit/>
              </a:bodyPr>
              <a:lstStyle/>
              <a:p>
                <a:pPr algn="ctr" eaLnBrk="0" fontAlgn="base" hangingPunct="0">
                  <a:spcBef>
                    <a:spcPct val="0"/>
                  </a:spcBef>
                  <a:spcAft>
                    <a:spcPct val="0"/>
                  </a:spcAft>
                </a:pPr>
                <a:r>
                  <a:rPr lang="en-GB" sz="2000" dirty="0" smtClean="0">
                    <a:solidFill>
                      <a:srgbClr val="000000"/>
                    </a:solidFill>
                  </a:rPr>
                  <a:t>Outcome</a:t>
                </a:r>
                <a:endParaRPr lang="en-GB" sz="2000" dirty="0">
                  <a:solidFill>
                    <a:srgbClr val="000000"/>
                  </a:solidFill>
                </a:endParaRPr>
              </a:p>
            </p:txBody>
          </p:sp>
        </p:grpSp>
        <p:sp>
          <p:nvSpPr>
            <p:cNvPr id="8" name="Oval 7"/>
            <p:cNvSpPr/>
            <p:nvPr/>
          </p:nvSpPr>
          <p:spPr bwMode="auto">
            <a:xfrm>
              <a:off x="5217275" y="1535778"/>
              <a:ext cx="1757680" cy="1710273"/>
            </a:xfrm>
            <a:prstGeom prst="ellipse">
              <a:avLst/>
            </a:prstGeom>
            <a:noFill/>
            <a:ln w="508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solidFill>
                  <a:srgbClr val="000000"/>
                </a:solidFill>
              </a:endParaRPr>
            </a:p>
          </p:txBody>
        </p:sp>
        <p:sp>
          <p:nvSpPr>
            <p:cNvPr id="9" name="TextBox 8"/>
            <p:cNvSpPr txBox="1"/>
            <p:nvPr/>
          </p:nvSpPr>
          <p:spPr>
            <a:xfrm>
              <a:off x="6003750" y="2143760"/>
              <a:ext cx="184730" cy="400110"/>
            </a:xfrm>
            <a:prstGeom prst="rect">
              <a:avLst/>
            </a:prstGeom>
            <a:noFill/>
          </p:spPr>
          <p:txBody>
            <a:bodyPr wrap="none" rtlCol="0">
              <a:spAutoFit/>
            </a:bodyPr>
            <a:lstStyle/>
            <a:p>
              <a:pPr algn="ctr" eaLnBrk="0" fontAlgn="base" hangingPunct="0">
                <a:spcBef>
                  <a:spcPct val="0"/>
                </a:spcBef>
                <a:spcAft>
                  <a:spcPct val="0"/>
                </a:spcAft>
              </a:pPr>
              <a:endParaRPr lang="en-GB" sz="2000" dirty="0">
                <a:solidFill>
                  <a:srgbClr val="000000"/>
                </a:solidFill>
              </a:endParaRPr>
            </a:p>
          </p:txBody>
        </p:sp>
        <p:cxnSp>
          <p:nvCxnSpPr>
            <p:cNvPr id="10" name="Straight Arrow Connector 9"/>
            <p:cNvCxnSpPr>
              <a:endCxn id="12" idx="7"/>
            </p:cNvCxnSpPr>
            <p:nvPr/>
          </p:nvCxnSpPr>
          <p:spPr bwMode="auto">
            <a:xfrm flipH="1">
              <a:off x="4748306" y="2773680"/>
              <a:ext cx="595855" cy="637020"/>
            </a:xfrm>
            <a:prstGeom prst="straightConnector1">
              <a:avLst/>
            </a:prstGeom>
            <a:solidFill>
              <a:schemeClr val="accent1"/>
            </a:solidFill>
            <a:ln w="73025" cap="flat" cmpd="sng" algn="ctr">
              <a:solidFill>
                <a:schemeClr val="tx1"/>
              </a:solidFill>
              <a:prstDash val="solid"/>
              <a:round/>
              <a:headEnd type="none" w="med" len="med"/>
              <a:tailEnd type="triangle"/>
            </a:ln>
            <a:effectLst/>
          </p:spPr>
        </p:cxnSp>
        <p:cxnSp>
          <p:nvCxnSpPr>
            <p:cNvPr id="11" name="Straight Arrow Connector 10"/>
            <p:cNvCxnSpPr>
              <a:endCxn id="13" idx="1"/>
            </p:cNvCxnSpPr>
            <p:nvPr/>
          </p:nvCxnSpPr>
          <p:spPr bwMode="auto">
            <a:xfrm>
              <a:off x="6888480" y="2773680"/>
              <a:ext cx="547262" cy="593660"/>
            </a:xfrm>
            <a:prstGeom prst="straightConnector1">
              <a:avLst/>
            </a:prstGeom>
            <a:solidFill>
              <a:schemeClr val="accent1"/>
            </a:solidFill>
            <a:ln w="73025" cap="flat" cmpd="sng" algn="ctr">
              <a:solidFill>
                <a:schemeClr val="tx1"/>
              </a:solidFill>
              <a:prstDash val="solid"/>
              <a:round/>
              <a:headEnd type="none" w="med" len="med"/>
              <a:tailEnd type="triangle"/>
            </a:ln>
            <a:effectLst/>
          </p:spPr>
        </p:cxnSp>
      </p:grpSp>
      <p:sp>
        <p:nvSpPr>
          <p:cNvPr id="17" name="TextBox 16"/>
          <p:cNvSpPr txBox="1"/>
          <p:nvPr/>
        </p:nvSpPr>
        <p:spPr>
          <a:xfrm>
            <a:off x="3537341" y="3933460"/>
            <a:ext cx="1521069" cy="369332"/>
          </a:xfrm>
          <a:prstGeom prst="rect">
            <a:avLst/>
          </a:prstGeom>
          <a:noFill/>
        </p:spPr>
        <p:txBody>
          <a:bodyPr wrap="square" rtlCol="0">
            <a:spAutoFit/>
          </a:bodyPr>
          <a:lstStyle/>
          <a:p>
            <a:r>
              <a:rPr lang="en-GB" dirty="0" smtClean="0"/>
              <a:t>Treatment</a:t>
            </a:r>
            <a:endParaRPr lang="en-GB" dirty="0"/>
          </a:p>
        </p:txBody>
      </p:sp>
      <p:sp>
        <p:nvSpPr>
          <p:cNvPr id="18" name="TextBox 17"/>
          <p:cNvSpPr txBox="1"/>
          <p:nvPr/>
        </p:nvSpPr>
        <p:spPr>
          <a:xfrm>
            <a:off x="5899638" y="2308086"/>
            <a:ext cx="1471620" cy="369332"/>
          </a:xfrm>
          <a:prstGeom prst="rect">
            <a:avLst/>
          </a:prstGeom>
          <a:noFill/>
        </p:spPr>
        <p:txBody>
          <a:bodyPr wrap="square" rtlCol="0">
            <a:spAutoFit/>
          </a:bodyPr>
          <a:lstStyle/>
          <a:p>
            <a:r>
              <a:rPr lang="en-GB" dirty="0" smtClean="0"/>
              <a:t>Age</a:t>
            </a:r>
            <a:endParaRPr lang="en-GB" dirty="0"/>
          </a:p>
        </p:txBody>
      </p:sp>
      <p:sp>
        <p:nvSpPr>
          <p:cNvPr id="19" name="TextBox 18"/>
          <p:cNvSpPr txBox="1"/>
          <p:nvPr/>
        </p:nvSpPr>
        <p:spPr>
          <a:xfrm>
            <a:off x="457200" y="5000220"/>
            <a:ext cx="11734800" cy="369332"/>
          </a:xfrm>
          <a:prstGeom prst="rect">
            <a:avLst/>
          </a:prstGeom>
          <a:noFill/>
        </p:spPr>
        <p:txBody>
          <a:bodyPr wrap="square" rtlCol="0">
            <a:spAutoFit/>
          </a:bodyPr>
          <a:lstStyle/>
          <a:p>
            <a:r>
              <a:rPr lang="en-GB" dirty="0" smtClean="0"/>
              <a:t>In NRSI, treatment and control groups might systematically differ in other ways (in addition to treatment received).</a:t>
            </a:r>
            <a:endParaRPr lang="en-GB" dirty="0"/>
          </a:p>
        </p:txBody>
      </p:sp>
    </p:spTree>
    <p:extLst>
      <p:ext uri="{BB962C8B-B14F-4D97-AF65-F5344CB8AC3E}">
        <p14:creationId xmlns:p14="http://schemas.microsoft.com/office/powerpoint/2010/main" val="403787211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72654" y="304800"/>
            <a:ext cx="11185237" cy="1569660"/>
          </a:xfrm>
          <a:prstGeom prst="rect">
            <a:avLst/>
          </a:prstGeom>
          <a:noFill/>
        </p:spPr>
        <p:txBody>
          <a:bodyPr wrap="square" rtlCol="0">
            <a:spAutoFit/>
          </a:bodyPr>
          <a:lstStyle/>
          <a:p>
            <a:r>
              <a:rPr lang="en-GB" sz="3200" dirty="0" smtClean="0"/>
              <a:t>What goes into the decision of how to treat a patient (shared decision making)?</a:t>
            </a:r>
          </a:p>
          <a:p>
            <a:endParaRPr lang="en-GB" sz="3200" dirty="0"/>
          </a:p>
        </p:txBody>
      </p:sp>
    </p:spTree>
    <p:extLst>
      <p:ext uri="{BB962C8B-B14F-4D97-AF65-F5344CB8AC3E}">
        <p14:creationId xmlns:p14="http://schemas.microsoft.com/office/powerpoint/2010/main" val="243310060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738908" y="1572881"/>
            <a:ext cx="10852727" cy="6858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p:cNvSpPr txBox="1"/>
          <p:nvPr/>
        </p:nvSpPr>
        <p:spPr>
          <a:xfrm>
            <a:off x="572654" y="304800"/>
            <a:ext cx="11185237" cy="1077218"/>
          </a:xfrm>
          <a:prstGeom prst="rect">
            <a:avLst/>
          </a:prstGeom>
          <a:noFill/>
        </p:spPr>
        <p:txBody>
          <a:bodyPr wrap="square" rtlCol="0">
            <a:spAutoFit/>
          </a:bodyPr>
          <a:lstStyle/>
          <a:p>
            <a:r>
              <a:rPr lang="en-GB" sz="3200" dirty="0" smtClean="0"/>
              <a:t>What goes into the decision of how to treat a patient (shared decision making)?</a:t>
            </a:r>
            <a:endParaRPr lang="en-GB" sz="3200" dirty="0"/>
          </a:p>
        </p:txBody>
      </p:sp>
      <p:sp>
        <p:nvSpPr>
          <p:cNvPr id="2" name="TextBox 1"/>
          <p:cNvSpPr txBox="1"/>
          <p:nvPr/>
        </p:nvSpPr>
        <p:spPr>
          <a:xfrm>
            <a:off x="3371273" y="2955636"/>
            <a:ext cx="1791854" cy="769441"/>
          </a:xfrm>
          <a:prstGeom prst="rect">
            <a:avLst/>
          </a:prstGeom>
          <a:noFill/>
        </p:spPr>
        <p:txBody>
          <a:bodyPr wrap="square" rtlCol="0">
            <a:spAutoFit/>
          </a:bodyPr>
          <a:lstStyle/>
          <a:p>
            <a:r>
              <a:rPr lang="en-GB" sz="4400" dirty="0" smtClean="0"/>
              <a:t>age</a:t>
            </a:r>
            <a:endParaRPr lang="en-GB" sz="4400" dirty="0"/>
          </a:p>
        </p:txBody>
      </p:sp>
      <p:sp>
        <p:nvSpPr>
          <p:cNvPr id="3" name="TextBox 2"/>
          <p:cNvSpPr txBox="1"/>
          <p:nvPr/>
        </p:nvSpPr>
        <p:spPr>
          <a:xfrm>
            <a:off x="6881091" y="2933067"/>
            <a:ext cx="2115127" cy="1200329"/>
          </a:xfrm>
          <a:prstGeom prst="rect">
            <a:avLst/>
          </a:prstGeom>
          <a:noFill/>
        </p:spPr>
        <p:txBody>
          <a:bodyPr wrap="square" rtlCol="0">
            <a:spAutoFit/>
          </a:bodyPr>
          <a:lstStyle/>
          <a:p>
            <a:pPr algn="ctr"/>
            <a:r>
              <a:rPr lang="en-GB" sz="2400" dirty="0"/>
              <a:t>p</a:t>
            </a:r>
            <a:r>
              <a:rPr lang="en-GB" sz="2400" dirty="0" smtClean="0"/>
              <a:t>revious stimulation response</a:t>
            </a:r>
            <a:endParaRPr lang="en-GB" sz="2400" dirty="0"/>
          </a:p>
        </p:txBody>
      </p:sp>
      <p:sp>
        <p:nvSpPr>
          <p:cNvPr id="5" name="TextBox 4"/>
          <p:cNvSpPr txBox="1"/>
          <p:nvPr/>
        </p:nvSpPr>
        <p:spPr>
          <a:xfrm>
            <a:off x="3629891" y="4184073"/>
            <a:ext cx="4147127" cy="461665"/>
          </a:xfrm>
          <a:prstGeom prst="rect">
            <a:avLst/>
          </a:prstGeom>
          <a:noFill/>
        </p:spPr>
        <p:txBody>
          <a:bodyPr wrap="square" rtlCol="0">
            <a:spAutoFit/>
          </a:bodyPr>
          <a:lstStyle/>
          <a:p>
            <a:r>
              <a:rPr lang="en-GB" sz="2400" dirty="0"/>
              <a:t>d</a:t>
            </a:r>
            <a:r>
              <a:rPr lang="en-GB" sz="2400" dirty="0" smtClean="0"/>
              <a:t>uration of infertility</a:t>
            </a:r>
            <a:endParaRPr lang="en-GB" sz="2400" dirty="0"/>
          </a:p>
        </p:txBody>
      </p:sp>
      <p:sp>
        <p:nvSpPr>
          <p:cNvPr id="6" name="TextBox 5"/>
          <p:cNvSpPr txBox="1"/>
          <p:nvPr/>
        </p:nvSpPr>
        <p:spPr>
          <a:xfrm>
            <a:off x="2235200" y="4821382"/>
            <a:ext cx="3435927" cy="369332"/>
          </a:xfrm>
          <a:prstGeom prst="rect">
            <a:avLst/>
          </a:prstGeom>
          <a:noFill/>
        </p:spPr>
        <p:txBody>
          <a:bodyPr wrap="square" rtlCol="0">
            <a:spAutoFit/>
          </a:bodyPr>
          <a:lstStyle/>
          <a:p>
            <a:r>
              <a:rPr lang="en-GB" dirty="0" smtClean="0"/>
              <a:t>evidence</a:t>
            </a:r>
            <a:endParaRPr lang="en-GB" dirty="0"/>
          </a:p>
        </p:txBody>
      </p:sp>
      <p:sp>
        <p:nvSpPr>
          <p:cNvPr id="7" name="TextBox 6"/>
          <p:cNvSpPr txBox="1"/>
          <p:nvPr/>
        </p:nvSpPr>
        <p:spPr>
          <a:xfrm>
            <a:off x="1985818" y="2068945"/>
            <a:ext cx="3685309" cy="369332"/>
          </a:xfrm>
          <a:prstGeom prst="rect">
            <a:avLst/>
          </a:prstGeom>
          <a:noFill/>
        </p:spPr>
        <p:txBody>
          <a:bodyPr wrap="square" rtlCol="0">
            <a:spAutoFit/>
          </a:bodyPr>
          <a:lstStyle/>
          <a:p>
            <a:r>
              <a:rPr lang="en-GB" dirty="0" smtClean="0"/>
              <a:t>Cause of subfertility</a:t>
            </a:r>
            <a:endParaRPr lang="en-GB" dirty="0"/>
          </a:p>
        </p:txBody>
      </p:sp>
      <p:sp>
        <p:nvSpPr>
          <p:cNvPr id="8" name="TextBox 7"/>
          <p:cNvSpPr txBox="1"/>
          <p:nvPr/>
        </p:nvSpPr>
        <p:spPr>
          <a:xfrm>
            <a:off x="6502399" y="1890492"/>
            <a:ext cx="2050473" cy="646331"/>
          </a:xfrm>
          <a:prstGeom prst="rect">
            <a:avLst/>
          </a:prstGeom>
          <a:noFill/>
        </p:spPr>
        <p:txBody>
          <a:bodyPr wrap="square" rtlCol="0">
            <a:spAutoFit/>
          </a:bodyPr>
          <a:lstStyle/>
          <a:p>
            <a:r>
              <a:rPr lang="en-GB" sz="3600" dirty="0" smtClean="0"/>
              <a:t>cost</a:t>
            </a:r>
            <a:endParaRPr lang="en-GB" sz="3600" dirty="0"/>
          </a:p>
        </p:txBody>
      </p:sp>
      <p:sp>
        <p:nvSpPr>
          <p:cNvPr id="9" name="TextBox 8"/>
          <p:cNvSpPr txBox="1"/>
          <p:nvPr/>
        </p:nvSpPr>
        <p:spPr>
          <a:xfrm>
            <a:off x="6797964" y="4645738"/>
            <a:ext cx="2789381" cy="369332"/>
          </a:xfrm>
          <a:prstGeom prst="rect">
            <a:avLst/>
          </a:prstGeom>
          <a:noFill/>
        </p:spPr>
        <p:txBody>
          <a:bodyPr wrap="square" rtlCol="0">
            <a:spAutoFit/>
          </a:bodyPr>
          <a:lstStyle/>
          <a:p>
            <a:r>
              <a:rPr lang="en-GB" dirty="0"/>
              <a:t>o</a:t>
            </a:r>
            <a:r>
              <a:rPr lang="en-GB" dirty="0" smtClean="0"/>
              <a:t>varian reserve</a:t>
            </a:r>
            <a:endParaRPr lang="en-GB" dirty="0"/>
          </a:p>
        </p:txBody>
      </p:sp>
      <p:sp>
        <p:nvSpPr>
          <p:cNvPr id="10" name="TextBox 9"/>
          <p:cNvSpPr txBox="1"/>
          <p:nvPr/>
        </p:nvSpPr>
        <p:spPr>
          <a:xfrm>
            <a:off x="923636" y="3251200"/>
            <a:ext cx="2216728" cy="646331"/>
          </a:xfrm>
          <a:prstGeom prst="rect">
            <a:avLst/>
          </a:prstGeom>
          <a:noFill/>
        </p:spPr>
        <p:txBody>
          <a:bodyPr wrap="square" rtlCol="0">
            <a:spAutoFit/>
          </a:bodyPr>
          <a:lstStyle/>
          <a:p>
            <a:r>
              <a:rPr lang="en-GB" dirty="0"/>
              <a:t>c</a:t>
            </a:r>
            <a:r>
              <a:rPr lang="en-GB" dirty="0" smtClean="0"/>
              <a:t>linician experience with ‘similar patients’</a:t>
            </a:r>
            <a:endParaRPr lang="en-GB" dirty="0"/>
          </a:p>
        </p:txBody>
      </p:sp>
      <p:sp>
        <p:nvSpPr>
          <p:cNvPr id="11" name="TextBox 10"/>
          <p:cNvSpPr txBox="1"/>
          <p:nvPr/>
        </p:nvSpPr>
        <p:spPr>
          <a:xfrm>
            <a:off x="9494982" y="3725077"/>
            <a:ext cx="1745673" cy="369332"/>
          </a:xfrm>
          <a:prstGeom prst="rect">
            <a:avLst/>
          </a:prstGeom>
          <a:noFill/>
        </p:spPr>
        <p:txBody>
          <a:bodyPr wrap="square" rtlCol="0">
            <a:spAutoFit/>
          </a:bodyPr>
          <a:lstStyle/>
          <a:p>
            <a:r>
              <a:rPr lang="en-GB" dirty="0" smtClean="0"/>
              <a:t>BMI</a:t>
            </a:r>
            <a:endParaRPr lang="en-GB" dirty="0"/>
          </a:p>
        </p:txBody>
      </p:sp>
      <p:sp>
        <p:nvSpPr>
          <p:cNvPr id="12" name="TextBox 11"/>
          <p:cNvSpPr txBox="1"/>
          <p:nvPr/>
        </p:nvSpPr>
        <p:spPr>
          <a:xfrm>
            <a:off x="4544291" y="2438277"/>
            <a:ext cx="2115127" cy="646331"/>
          </a:xfrm>
          <a:prstGeom prst="rect">
            <a:avLst/>
          </a:prstGeom>
          <a:noFill/>
        </p:spPr>
        <p:txBody>
          <a:bodyPr wrap="square" rtlCol="0">
            <a:spAutoFit/>
          </a:bodyPr>
          <a:lstStyle/>
          <a:p>
            <a:pPr algn="ctr"/>
            <a:r>
              <a:rPr lang="en-GB" dirty="0" smtClean="0"/>
              <a:t>Number of previous attempts</a:t>
            </a:r>
            <a:endParaRPr lang="en-GB" dirty="0"/>
          </a:p>
        </p:txBody>
      </p:sp>
      <p:sp>
        <p:nvSpPr>
          <p:cNvPr id="13" name="TextBox 12"/>
          <p:cNvSpPr txBox="1"/>
          <p:nvPr/>
        </p:nvSpPr>
        <p:spPr>
          <a:xfrm>
            <a:off x="8155709" y="1819564"/>
            <a:ext cx="2493818" cy="646331"/>
          </a:xfrm>
          <a:prstGeom prst="rect">
            <a:avLst/>
          </a:prstGeom>
          <a:noFill/>
        </p:spPr>
        <p:txBody>
          <a:bodyPr wrap="square" rtlCol="0">
            <a:spAutoFit/>
          </a:bodyPr>
          <a:lstStyle/>
          <a:p>
            <a:pPr algn="ctr"/>
            <a:r>
              <a:rPr lang="en-GB" dirty="0" smtClean="0"/>
              <a:t>Experiences of friends/ family</a:t>
            </a:r>
            <a:endParaRPr lang="en-GB" dirty="0"/>
          </a:p>
        </p:txBody>
      </p:sp>
      <p:sp>
        <p:nvSpPr>
          <p:cNvPr id="14" name="TextBox 13"/>
          <p:cNvSpPr txBox="1"/>
          <p:nvPr/>
        </p:nvSpPr>
        <p:spPr>
          <a:xfrm>
            <a:off x="8552872" y="4331855"/>
            <a:ext cx="2530764" cy="369332"/>
          </a:xfrm>
          <a:prstGeom prst="rect">
            <a:avLst/>
          </a:prstGeom>
          <a:noFill/>
        </p:spPr>
        <p:txBody>
          <a:bodyPr wrap="square" rtlCol="0">
            <a:spAutoFit/>
          </a:bodyPr>
          <a:lstStyle/>
          <a:p>
            <a:pPr algn="ctr"/>
            <a:r>
              <a:rPr lang="en-GB" dirty="0"/>
              <a:t>o</a:t>
            </a:r>
            <a:r>
              <a:rPr lang="en-GB" dirty="0" smtClean="0"/>
              <a:t>nline information</a:t>
            </a:r>
            <a:endParaRPr lang="en-GB" dirty="0"/>
          </a:p>
        </p:txBody>
      </p:sp>
      <p:sp>
        <p:nvSpPr>
          <p:cNvPr id="15" name="TextBox 14"/>
          <p:cNvSpPr txBox="1"/>
          <p:nvPr/>
        </p:nvSpPr>
        <p:spPr>
          <a:xfrm>
            <a:off x="3486727" y="5328953"/>
            <a:ext cx="4488873" cy="369332"/>
          </a:xfrm>
          <a:prstGeom prst="rect">
            <a:avLst/>
          </a:prstGeom>
          <a:noFill/>
        </p:spPr>
        <p:txBody>
          <a:bodyPr wrap="square" rtlCol="0">
            <a:spAutoFit/>
          </a:bodyPr>
          <a:lstStyle/>
          <a:p>
            <a:r>
              <a:rPr lang="en-GB" dirty="0" smtClean="0"/>
              <a:t>Previous fertilisation issues</a:t>
            </a:r>
            <a:endParaRPr lang="en-GB" dirty="0"/>
          </a:p>
        </p:txBody>
      </p:sp>
    </p:spTree>
    <p:extLst>
      <p:ext uri="{BB962C8B-B14F-4D97-AF65-F5344CB8AC3E}">
        <p14:creationId xmlns:p14="http://schemas.microsoft.com/office/powerpoint/2010/main" val="37548350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p:cNvSpPr/>
          <p:nvPr/>
        </p:nvSpPr>
        <p:spPr>
          <a:xfrm>
            <a:off x="882072" y="1469269"/>
            <a:ext cx="10852727" cy="6858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p:cNvSpPr txBox="1"/>
          <p:nvPr/>
        </p:nvSpPr>
        <p:spPr>
          <a:xfrm>
            <a:off x="572654" y="304800"/>
            <a:ext cx="11185237" cy="1077218"/>
          </a:xfrm>
          <a:prstGeom prst="rect">
            <a:avLst/>
          </a:prstGeom>
          <a:noFill/>
        </p:spPr>
        <p:txBody>
          <a:bodyPr wrap="square" rtlCol="0">
            <a:spAutoFit/>
          </a:bodyPr>
          <a:lstStyle/>
          <a:p>
            <a:r>
              <a:rPr lang="en-GB" sz="3200" dirty="0" smtClean="0"/>
              <a:t>These factors may be associated with other characteristics in complex ways</a:t>
            </a:r>
            <a:endParaRPr lang="en-GB" sz="3200" dirty="0"/>
          </a:p>
        </p:txBody>
      </p:sp>
      <p:sp>
        <p:nvSpPr>
          <p:cNvPr id="2" name="TextBox 1"/>
          <p:cNvSpPr txBox="1"/>
          <p:nvPr/>
        </p:nvSpPr>
        <p:spPr>
          <a:xfrm>
            <a:off x="3371273" y="2955636"/>
            <a:ext cx="1791854" cy="769441"/>
          </a:xfrm>
          <a:prstGeom prst="rect">
            <a:avLst/>
          </a:prstGeom>
          <a:noFill/>
        </p:spPr>
        <p:txBody>
          <a:bodyPr wrap="square" rtlCol="0">
            <a:spAutoFit/>
          </a:bodyPr>
          <a:lstStyle/>
          <a:p>
            <a:r>
              <a:rPr lang="en-GB" sz="4400" dirty="0" smtClean="0"/>
              <a:t>age</a:t>
            </a:r>
            <a:endParaRPr lang="en-GB" sz="4400" dirty="0"/>
          </a:p>
        </p:txBody>
      </p:sp>
      <p:sp>
        <p:nvSpPr>
          <p:cNvPr id="3" name="TextBox 2"/>
          <p:cNvSpPr txBox="1"/>
          <p:nvPr/>
        </p:nvSpPr>
        <p:spPr>
          <a:xfrm>
            <a:off x="6881091" y="2933067"/>
            <a:ext cx="2115127" cy="1200329"/>
          </a:xfrm>
          <a:prstGeom prst="rect">
            <a:avLst/>
          </a:prstGeom>
          <a:noFill/>
        </p:spPr>
        <p:txBody>
          <a:bodyPr wrap="square" rtlCol="0">
            <a:spAutoFit/>
          </a:bodyPr>
          <a:lstStyle/>
          <a:p>
            <a:pPr algn="ctr"/>
            <a:r>
              <a:rPr lang="en-GB" sz="2400" dirty="0"/>
              <a:t>p</a:t>
            </a:r>
            <a:r>
              <a:rPr lang="en-GB" sz="2400" dirty="0" smtClean="0"/>
              <a:t>revious stimulation response</a:t>
            </a:r>
            <a:endParaRPr lang="en-GB" sz="2400" dirty="0"/>
          </a:p>
        </p:txBody>
      </p:sp>
      <p:sp>
        <p:nvSpPr>
          <p:cNvPr id="5" name="TextBox 4"/>
          <p:cNvSpPr txBox="1"/>
          <p:nvPr/>
        </p:nvSpPr>
        <p:spPr>
          <a:xfrm>
            <a:off x="3629891" y="4184073"/>
            <a:ext cx="4147127" cy="461665"/>
          </a:xfrm>
          <a:prstGeom prst="rect">
            <a:avLst/>
          </a:prstGeom>
          <a:noFill/>
        </p:spPr>
        <p:txBody>
          <a:bodyPr wrap="square" rtlCol="0">
            <a:spAutoFit/>
          </a:bodyPr>
          <a:lstStyle/>
          <a:p>
            <a:r>
              <a:rPr lang="en-GB" sz="2400" dirty="0"/>
              <a:t>d</a:t>
            </a:r>
            <a:r>
              <a:rPr lang="en-GB" sz="2400" dirty="0" smtClean="0"/>
              <a:t>uration of infertility</a:t>
            </a:r>
            <a:endParaRPr lang="en-GB" sz="2400" dirty="0"/>
          </a:p>
        </p:txBody>
      </p:sp>
      <p:sp>
        <p:nvSpPr>
          <p:cNvPr id="6" name="TextBox 5"/>
          <p:cNvSpPr txBox="1"/>
          <p:nvPr/>
        </p:nvSpPr>
        <p:spPr>
          <a:xfrm>
            <a:off x="2235200" y="4821382"/>
            <a:ext cx="3435927" cy="369332"/>
          </a:xfrm>
          <a:prstGeom prst="rect">
            <a:avLst/>
          </a:prstGeom>
          <a:noFill/>
        </p:spPr>
        <p:txBody>
          <a:bodyPr wrap="square" rtlCol="0">
            <a:spAutoFit/>
          </a:bodyPr>
          <a:lstStyle/>
          <a:p>
            <a:r>
              <a:rPr lang="en-GB" dirty="0" smtClean="0"/>
              <a:t>evidence</a:t>
            </a:r>
            <a:endParaRPr lang="en-GB" dirty="0"/>
          </a:p>
        </p:txBody>
      </p:sp>
      <p:sp>
        <p:nvSpPr>
          <p:cNvPr id="7" name="TextBox 6"/>
          <p:cNvSpPr txBox="1"/>
          <p:nvPr/>
        </p:nvSpPr>
        <p:spPr>
          <a:xfrm>
            <a:off x="1985818" y="2068945"/>
            <a:ext cx="3685309" cy="369332"/>
          </a:xfrm>
          <a:prstGeom prst="rect">
            <a:avLst/>
          </a:prstGeom>
          <a:noFill/>
        </p:spPr>
        <p:txBody>
          <a:bodyPr wrap="square" rtlCol="0">
            <a:spAutoFit/>
          </a:bodyPr>
          <a:lstStyle/>
          <a:p>
            <a:r>
              <a:rPr lang="en-GB" dirty="0" smtClean="0"/>
              <a:t>Cause of subfertility</a:t>
            </a:r>
            <a:endParaRPr lang="en-GB" dirty="0"/>
          </a:p>
        </p:txBody>
      </p:sp>
      <p:sp>
        <p:nvSpPr>
          <p:cNvPr id="8" name="TextBox 7"/>
          <p:cNvSpPr txBox="1"/>
          <p:nvPr/>
        </p:nvSpPr>
        <p:spPr>
          <a:xfrm>
            <a:off x="6502399" y="1890492"/>
            <a:ext cx="2050473" cy="646331"/>
          </a:xfrm>
          <a:prstGeom prst="rect">
            <a:avLst/>
          </a:prstGeom>
          <a:noFill/>
        </p:spPr>
        <p:txBody>
          <a:bodyPr wrap="square" rtlCol="0">
            <a:spAutoFit/>
          </a:bodyPr>
          <a:lstStyle/>
          <a:p>
            <a:r>
              <a:rPr lang="en-GB" sz="3600" dirty="0" smtClean="0"/>
              <a:t>cost</a:t>
            </a:r>
            <a:endParaRPr lang="en-GB" sz="3600" dirty="0"/>
          </a:p>
        </p:txBody>
      </p:sp>
      <p:sp>
        <p:nvSpPr>
          <p:cNvPr id="9" name="TextBox 8"/>
          <p:cNvSpPr txBox="1"/>
          <p:nvPr/>
        </p:nvSpPr>
        <p:spPr>
          <a:xfrm>
            <a:off x="6797964" y="4645738"/>
            <a:ext cx="2789381" cy="369332"/>
          </a:xfrm>
          <a:prstGeom prst="rect">
            <a:avLst/>
          </a:prstGeom>
          <a:noFill/>
        </p:spPr>
        <p:txBody>
          <a:bodyPr wrap="square" rtlCol="0">
            <a:spAutoFit/>
          </a:bodyPr>
          <a:lstStyle/>
          <a:p>
            <a:r>
              <a:rPr lang="en-GB" dirty="0"/>
              <a:t>o</a:t>
            </a:r>
            <a:r>
              <a:rPr lang="en-GB" dirty="0" smtClean="0"/>
              <a:t>varian reserve</a:t>
            </a:r>
            <a:endParaRPr lang="en-GB" dirty="0"/>
          </a:p>
        </p:txBody>
      </p:sp>
      <p:sp>
        <p:nvSpPr>
          <p:cNvPr id="10" name="TextBox 9"/>
          <p:cNvSpPr txBox="1"/>
          <p:nvPr/>
        </p:nvSpPr>
        <p:spPr>
          <a:xfrm>
            <a:off x="923636" y="3251200"/>
            <a:ext cx="2216728" cy="646331"/>
          </a:xfrm>
          <a:prstGeom prst="rect">
            <a:avLst/>
          </a:prstGeom>
          <a:noFill/>
        </p:spPr>
        <p:txBody>
          <a:bodyPr wrap="square" rtlCol="0">
            <a:spAutoFit/>
          </a:bodyPr>
          <a:lstStyle/>
          <a:p>
            <a:r>
              <a:rPr lang="en-GB" dirty="0"/>
              <a:t>c</a:t>
            </a:r>
            <a:r>
              <a:rPr lang="en-GB" dirty="0" smtClean="0"/>
              <a:t>linician experience with ‘similar patients’</a:t>
            </a:r>
            <a:endParaRPr lang="en-GB" dirty="0"/>
          </a:p>
        </p:txBody>
      </p:sp>
      <p:sp>
        <p:nvSpPr>
          <p:cNvPr id="11" name="TextBox 10"/>
          <p:cNvSpPr txBox="1"/>
          <p:nvPr/>
        </p:nvSpPr>
        <p:spPr>
          <a:xfrm>
            <a:off x="9494982" y="3725077"/>
            <a:ext cx="1745673" cy="369332"/>
          </a:xfrm>
          <a:prstGeom prst="rect">
            <a:avLst/>
          </a:prstGeom>
          <a:noFill/>
        </p:spPr>
        <p:txBody>
          <a:bodyPr wrap="square" rtlCol="0">
            <a:spAutoFit/>
          </a:bodyPr>
          <a:lstStyle/>
          <a:p>
            <a:r>
              <a:rPr lang="en-GB" dirty="0" smtClean="0"/>
              <a:t>BMI</a:t>
            </a:r>
            <a:endParaRPr lang="en-GB" dirty="0"/>
          </a:p>
        </p:txBody>
      </p:sp>
      <p:sp>
        <p:nvSpPr>
          <p:cNvPr id="12" name="TextBox 11"/>
          <p:cNvSpPr txBox="1"/>
          <p:nvPr/>
        </p:nvSpPr>
        <p:spPr>
          <a:xfrm>
            <a:off x="4544291" y="2438277"/>
            <a:ext cx="2115127" cy="646331"/>
          </a:xfrm>
          <a:prstGeom prst="rect">
            <a:avLst/>
          </a:prstGeom>
          <a:noFill/>
        </p:spPr>
        <p:txBody>
          <a:bodyPr wrap="square" rtlCol="0">
            <a:spAutoFit/>
          </a:bodyPr>
          <a:lstStyle/>
          <a:p>
            <a:pPr algn="ctr"/>
            <a:r>
              <a:rPr lang="en-GB" dirty="0" smtClean="0"/>
              <a:t>Number of previous attempts</a:t>
            </a:r>
            <a:endParaRPr lang="en-GB" dirty="0"/>
          </a:p>
        </p:txBody>
      </p:sp>
      <p:sp>
        <p:nvSpPr>
          <p:cNvPr id="13" name="TextBox 12"/>
          <p:cNvSpPr txBox="1"/>
          <p:nvPr/>
        </p:nvSpPr>
        <p:spPr>
          <a:xfrm>
            <a:off x="8155709" y="1819564"/>
            <a:ext cx="2493818" cy="646331"/>
          </a:xfrm>
          <a:prstGeom prst="rect">
            <a:avLst/>
          </a:prstGeom>
          <a:noFill/>
        </p:spPr>
        <p:txBody>
          <a:bodyPr wrap="square" rtlCol="0">
            <a:spAutoFit/>
          </a:bodyPr>
          <a:lstStyle/>
          <a:p>
            <a:pPr algn="ctr"/>
            <a:r>
              <a:rPr lang="en-GB" dirty="0" smtClean="0"/>
              <a:t>Experiences of friends/ family</a:t>
            </a:r>
            <a:endParaRPr lang="en-GB" dirty="0"/>
          </a:p>
        </p:txBody>
      </p:sp>
      <p:sp>
        <p:nvSpPr>
          <p:cNvPr id="14" name="TextBox 13"/>
          <p:cNvSpPr txBox="1"/>
          <p:nvPr/>
        </p:nvSpPr>
        <p:spPr>
          <a:xfrm>
            <a:off x="8552872" y="4331855"/>
            <a:ext cx="2530764" cy="369332"/>
          </a:xfrm>
          <a:prstGeom prst="rect">
            <a:avLst/>
          </a:prstGeom>
          <a:noFill/>
        </p:spPr>
        <p:txBody>
          <a:bodyPr wrap="square" rtlCol="0">
            <a:spAutoFit/>
          </a:bodyPr>
          <a:lstStyle/>
          <a:p>
            <a:pPr algn="ctr"/>
            <a:r>
              <a:rPr lang="en-GB" dirty="0"/>
              <a:t>o</a:t>
            </a:r>
            <a:r>
              <a:rPr lang="en-GB" dirty="0" smtClean="0"/>
              <a:t>nline information</a:t>
            </a:r>
            <a:endParaRPr lang="en-GB" dirty="0"/>
          </a:p>
        </p:txBody>
      </p:sp>
      <p:sp>
        <p:nvSpPr>
          <p:cNvPr id="15" name="TextBox 14"/>
          <p:cNvSpPr txBox="1"/>
          <p:nvPr/>
        </p:nvSpPr>
        <p:spPr>
          <a:xfrm>
            <a:off x="3486727" y="5328953"/>
            <a:ext cx="4488873" cy="369332"/>
          </a:xfrm>
          <a:prstGeom prst="rect">
            <a:avLst/>
          </a:prstGeom>
          <a:noFill/>
        </p:spPr>
        <p:txBody>
          <a:bodyPr wrap="square" rtlCol="0">
            <a:spAutoFit/>
          </a:bodyPr>
          <a:lstStyle/>
          <a:p>
            <a:r>
              <a:rPr lang="en-GB" dirty="0" smtClean="0"/>
              <a:t>Previous fertilisation issues</a:t>
            </a:r>
            <a:endParaRPr lang="en-GB" dirty="0"/>
          </a:p>
        </p:txBody>
      </p:sp>
      <p:sp>
        <p:nvSpPr>
          <p:cNvPr id="16" name="TextBox 15"/>
          <p:cNvSpPr txBox="1"/>
          <p:nvPr/>
        </p:nvSpPr>
        <p:spPr>
          <a:xfrm>
            <a:off x="9910618" y="2933067"/>
            <a:ext cx="1579418" cy="646331"/>
          </a:xfrm>
          <a:prstGeom prst="rect">
            <a:avLst/>
          </a:prstGeom>
          <a:noFill/>
        </p:spPr>
        <p:txBody>
          <a:bodyPr wrap="square" rtlCol="0">
            <a:spAutoFit/>
          </a:bodyPr>
          <a:lstStyle/>
          <a:p>
            <a:r>
              <a:rPr lang="en-GB" sz="3600" dirty="0" smtClean="0">
                <a:solidFill>
                  <a:srgbClr val="00B0F0"/>
                </a:solidFill>
              </a:rPr>
              <a:t>diet</a:t>
            </a:r>
            <a:endParaRPr lang="en-GB" sz="3600" dirty="0">
              <a:solidFill>
                <a:srgbClr val="00B0F0"/>
              </a:solidFill>
            </a:endParaRPr>
          </a:p>
        </p:txBody>
      </p:sp>
      <p:sp>
        <p:nvSpPr>
          <p:cNvPr id="17" name="TextBox 16"/>
          <p:cNvSpPr txBox="1"/>
          <p:nvPr/>
        </p:nvSpPr>
        <p:spPr>
          <a:xfrm>
            <a:off x="6502399" y="1032985"/>
            <a:ext cx="3232728" cy="584775"/>
          </a:xfrm>
          <a:prstGeom prst="rect">
            <a:avLst/>
          </a:prstGeom>
          <a:noFill/>
        </p:spPr>
        <p:txBody>
          <a:bodyPr wrap="square" rtlCol="0">
            <a:spAutoFit/>
          </a:bodyPr>
          <a:lstStyle/>
          <a:p>
            <a:r>
              <a:rPr lang="en-GB" sz="3200" dirty="0" smtClean="0">
                <a:solidFill>
                  <a:srgbClr val="00B0F0"/>
                </a:solidFill>
              </a:rPr>
              <a:t>smoking</a:t>
            </a:r>
            <a:endParaRPr lang="en-GB" sz="3200" dirty="0">
              <a:solidFill>
                <a:srgbClr val="00B0F0"/>
              </a:solidFill>
            </a:endParaRPr>
          </a:p>
        </p:txBody>
      </p:sp>
      <p:sp>
        <p:nvSpPr>
          <p:cNvPr id="18" name="TextBox 17"/>
          <p:cNvSpPr txBox="1"/>
          <p:nvPr/>
        </p:nvSpPr>
        <p:spPr>
          <a:xfrm>
            <a:off x="4442691" y="1382018"/>
            <a:ext cx="1865745" cy="369332"/>
          </a:xfrm>
          <a:prstGeom prst="rect">
            <a:avLst/>
          </a:prstGeom>
          <a:noFill/>
        </p:spPr>
        <p:txBody>
          <a:bodyPr wrap="square" rtlCol="0">
            <a:spAutoFit/>
          </a:bodyPr>
          <a:lstStyle/>
          <a:p>
            <a:r>
              <a:rPr lang="en-GB" dirty="0" smtClean="0">
                <a:solidFill>
                  <a:srgbClr val="00B0F0"/>
                </a:solidFill>
              </a:rPr>
              <a:t>alcohol</a:t>
            </a:r>
            <a:endParaRPr lang="en-GB" dirty="0">
              <a:solidFill>
                <a:srgbClr val="00B0F0"/>
              </a:solidFill>
            </a:endParaRPr>
          </a:p>
        </p:txBody>
      </p:sp>
      <p:sp>
        <p:nvSpPr>
          <p:cNvPr id="19" name="TextBox 18"/>
          <p:cNvSpPr txBox="1"/>
          <p:nvPr/>
        </p:nvSpPr>
        <p:spPr>
          <a:xfrm>
            <a:off x="369455" y="2641600"/>
            <a:ext cx="2770909" cy="369332"/>
          </a:xfrm>
          <a:prstGeom prst="rect">
            <a:avLst/>
          </a:prstGeom>
          <a:noFill/>
        </p:spPr>
        <p:txBody>
          <a:bodyPr wrap="square" rtlCol="0">
            <a:spAutoFit/>
          </a:bodyPr>
          <a:lstStyle/>
          <a:p>
            <a:r>
              <a:rPr lang="en-GB" dirty="0">
                <a:solidFill>
                  <a:srgbClr val="00B0F0"/>
                </a:solidFill>
              </a:rPr>
              <a:t>m</a:t>
            </a:r>
            <a:r>
              <a:rPr lang="en-GB" dirty="0" smtClean="0">
                <a:solidFill>
                  <a:srgbClr val="00B0F0"/>
                </a:solidFill>
              </a:rPr>
              <a:t>etabolic disease</a:t>
            </a:r>
            <a:endParaRPr lang="en-GB" dirty="0">
              <a:solidFill>
                <a:srgbClr val="00B0F0"/>
              </a:solidFill>
            </a:endParaRPr>
          </a:p>
        </p:txBody>
      </p:sp>
      <p:sp>
        <p:nvSpPr>
          <p:cNvPr id="20" name="TextBox 19"/>
          <p:cNvSpPr txBox="1"/>
          <p:nvPr/>
        </p:nvSpPr>
        <p:spPr>
          <a:xfrm>
            <a:off x="7056582" y="5190714"/>
            <a:ext cx="3121891" cy="369332"/>
          </a:xfrm>
          <a:prstGeom prst="rect">
            <a:avLst/>
          </a:prstGeom>
          <a:noFill/>
        </p:spPr>
        <p:txBody>
          <a:bodyPr wrap="square" rtlCol="0">
            <a:spAutoFit/>
          </a:bodyPr>
          <a:lstStyle/>
          <a:p>
            <a:r>
              <a:rPr lang="en-GB" dirty="0" smtClean="0">
                <a:solidFill>
                  <a:srgbClr val="00B0F0"/>
                </a:solidFill>
              </a:rPr>
              <a:t>employment</a:t>
            </a:r>
            <a:endParaRPr lang="en-GB" dirty="0">
              <a:solidFill>
                <a:srgbClr val="00B0F0"/>
              </a:solidFill>
            </a:endParaRPr>
          </a:p>
        </p:txBody>
      </p:sp>
      <p:sp>
        <p:nvSpPr>
          <p:cNvPr id="21" name="TextBox 20"/>
          <p:cNvSpPr txBox="1"/>
          <p:nvPr/>
        </p:nvSpPr>
        <p:spPr>
          <a:xfrm>
            <a:off x="572654" y="4008582"/>
            <a:ext cx="2567710" cy="584775"/>
          </a:xfrm>
          <a:prstGeom prst="rect">
            <a:avLst/>
          </a:prstGeom>
          <a:noFill/>
        </p:spPr>
        <p:txBody>
          <a:bodyPr wrap="square" rtlCol="0">
            <a:spAutoFit/>
          </a:bodyPr>
          <a:lstStyle/>
          <a:p>
            <a:r>
              <a:rPr lang="en-GB" sz="3200" dirty="0" smtClean="0">
                <a:solidFill>
                  <a:srgbClr val="00B0F0"/>
                </a:solidFill>
              </a:rPr>
              <a:t>comorbidity</a:t>
            </a:r>
            <a:endParaRPr lang="en-GB" sz="3200" dirty="0">
              <a:solidFill>
                <a:srgbClr val="00B0F0"/>
              </a:solidFill>
            </a:endParaRPr>
          </a:p>
        </p:txBody>
      </p:sp>
      <p:sp>
        <p:nvSpPr>
          <p:cNvPr id="22" name="TextBox 21"/>
          <p:cNvSpPr txBox="1"/>
          <p:nvPr/>
        </p:nvSpPr>
        <p:spPr>
          <a:xfrm>
            <a:off x="8922327" y="4895273"/>
            <a:ext cx="3112655" cy="307777"/>
          </a:xfrm>
          <a:prstGeom prst="rect">
            <a:avLst/>
          </a:prstGeom>
          <a:noFill/>
        </p:spPr>
        <p:txBody>
          <a:bodyPr wrap="square" rtlCol="0">
            <a:spAutoFit/>
          </a:bodyPr>
          <a:lstStyle/>
          <a:p>
            <a:r>
              <a:rPr lang="en-GB" sz="1400" dirty="0">
                <a:solidFill>
                  <a:srgbClr val="00B0F0"/>
                </a:solidFill>
              </a:rPr>
              <a:t>s</a:t>
            </a:r>
            <a:r>
              <a:rPr lang="en-GB" sz="1400" dirty="0" smtClean="0">
                <a:solidFill>
                  <a:srgbClr val="00B0F0"/>
                </a:solidFill>
              </a:rPr>
              <a:t>ocial economic status</a:t>
            </a:r>
            <a:endParaRPr lang="en-GB" sz="1400" dirty="0">
              <a:solidFill>
                <a:srgbClr val="00B0F0"/>
              </a:solidFill>
            </a:endParaRPr>
          </a:p>
        </p:txBody>
      </p:sp>
      <p:sp>
        <p:nvSpPr>
          <p:cNvPr id="23" name="TextBox 22"/>
          <p:cNvSpPr txBox="1"/>
          <p:nvPr/>
        </p:nvSpPr>
        <p:spPr>
          <a:xfrm>
            <a:off x="369455" y="1610043"/>
            <a:ext cx="2382982" cy="523220"/>
          </a:xfrm>
          <a:prstGeom prst="rect">
            <a:avLst/>
          </a:prstGeom>
          <a:noFill/>
        </p:spPr>
        <p:txBody>
          <a:bodyPr wrap="square" rtlCol="0">
            <a:spAutoFit/>
          </a:bodyPr>
          <a:lstStyle/>
          <a:p>
            <a:r>
              <a:rPr lang="en-GB" sz="2800" dirty="0" smtClean="0">
                <a:solidFill>
                  <a:srgbClr val="00B0F0"/>
                </a:solidFill>
              </a:rPr>
              <a:t>ethnicity</a:t>
            </a:r>
            <a:endParaRPr lang="en-GB" sz="2800" dirty="0">
              <a:solidFill>
                <a:srgbClr val="00B0F0"/>
              </a:solidFill>
            </a:endParaRPr>
          </a:p>
        </p:txBody>
      </p:sp>
      <p:sp>
        <p:nvSpPr>
          <p:cNvPr id="24" name="TextBox 23"/>
          <p:cNvSpPr txBox="1"/>
          <p:nvPr/>
        </p:nvSpPr>
        <p:spPr>
          <a:xfrm>
            <a:off x="4844474" y="4710392"/>
            <a:ext cx="3015672" cy="369332"/>
          </a:xfrm>
          <a:prstGeom prst="rect">
            <a:avLst/>
          </a:prstGeom>
          <a:noFill/>
        </p:spPr>
        <p:txBody>
          <a:bodyPr wrap="square" rtlCol="0">
            <a:spAutoFit/>
          </a:bodyPr>
          <a:lstStyle/>
          <a:p>
            <a:r>
              <a:rPr lang="en-GB" dirty="0">
                <a:solidFill>
                  <a:srgbClr val="00B0F0"/>
                </a:solidFill>
              </a:rPr>
              <a:t>m</a:t>
            </a:r>
            <a:r>
              <a:rPr lang="en-GB" dirty="0" smtClean="0">
                <a:solidFill>
                  <a:srgbClr val="00B0F0"/>
                </a:solidFill>
              </a:rPr>
              <a:t>edical history</a:t>
            </a:r>
            <a:endParaRPr lang="en-GB" dirty="0">
              <a:solidFill>
                <a:srgbClr val="00B0F0"/>
              </a:solidFill>
            </a:endParaRPr>
          </a:p>
        </p:txBody>
      </p:sp>
    </p:spTree>
    <p:extLst>
      <p:ext uri="{BB962C8B-B14F-4D97-AF65-F5344CB8AC3E}">
        <p14:creationId xmlns:p14="http://schemas.microsoft.com/office/powerpoint/2010/main" val="99642789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p:cNvSpPr/>
          <p:nvPr/>
        </p:nvSpPr>
        <p:spPr>
          <a:xfrm>
            <a:off x="895928" y="1441864"/>
            <a:ext cx="10852727" cy="6858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p:cNvSpPr txBox="1"/>
          <p:nvPr/>
        </p:nvSpPr>
        <p:spPr>
          <a:xfrm>
            <a:off x="572654" y="304800"/>
            <a:ext cx="11185237" cy="584775"/>
          </a:xfrm>
          <a:prstGeom prst="rect">
            <a:avLst/>
          </a:prstGeom>
          <a:noFill/>
        </p:spPr>
        <p:txBody>
          <a:bodyPr wrap="square" rtlCol="0">
            <a:spAutoFit/>
          </a:bodyPr>
          <a:lstStyle/>
          <a:p>
            <a:r>
              <a:rPr lang="en-GB" sz="3200" dirty="0" smtClean="0"/>
              <a:t>A treatment might be offered at some clinics, not others</a:t>
            </a:r>
            <a:endParaRPr lang="en-GB" sz="3200" dirty="0"/>
          </a:p>
        </p:txBody>
      </p:sp>
      <p:sp>
        <p:nvSpPr>
          <p:cNvPr id="2" name="TextBox 1"/>
          <p:cNvSpPr txBox="1"/>
          <p:nvPr/>
        </p:nvSpPr>
        <p:spPr>
          <a:xfrm>
            <a:off x="3371273" y="2955636"/>
            <a:ext cx="1791854" cy="769441"/>
          </a:xfrm>
          <a:prstGeom prst="rect">
            <a:avLst/>
          </a:prstGeom>
          <a:noFill/>
        </p:spPr>
        <p:txBody>
          <a:bodyPr wrap="square" rtlCol="0">
            <a:spAutoFit/>
          </a:bodyPr>
          <a:lstStyle/>
          <a:p>
            <a:r>
              <a:rPr lang="en-GB" sz="4400" dirty="0" smtClean="0"/>
              <a:t>age</a:t>
            </a:r>
            <a:endParaRPr lang="en-GB" sz="4400" dirty="0"/>
          </a:p>
        </p:txBody>
      </p:sp>
      <p:sp>
        <p:nvSpPr>
          <p:cNvPr id="3" name="TextBox 2"/>
          <p:cNvSpPr txBox="1"/>
          <p:nvPr/>
        </p:nvSpPr>
        <p:spPr>
          <a:xfrm>
            <a:off x="6881091" y="2933067"/>
            <a:ext cx="2115127" cy="1200329"/>
          </a:xfrm>
          <a:prstGeom prst="rect">
            <a:avLst/>
          </a:prstGeom>
          <a:noFill/>
        </p:spPr>
        <p:txBody>
          <a:bodyPr wrap="square" rtlCol="0">
            <a:spAutoFit/>
          </a:bodyPr>
          <a:lstStyle/>
          <a:p>
            <a:pPr algn="ctr"/>
            <a:r>
              <a:rPr lang="en-GB" sz="2400" dirty="0"/>
              <a:t>p</a:t>
            </a:r>
            <a:r>
              <a:rPr lang="en-GB" sz="2400" dirty="0" smtClean="0"/>
              <a:t>revious stimulation response</a:t>
            </a:r>
            <a:endParaRPr lang="en-GB" sz="2400" dirty="0"/>
          </a:p>
        </p:txBody>
      </p:sp>
      <p:sp>
        <p:nvSpPr>
          <p:cNvPr id="5" name="TextBox 4"/>
          <p:cNvSpPr txBox="1"/>
          <p:nvPr/>
        </p:nvSpPr>
        <p:spPr>
          <a:xfrm>
            <a:off x="3629891" y="4184073"/>
            <a:ext cx="4147127" cy="461665"/>
          </a:xfrm>
          <a:prstGeom prst="rect">
            <a:avLst/>
          </a:prstGeom>
          <a:noFill/>
        </p:spPr>
        <p:txBody>
          <a:bodyPr wrap="square" rtlCol="0">
            <a:spAutoFit/>
          </a:bodyPr>
          <a:lstStyle/>
          <a:p>
            <a:r>
              <a:rPr lang="en-GB" sz="2400" dirty="0"/>
              <a:t>d</a:t>
            </a:r>
            <a:r>
              <a:rPr lang="en-GB" sz="2400" dirty="0" smtClean="0"/>
              <a:t>uration of infertility</a:t>
            </a:r>
            <a:endParaRPr lang="en-GB" sz="2400" dirty="0"/>
          </a:p>
        </p:txBody>
      </p:sp>
      <p:sp>
        <p:nvSpPr>
          <p:cNvPr id="6" name="TextBox 5"/>
          <p:cNvSpPr txBox="1"/>
          <p:nvPr/>
        </p:nvSpPr>
        <p:spPr>
          <a:xfrm>
            <a:off x="2235200" y="4821382"/>
            <a:ext cx="3435927" cy="369332"/>
          </a:xfrm>
          <a:prstGeom prst="rect">
            <a:avLst/>
          </a:prstGeom>
          <a:noFill/>
        </p:spPr>
        <p:txBody>
          <a:bodyPr wrap="square" rtlCol="0">
            <a:spAutoFit/>
          </a:bodyPr>
          <a:lstStyle/>
          <a:p>
            <a:r>
              <a:rPr lang="en-GB" dirty="0" smtClean="0"/>
              <a:t>evidence</a:t>
            </a:r>
            <a:endParaRPr lang="en-GB" dirty="0"/>
          </a:p>
        </p:txBody>
      </p:sp>
      <p:sp>
        <p:nvSpPr>
          <p:cNvPr id="7" name="TextBox 6"/>
          <p:cNvSpPr txBox="1"/>
          <p:nvPr/>
        </p:nvSpPr>
        <p:spPr>
          <a:xfrm>
            <a:off x="1985818" y="2068945"/>
            <a:ext cx="3685309" cy="369332"/>
          </a:xfrm>
          <a:prstGeom prst="rect">
            <a:avLst/>
          </a:prstGeom>
          <a:noFill/>
        </p:spPr>
        <p:txBody>
          <a:bodyPr wrap="square" rtlCol="0">
            <a:spAutoFit/>
          </a:bodyPr>
          <a:lstStyle/>
          <a:p>
            <a:r>
              <a:rPr lang="en-GB" dirty="0" smtClean="0"/>
              <a:t>Cause of subfertility</a:t>
            </a:r>
            <a:endParaRPr lang="en-GB" dirty="0"/>
          </a:p>
        </p:txBody>
      </p:sp>
      <p:sp>
        <p:nvSpPr>
          <p:cNvPr id="8" name="TextBox 7"/>
          <p:cNvSpPr txBox="1"/>
          <p:nvPr/>
        </p:nvSpPr>
        <p:spPr>
          <a:xfrm>
            <a:off x="6502399" y="1890492"/>
            <a:ext cx="2050473" cy="646331"/>
          </a:xfrm>
          <a:prstGeom prst="rect">
            <a:avLst/>
          </a:prstGeom>
          <a:noFill/>
        </p:spPr>
        <p:txBody>
          <a:bodyPr wrap="square" rtlCol="0">
            <a:spAutoFit/>
          </a:bodyPr>
          <a:lstStyle/>
          <a:p>
            <a:r>
              <a:rPr lang="en-GB" sz="3600" dirty="0" smtClean="0"/>
              <a:t>cost</a:t>
            </a:r>
            <a:endParaRPr lang="en-GB" sz="3600" dirty="0"/>
          </a:p>
        </p:txBody>
      </p:sp>
      <p:sp>
        <p:nvSpPr>
          <p:cNvPr id="9" name="TextBox 8"/>
          <p:cNvSpPr txBox="1"/>
          <p:nvPr/>
        </p:nvSpPr>
        <p:spPr>
          <a:xfrm>
            <a:off x="6797964" y="4645738"/>
            <a:ext cx="2789381" cy="369332"/>
          </a:xfrm>
          <a:prstGeom prst="rect">
            <a:avLst/>
          </a:prstGeom>
          <a:noFill/>
        </p:spPr>
        <p:txBody>
          <a:bodyPr wrap="square" rtlCol="0">
            <a:spAutoFit/>
          </a:bodyPr>
          <a:lstStyle/>
          <a:p>
            <a:r>
              <a:rPr lang="en-GB" dirty="0"/>
              <a:t>o</a:t>
            </a:r>
            <a:r>
              <a:rPr lang="en-GB" dirty="0" smtClean="0"/>
              <a:t>varian reserve</a:t>
            </a:r>
            <a:endParaRPr lang="en-GB" dirty="0"/>
          </a:p>
        </p:txBody>
      </p:sp>
      <p:sp>
        <p:nvSpPr>
          <p:cNvPr id="10" name="TextBox 9"/>
          <p:cNvSpPr txBox="1"/>
          <p:nvPr/>
        </p:nvSpPr>
        <p:spPr>
          <a:xfrm>
            <a:off x="923636" y="3251200"/>
            <a:ext cx="2216728" cy="646331"/>
          </a:xfrm>
          <a:prstGeom prst="rect">
            <a:avLst/>
          </a:prstGeom>
          <a:noFill/>
        </p:spPr>
        <p:txBody>
          <a:bodyPr wrap="square" rtlCol="0">
            <a:spAutoFit/>
          </a:bodyPr>
          <a:lstStyle/>
          <a:p>
            <a:r>
              <a:rPr lang="en-GB" dirty="0"/>
              <a:t>c</a:t>
            </a:r>
            <a:r>
              <a:rPr lang="en-GB" dirty="0" smtClean="0"/>
              <a:t>linician experience with ‘similar patients’</a:t>
            </a:r>
            <a:endParaRPr lang="en-GB" dirty="0"/>
          </a:p>
        </p:txBody>
      </p:sp>
      <p:sp>
        <p:nvSpPr>
          <p:cNvPr id="11" name="TextBox 10"/>
          <p:cNvSpPr txBox="1"/>
          <p:nvPr/>
        </p:nvSpPr>
        <p:spPr>
          <a:xfrm>
            <a:off x="9494982" y="3725077"/>
            <a:ext cx="1745673" cy="369332"/>
          </a:xfrm>
          <a:prstGeom prst="rect">
            <a:avLst/>
          </a:prstGeom>
          <a:noFill/>
        </p:spPr>
        <p:txBody>
          <a:bodyPr wrap="square" rtlCol="0">
            <a:spAutoFit/>
          </a:bodyPr>
          <a:lstStyle/>
          <a:p>
            <a:r>
              <a:rPr lang="en-GB" dirty="0" smtClean="0"/>
              <a:t>BMI</a:t>
            </a:r>
            <a:endParaRPr lang="en-GB" dirty="0"/>
          </a:p>
        </p:txBody>
      </p:sp>
      <p:sp>
        <p:nvSpPr>
          <p:cNvPr id="12" name="TextBox 11"/>
          <p:cNvSpPr txBox="1"/>
          <p:nvPr/>
        </p:nvSpPr>
        <p:spPr>
          <a:xfrm>
            <a:off x="4544291" y="2438277"/>
            <a:ext cx="2115127" cy="646331"/>
          </a:xfrm>
          <a:prstGeom prst="rect">
            <a:avLst/>
          </a:prstGeom>
          <a:noFill/>
        </p:spPr>
        <p:txBody>
          <a:bodyPr wrap="square" rtlCol="0">
            <a:spAutoFit/>
          </a:bodyPr>
          <a:lstStyle/>
          <a:p>
            <a:pPr algn="ctr"/>
            <a:r>
              <a:rPr lang="en-GB" dirty="0" smtClean="0"/>
              <a:t>Number of previous attempts</a:t>
            </a:r>
            <a:endParaRPr lang="en-GB" dirty="0"/>
          </a:p>
        </p:txBody>
      </p:sp>
      <p:sp>
        <p:nvSpPr>
          <p:cNvPr id="13" name="TextBox 12"/>
          <p:cNvSpPr txBox="1"/>
          <p:nvPr/>
        </p:nvSpPr>
        <p:spPr>
          <a:xfrm>
            <a:off x="8155709" y="1819564"/>
            <a:ext cx="2493818" cy="646331"/>
          </a:xfrm>
          <a:prstGeom prst="rect">
            <a:avLst/>
          </a:prstGeom>
          <a:noFill/>
        </p:spPr>
        <p:txBody>
          <a:bodyPr wrap="square" rtlCol="0">
            <a:spAutoFit/>
          </a:bodyPr>
          <a:lstStyle/>
          <a:p>
            <a:pPr algn="ctr"/>
            <a:r>
              <a:rPr lang="en-GB" dirty="0" smtClean="0"/>
              <a:t>Experiences of friends/ family</a:t>
            </a:r>
            <a:endParaRPr lang="en-GB" dirty="0"/>
          </a:p>
        </p:txBody>
      </p:sp>
      <p:sp>
        <p:nvSpPr>
          <p:cNvPr id="14" name="TextBox 13"/>
          <p:cNvSpPr txBox="1"/>
          <p:nvPr/>
        </p:nvSpPr>
        <p:spPr>
          <a:xfrm>
            <a:off x="8552872" y="4331855"/>
            <a:ext cx="2530764" cy="369332"/>
          </a:xfrm>
          <a:prstGeom prst="rect">
            <a:avLst/>
          </a:prstGeom>
          <a:noFill/>
        </p:spPr>
        <p:txBody>
          <a:bodyPr wrap="square" rtlCol="0">
            <a:spAutoFit/>
          </a:bodyPr>
          <a:lstStyle/>
          <a:p>
            <a:pPr algn="ctr"/>
            <a:r>
              <a:rPr lang="en-GB" dirty="0"/>
              <a:t>o</a:t>
            </a:r>
            <a:r>
              <a:rPr lang="en-GB" dirty="0" smtClean="0"/>
              <a:t>nline information</a:t>
            </a:r>
            <a:endParaRPr lang="en-GB" dirty="0"/>
          </a:p>
        </p:txBody>
      </p:sp>
      <p:sp>
        <p:nvSpPr>
          <p:cNvPr id="15" name="TextBox 14"/>
          <p:cNvSpPr txBox="1"/>
          <p:nvPr/>
        </p:nvSpPr>
        <p:spPr>
          <a:xfrm>
            <a:off x="3486727" y="5328953"/>
            <a:ext cx="4488873" cy="369332"/>
          </a:xfrm>
          <a:prstGeom prst="rect">
            <a:avLst/>
          </a:prstGeom>
          <a:noFill/>
        </p:spPr>
        <p:txBody>
          <a:bodyPr wrap="square" rtlCol="0">
            <a:spAutoFit/>
          </a:bodyPr>
          <a:lstStyle/>
          <a:p>
            <a:r>
              <a:rPr lang="en-GB" dirty="0" smtClean="0"/>
              <a:t>Previous fertilisation issues</a:t>
            </a:r>
            <a:endParaRPr lang="en-GB" dirty="0"/>
          </a:p>
        </p:txBody>
      </p:sp>
      <p:sp>
        <p:nvSpPr>
          <p:cNvPr id="16" name="TextBox 15"/>
          <p:cNvSpPr txBox="1"/>
          <p:nvPr/>
        </p:nvSpPr>
        <p:spPr>
          <a:xfrm>
            <a:off x="9910618" y="2933067"/>
            <a:ext cx="1579418" cy="646331"/>
          </a:xfrm>
          <a:prstGeom prst="rect">
            <a:avLst/>
          </a:prstGeom>
          <a:noFill/>
        </p:spPr>
        <p:txBody>
          <a:bodyPr wrap="square" rtlCol="0">
            <a:spAutoFit/>
          </a:bodyPr>
          <a:lstStyle/>
          <a:p>
            <a:r>
              <a:rPr lang="en-GB" sz="3600" dirty="0" smtClean="0">
                <a:solidFill>
                  <a:srgbClr val="00B0F0"/>
                </a:solidFill>
              </a:rPr>
              <a:t>diet</a:t>
            </a:r>
            <a:endParaRPr lang="en-GB" sz="3600" dirty="0">
              <a:solidFill>
                <a:srgbClr val="00B0F0"/>
              </a:solidFill>
            </a:endParaRPr>
          </a:p>
        </p:txBody>
      </p:sp>
      <p:sp>
        <p:nvSpPr>
          <p:cNvPr id="17" name="TextBox 16"/>
          <p:cNvSpPr txBox="1"/>
          <p:nvPr/>
        </p:nvSpPr>
        <p:spPr>
          <a:xfrm>
            <a:off x="6502399" y="1032985"/>
            <a:ext cx="3232728" cy="584775"/>
          </a:xfrm>
          <a:prstGeom prst="rect">
            <a:avLst/>
          </a:prstGeom>
          <a:noFill/>
        </p:spPr>
        <p:txBody>
          <a:bodyPr wrap="square" rtlCol="0">
            <a:spAutoFit/>
          </a:bodyPr>
          <a:lstStyle/>
          <a:p>
            <a:r>
              <a:rPr lang="en-GB" sz="3200" dirty="0" smtClean="0">
                <a:solidFill>
                  <a:srgbClr val="00B0F0"/>
                </a:solidFill>
              </a:rPr>
              <a:t>smoking</a:t>
            </a:r>
            <a:endParaRPr lang="en-GB" sz="3200" dirty="0">
              <a:solidFill>
                <a:srgbClr val="00B0F0"/>
              </a:solidFill>
            </a:endParaRPr>
          </a:p>
        </p:txBody>
      </p:sp>
      <p:sp>
        <p:nvSpPr>
          <p:cNvPr id="18" name="TextBox 17"/>
          <p:cNvSpPr txBox="1"/>
          <p:nvPr/>
        </p:nvSpPr>
        <p:spPr>
          <a:xfrm>
            <a:off x="4442691" y="1382018"/>
            <a:ext cx="1865745" cy="369332"/>
          </a:xfrm>
          <a:prstGeom prst="rect">
            <a:avLst/>
          </a:prstGeom>
          <a:noFill/>
        </p:spPr>
        <p:txBody>
          <a:bodyPr wrap="square" rtlCol="0">
            <a:spAutoFit/>
          </a:bodyPr>
          <a:lstStyle/>
          <a:p>
            <a:r>
              <a:rPr lang="en-GB" dirty="0" smtClean="0">
                <a:solidFill>
                  <a:srgbClr val="00B0F0"/>
                </a:solidFill>
              </a:rPr>
              <a:t>alcohol</a:t>
            </a:r>
            <a:endParaRPr lang="en-GB" dirty="0">
              <a:solidFill>
                <a:srgbClr val="00B0F0"/>
              </a:solidFill>
            </a:endParaRPr>
          </a:p>
        </p:txBody>
      </p:sp>
      <p:sp>
        <p:nvSpPr>
          <p:cNvPr id="19" name="TextBox 18"/>
          <p:cNvSpPr txBox="1"/>
          <p:nvPr/>
        </p:nvSpPr>
        <p:spPr>
          <a:xfrm>
            <a:off x="369455" y="2641600"/>
            <a:ext cx="2770909" cy="369332"/>
          </a:xfrm>
          <a:prstGeom prst="rect">
            <a:avLst/>
          </a:prstGeom>
          <a:noFill/>
        </p:spPr>
        <p:txBody>
          <a:bodyPr wrap="square" rtlCol="0">
            <a:spAutoFit/>
          </a:bodyPr>
          <a:lstStyle/>
          <a:p>
            <a:r>
              <a:rPr lang="en-GB" dirty="0">
                <a:solidFill>
                  <a:srgbClr val="00B0F0"/>
                </a:solidFill>
              </a:rPr>
              <a:t>m</a:t>
            </a:r>
            <a:r>
              <a:rPr lang="en-GB" dirty="0" smtClean="0">
                <a:solidFill>
                  <a:srgbClr val="00B0F0"/>
                </a:solidFill>
              </a:rPr>
              <a:t>etabolic disease</a:t>
            </a:r>
            <a:endParaRPr lang="en-GB" dirty="0">
              <a:solidFill>
                <a:srgbClr val="00B0F0"/>
              </a:solidFill>
            </a:endParaRPr>
          </a:p>
        </p:txBody>
      </p:sp>
      <p:sp>
        <p:nvSpPr>
          <p:cNvPr id="20" name="TextBox 19"/>
          <p:cNvSpPr txBox="1"/>
          <p:nvPr/>
        </p:nvSpPr>
        <p:spPr>
          <a:xfrm>
            <a:off x="7056582" y="5190714"/>
            <a:ext cx="3121891" cy="369332"/>
          </a:xfrm>
          <a:prstGeom prst="rect">
            <a:avLst/>
          </a:prstGeom>
          <a:noFill/>
        </p:spPr>
        <p:txBody>
          <a:bodyPr wrap="square" rtlCol="0">
            <a:spAutoFit/>
          </a:bodyPr>
          <a:lstStyle/>
          <a:p>
            <a:r>
              <a:rPr lang="en-GB" dirty="0" smtClean="0">
                <a:solidFill>
                  <a:srgbClr val="00B0F0"/>
                </a:solidFill>
              </a:rPr>
              <a:t>employment</a:t>
            </a:r>
            <a:endParaRPr lang="en-GB" dirty="0">
              <a:solidFill>
                <a:srgbClr val="00B0F0"/>
              </a:solidFill>
            </a:endParaRPr>
          </a:p>
        </p:txBody>
      </p:sp>
      <p:sp>
        <p:nvSpPr>
          <p:cNvPr id="21" name="TextBox 20"/>
          <p:cNvSpPr txBox="1"/>
          <p:nvPr/>
        </p:nvSpPr>
        <p:spPr>
          <a:xfrm>
            <a:off x="572654" y="4008582"/>
            <a:ext cx="2567710" cy="584775"/>
          </a:xfrm>
          <a:prstGeom prst="rect">
            <a:avLst/>
          </a:prstGeom>
          <a:noFill/>
        </p:spPr>
        <p:txBody>
          <a:bodyPr wrap="square" rtlCol="0">
            <a:spAutoFit/>
          </a:bodyPr>
          <a:lstStyle/>
          <a:p>
            <a:r>
              <a:rPr lang="en-GB" sz="3200" dirty="0" smtClean="0">
                <a:solidFill>
                  <a:srgbClr val="00B0F0"/>
                </a:solidFill>
              </a:rPr>
              <a:t>comorbidity</a:t>
            </a:r>
            <a:endParaRPr lang="en-GB" sz="3200" dirty="0">
              <a:solidFill>
                <a:srgbClr val="00B0F0"/>
              </a:solidFill>
            </a:endParaRPr>
          </a:p>
        </p:txBody>
      </p:sp>
      <p:sp>
        <p:nvSpPr>
          <p:cNvPr id="22" name="TextBox 21"/>
          <p:cNvSpPr txBox="1"/>
          <p:nvPr/>
        </p:nvSpPr>
        <p:spPr>
          <a:xfrm>
            <a:off x="8922327" y="4895273"/>
            <a:ext cx="3112655" cy="307777"/>
          </a:xfrm>
          <a:prstGeom prst="rect">
            <a:avLst/>
          </a:prstGeom>
          <a:noFill/>
        </p:spPr>
        <p:txBody>
          <a:bodyPr wrap="square" rtlCol="0">
            <a:spAutoFit/>
          </a:bodyPr>
          <a:lstStyle/>
          <a:p>
            <a:r>
              <a:rPr lang="en-GB" sz="1400" dirty="0">
                <a:solidFill>
                  <a:srgbClr val="00B0F0"/>
                </a:solidFill>
              </a:rPr>
              <a:t>s</a:t>
            </a:r>
            <a:r>
              <a:rPr lang="en-GB" sz="1400" dirty="0" smtClean="0">
                <a:solidFill>
                  <a:srgbClr val="00B0F0"/>
                </a:solidFill>
              </a:rPr>
              <a:t>ocial economic status</a:t>
            </a:r>
            <a:endParaRPr lang="en-GB" sz="1400" dirty="0">
              <a:solidFill>
                <a:srgbClr val="00B0F0"/>
              </a:solidFill>
            </a:endParaRPr>
          </a:p>
        </p:txBody>
      </p:sp>
      <p:sp>
        <p:nvSpPr>
          <p:cNvPr id="23" name="TextBox 22"/>
          <p:cNvSpPr txBox="1"/>
          <p:nvPr/>
        </p:nvSpPr>
        <p:spPr>
          <a:xfrm>
            <a:off x="369455" y="1610043"/>
            <a:ext cx="2382982" cy="523220"/>
          </a:xfrm>
          <a:prstGeom prst="rect">
            <a:avLst/>
          </a:prstGeom>
          <a:noFill/>
        </p:spPr>
        <p:txBody>
          <a:bodyPr wrap="square" rtlCol="0">
            <a:spAutoFit/>
          </a:bodyPr>
          <a:lstStyle/>
          <a:p>
            <a:r>
              <a:rPr lang="en-GB" sz="2800" dirty="0" smtClean="0">
                <a:solidFill>
                  <a:srgbClr val="00B0F0"/>
                </a:solidFill>
              </a:rPr>
              <a:t>ethnicity</a:t>
            </a:r>
            <a:endParaRPr lang="en-GB" sz="2800" dirty="0">
              <a:solidFill>
                <a:srgbClr val="00B0F0"/>
              </a:solidFill>
            </a:endParaRPr>
          </a:p>
        </p:txBody>
      </p:sp>
      <p:sp>
        <p:nvSpPr>
          <p:cNvPr id="24" name="TextBox 23"/>
          <p:cNvSpPr txBox="1"/>
          <p:nvPr/>
        </p:nvSpPr>
        <p:spPr>
          <a:xfrm>
            <a:off x="4844474" y="4710392"/>
            <a:ext cx="3015672" cy="369332"/>
          </a:xfrm>
          <a:prstGeom prst="rect">
            <a:avLst/>
          </a:prstGeom>
          <a:noFill/>
        </p:spPr>
        <p:txBody>
          <a:bodyPr wrap="square" rtlCol="0">
            <a:spAutoFit/>
          </a:bodyPr>
          <a:lstStyle/>
          <a:p>
            <a:r>
              <a:rPr lang="en-GB" dirty="0">
                <a:solidFill>
                  <a:srgbClr val="00B0F0"/>
                </a:solidFill>
              </a:rPr>
              <a:t>m</a:t>
            </a:r>
            <a:r>
              <a:rPr lang="en-GB" dirty="0" smtClean="0">
                <a:solidFill>
                  <a:srgbClr val="00B0F0"/>
                </a:solidFill>
              </a:rPr>
              <a:t>edical history</a:t>
            </a:r>
            <a:endParaRPr lang="en-GB" dirty="0">
              <a:solidFill>
                <a:srgbClr val="00B0F0"/>
              </a:solidFill>
            </a:endParaRPr>
          </a:p>
        </p:txBody>
      </p:sp>
    </p:spTree>
    <p:extLst>
      <p:ext uri="{BB962C8B-B14F-4D97-AF65-F5344CB8AC3E}">
        <p14:creationId xmlns:p14="http://schemas.microsoft.com/office/powerpoint/2010/main" val="321546071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p:cNvSpPr/>
          <p:nvPr/>
        </p:nvSpPr>
        <p:spPr>
          <a:xfrm>
            <a:off x="858983" y="1573860"/>
            <a:ext cx="10852727" cy="6858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p:cNvSpPr txBox="1"/>
          <p:nvPr/>
        </p:nvSpPr>
        <p:spPr>
          <a:xfrm>
            <a:off x="572654" y="304800"/>
            <a:ext cx="11185237" cy="584775"/>
          </a:xfrm>
          <a:prstGeom prst="rect">
            <a:avLst/>
          </a:prstGeom>
          <a:noFill/>
        </p:spPr>
        <p:txBody>
          <a:bodyPr wrap="square" rtlCol="0">
            <a:spAutoFit/>
          </a:bodyPr>
          <a:lstStyle/>
          <a:p>
            <a:r>
              <a:rPr lang="en-GB" sz="3200" dirty="0" smtClean="0"/>
              <a:t>Possible differences between centres…</a:t>
            </a:r>
            <a:endParaRPr lang="en-GB" sz="3200" dirty="0"/>
          </a:p>
        </p:txBody>
      </p:sp>
      <p:sp>
        <p:nvSpPr>
          <p:cNvPr id="2" name="TextBox 1"/>
          <p:cNvSpPr txBox="1"/>
          <p:nvPr/>
        </p:nvSpPr>
        <p:spPr>
          <a:xfrm>
            <a:off x="3371273" y="2955636"/>
            <a:ext cx="1791854" cy="769441"/>
          </a:xfrm>
          <a:prstGeom prst="rect">
            <a:avLst/>
          </a:prstGeom>
          <a:noFill/>
        </p:spPr>
        <p:txBody>
          <a:bodyPr wrap="square" rtlCol="0">
            <a:spAutoFit/>
          </a:bodyPr>
          <a:lstStyle/>
          <a:p>
            <a:r>
              <a:rPr lang="en-GB" sz="4400" dirty="0" smtClean="0"/>
              <a:t>age</a:t>
            </a:r>
            <a:endParaRPr lang="en-GB" sz="4400" dirty="0"/>
          </a:p>
        </p:txBody>
      </p:sp>
      <p:sp>
        <p:nvSpPr>
          <p:cNvPr id="3" name="TextBox 2"/>
          <p:cNvSpPr txBox="1"/>
          <p:nvPr/>
        </p:nvSpPr>
        <p:spPr>
          <a:xfrm>
            <a:off x="6881091" y="2933067"/>
            <a:ext cx="2115127" cy="1200329"/>
          </a:xfrm>
          <a:prstGeom prst="rect">
            <a:avLst/>
          </a:prstGeom>
          <a:noFill/>
        </p:spPr>
        <p:txBody>
          <a:bodyPr wrap="square" rtlCol="0">
            <a:spAutoFit/>
          </a:bodyPr>
          <a:lstStyle/>
          <a:p>
            <a:pPr algn="ctr"/>
            <a:r>
              <a:rPr lang="en-GB" sz="2400" dirty="0"/>
              <a:t>p</a:t>
            </a:r>
            <a:r>
              <a:rPr lang="en-GB" sz="2400" dirty="0" smtClean="0"/>
              <a:t>revious stimulation response</a:t>
            </a:r>
            <a:endParaRPr lang="en-GB" sz="2400" dirty="0"/>
          </a:p>
        </p:txBody>
      </p:sp>
      <p:sp>
        <p:nvSpPr>
          <p:cNvPr id="5" name="TextBox 4"/>
          <p:cNvSpPr txBox="1"/>
          <p:nvPr/>
        </p:nvSpPr>
        <p:spPr>
          <a:xfrm>
            <a:off x="3629891" y="4184073"/>
            <a:ext cx="4147127" cy="461665"/>
          </a:xfrm>
          <a:prstGeom prst="rect">
            <a:avLst/>
          </a:prstGeom>
          <a:noFill/>
        </p:spPr>
        <p:txBody>
          <a:bodyPr wrap="square" rtlCol="0">
            <a:spAutoFit/>
          </a:bodyPr>
          <a:lstStyle/>
          <a:p>
            <a:r>
              <a:rPr lang="en-GB" sz="2400" dirty="0"/>
              <a:t>d</a:t>
            </a:r>
            <a:r>
              <a:rPr lang="en-GB" sz="2400" dirty="0" smtClean="0"/>
              <a:t>uration of infertility</a:t>
            </a:r>
            <a:endParaRPr lang="en-GB" sz="2400" dirty="0"/>
          </a:p>
        </p:txBody>
      </p:sp>
      <p:sp>
        <p:nvSpPr>
          <p:cNvPr id="6" name="TextBox 5"/>
          <p:cNvSpPr txBox="1"/>
          <p:nvPr/>
        </p:nvSpPr>
        <p:spPr>
          <a:xfrm>
            <a:off x="2235200" y="4821382"/>
            <a:ext cx="3435927" cy="369332"/>
          </a:xfrm>
          <a:prstGeom prst="rect">
            <a:avLst/>
          </a:prstGeom>
          <a:noFill/>
        </p:spPr>
        <p:txBody>
          <a:bodyPr wrap="square" rtlCol="0">
            <a:spAutoFit/>
          </a:bodyPr>
          <a:lstStyle/>
          <a:p>
            <a:r>
              <a:rPr lang="en-GB" dirty="0" smtClean="0"/>
              <a:t>evidence</a:t>
            </a:r>
            <a:endParaRPr lang="en-GB" dirty="0"/>
          </a:p>
        </p:txBody>
      </p:sp>
      <p:sp>
        <p:nvSpPr>
          <p:cNvPr id="7" name="TextBox 6"/>
          <p:cNvSpPr txBox="1"/>
          <p:nvPr/>
        </p:nvSpPr>
        <p:spPr>
          <a:xfrm>
            <a:off x="1985818" y="2068945"/>
            <a:ext cx="3685309" cy="369332"/>
          </a:xfrm>
          <a:prstGeom prst="rect">
            <a:avLst/>
          </a:prstGeom>
          <a:noFill/>
        </p:spPr>
        <p:txBody>
          <a:bodyPr wrap="square" rtlCol="0">
            <a:spAutoFit/>
          </a:bodyPr>
          <a:lstStyle/>
          <a:p>
            <a:r>
              <a:rPr lang="en-GB" dirty="0" smtClean="0"/>
              <a:t>Cause of subfertility</a:t>
            </a:r>
            <a:endParaRPr lang="en-GB" dirty="0"/>
          </a:p>
        </p:txBody>
      </p:sp>
      <p:sp>
        <p:nvSpPr>
          <p:cNvPr id="8" name="TextBox 7"/>
          <p:cNvSpPr txBox="1"/>
          <p:nvPr/>
        </p:nvSpPr>
        <p:spPr>
          <a:xfrm>
            <a:off x="6502399" y="1890492"/>
            <a:ext cx="2050473" cy="646331"/>
          </a:xfrm>
          <a:prstGeom prst="rect">
            <a:avLst/>
          </a:prstGeom>
          <a:noFill/>
        </p:spPr>
        <p:txBody>
          <a:bodyPr wrap="square" rtlCol="0">
            <a:spAutoFit/>
          </a:bodyPr>
          <a:lstStyle/>
          <a:p>
            <a:r>
              <a:rPr lang="en-GB" sz="3600" dirty="0" smtClean="0"/>
              <a:t>cost</a:t>
            </a:r>
            <a:endParaRPr lang="en-GB" sz="3600" dirty="0"/>
          </a:p>
        </p:txBody>
      </p:sp>
      <p:sp>
        <p:nvSpPr>
          <p:cNvPr id="9" name="TextBox 8"/>
          <p:cNvSpPr txBox="1"/>
          <p:nvPr/>
        </p:nvSpPr>
        <p:spPr>
          <a:xfrm>
            <a:off x="6797964" y="4645738"/>
            <a:ext cx="2789381" cy="369332"/>
          </a:xfrm>
          <a:prstGeom prst="rect">
            <a:avLst/>
          </a:prstGeom>
          <a:noFill/>
        </p:spPr>
        <p:txBody>
          <a:bodyPr wrap="square" rtlCol="0">
            <a:spAutoFit/>
          </a:bodyPr>
          <a:lstStyle/>
          <a:p>
            <a:r>
              <a:rPr lang="en-GB" dirty="0"/>
              <a:t>o</a:t>
            </a:r>
            <a:r>
              <a:rPr lang="en-GB" dirty="0" smtClean="0"/>
              <a:t>varian reserve</a:t>
            </a:r>
            <a:endParaRPr lang="en-GB" dirty="0"/>
          </a:p>
        </p:txBody>
      </p:sp>
      <p:sp>
        <p:nvSpPr>
          <p:cNvPr id="10" name="TextBox 9"/>
          <p:cNvSpPr txBox="1"/>
          <p:nvPr/>
        </p:nvSpPr>
        <p:spPr>
          <a:xfrm>
            <a:off x="923636" y="3251200"/>
            <a:ext cx="2216728" cy="646331"/>
          </a:xfrm>
          <a:prstGeom prst="rect">
            <a:avLst/>
          </a:prstGeom>
          <a:noFill/>
        </p:spPr>
        <p:txBody>
          <a:bodyPr wrap="square" rtlCol="0">
            <a:spAutoFit/>
          </a:bodyPr>
          <a:lstStyle/>
          <a:p>
            <a:r>
              <a:rPr lang="en-GB" dirty="0"/>
              <a:t>c</a:t>
            </a:r>
            <a:r>
              <a:rPr lang="en-GB" dirty="0" smtClean="0"/>
              <a:t>linician experience with ‘similar patients’</a:t>
            </a:r>
            <a:endParaRPr lang="en-GB" dirty="0"/>
          </a:p>
        </p:txBody>
      </p:sp>
      <p:sp>
        <p:nvSpPr>
          <p:cNvPr id="11" name="TextBox 10"/>
          <p:cNvSpPr txBox="1"/>
          <p:nvPr/>
        </p:nvSpPr>
        <p:spPr>
          <a:xfrm>
            <a:off x="9494982" y="3725077"/>
            <a:ext cx="1745673" cy="369332"/>
          </a:xfrm>
          <a:prstGeom prst="rect">
            <a:avLst/>
          </a:prstGeom>
          <a:noFill/>
        </p:spPr>
        <p:txBody>
          <a:bodyPr wrap="square" rtlCol="0">
            <a:spAutoFit/>
          </a:bodyPr>
          <a:lstStyle/>
          <a:p>
            <a:r>
              <a:rPr lang="en-GB" dirty="0" smtClean="0"/>
              <a:t>BMI</a:t>
            </a:r>
            <a:endParaRPr lang="en-GB" dirty="0"/>
          </a:p>
        </p:txBody>
      </p:sp>
      <p:sp>
        <p:nvSpPr>
          <p:cNvPr id="12" name="TextBox 11"/>
          <p:cNvSpPr txBox="1"/>
          <p:nvPr/>
        </p:nvSpPr>
        <p:spPr>
          <a:xfrm>
            <a:off x="4544291" y="2438277"/>
            <a:ext cx="2115127" cy="646331"/>
          </a:xfrm>
          <a:prstGeom prst="rect">
            <a:avLst/>
          </a:prstGeom>
          <a:noFill/>
        </p:spPr>
        <p:txBody>
          <a:bodyPr wrap="square" rtlCol="0">
            <a:spAutoFit/>
          </a:bodyPr>
          <a:lstStyle/>
          <a:p>
            <a:pPr algn="ctr"/>
            <a:r>
              <a:rPr lang="en-GB" dirty="0" smtClean="0"/>
              <a:t>Number of previous attempts</a:t>
            </a:r>
            <a:endParaRPr lang="en-GB" dirty="0"/>
          </a:p>
        </p:txBody>
      </p:sp>
      <p:sp>
        <p:nvSpPr>
          <p:cNvPr id="13" name="TextBox 12"/>
          <p:cNvSpPr txBox="1"/>
          <p:nvPr/>
        </p:nvSpPr>
        <p:spPr>
          <a:xfrm>
            <a:off x="8155709" y="1819564"/>
            <a:ext cx="2493818" cy="646331"/>
          </a:xfrm>
          <a:prstGeom prst="rect">
            <a:avLst/>
          </a:prstGeom>
          <a:noFill/>
        </p:spPr>
        <p:txBody>
          <a:bodyPr wrap="square" rtlCol="0">
            <a:spAutoFit/>
          </a:bodyPr>
          <a:lstStyle/>
          <a:p>
            <a:pPr algn="ctr"/>
            <a:r>
              <a:rPr lang="en-GB" dirty="0" smtClean="0"/>
              <a:t>Experiences of friends/ family</a:t>
            </a:r>
            <a:endParaRPr lang="en-GB" dirty="0"/>
          </a:p>
        </p:txBody>
      </p:sp>
      <p:sp>
        <p:nvSpPr>
          <p:cNvPr id="14" name="TextBox 13"/>
          <p:cNvSpPr txBox="1"/>
          <p:nvPr/>
        </p:nvSpPr>
        <p:spPr>
          <a:xfrm>
            <a:off x="8552872" y="4331855"/>
            <a:ext cx="2530764" cy="369332"/>
          </a:xfrm>
          <a:prstGeom prst="rect">
            <a:avLst/>
          </a:prstGeom>
          <a:noFill/>
        </p:spPr>
        <p:txBody>
          <a:bodyPr wrap="square" rtlCol="0">
            <a:spAutoFit/>
          </a:bodyPr>
          <a:lstStyle/>
          <a:p>
            <a:pPr algn="ctr"/>
            <a:r>
              <a:rPr lang="en-GB" dirty="0"/>
              <a:t>o</a:t>
            </a:r>
            <a:r>
              <a:rPr lang="en-GB" dirty="0" smtClean="0"/>
              <a:t>nline information</a:t>
            </a:r>
            <a:endParaRPr lang="en-GB" dirty="0"/>
          </a:p>
        </p:txBody>
      </p:sp>
      <p:sp>
        <p:nvSpPr>
          <p:cNvPr id="15" name="TextBox 14"/>
          <p:cNvSpPr txBox="1"/>
          <p:nvPr/>
        </p:nvSpPr>
        <p:spPr>
          <a:xfrm>
            <a:off x="3486727" y="5328953"/>
            <a:ext cx="4488873" cy="369332"/>
          </a:xfrm>
          <a:prstGeom prst="rect">
            <a:avLst/>
          </a:prstGeom>
          <a:noFill/>
        </p:spPr>
        <p:txBody>
          <a:bodyPr wrap="square" rtlCol="0">
            <a:spAutoFit/>
          </a:bodyPr>
          <a:lstStyle/>
          <a:p>
            <a:r>
              <a:rPr lang="en-GB" dirty="0" smtClean="0"/>
              <a:t>Previous fertilisation issues</a:t>
            </a:r>
            <a:endParaRPr lang="en-GB" dirty="0"/>
          </a:p>
        </p:txBody>
      </p:sp>
      <p:sp>
        <p:nvSpPr>
          <p:cNvPr id="16" name="TextBox 15"/>
          <p:cNvSpPr txBox="1"/>
          <p:nvPr/>
        </p:nvSpPr>
        <p:spPr>
          <a:xfrm>
            <a:off x="9910618" y="2933067"/>
            <a:ext cx="1579418" cy="646331"/>
          </a:xfrm>
          <a:prstGeom prst="rect">
            <a:avLst/>
          </a:prstGeom>
          <a:noFill/>
        </p:spPr>
        <p:txBody>
          <a:bodyPr wrap="square" rtlCol="0">
            <a:spAutoFit/>
          </a:bodyPr>
          <a:lstStyle/>
          <a:p>
            <a:r>
              <a:rPr lang="en-GB" sz="3600" dirty="0" smtClean="0">
                <a:solidFill>
                  <a:srgbClr val="00B0F0"/>
                </a:solidFill>
              </a:rPr>
              <a:t>diet</a:t>
            </a:r>
            <a:endParaRPr lang="en-GB" sz="3600" dirty="0">
              <a:solidFill>
                <a:srgbClr val="00B0F0"/>
              </a:solidFill>
            </a:endParaRPr>
          </a:p>
        </p:txBody>
      </p:sp>
      <p:sp>
        <p:nvSpPr>
          <p:cNvPr id="17" name="TextBox 16"/>
          <p:cNvSpPr txBox="1"/>
          <p:nvPr/>
        </p:nvSpPr>
        <p:spPr>
          <a:xfrm>
            <a:off x="6502399" y="1032985"/>
            <a:ext cx="3232728" cy="584775"/>
          </a:xfrm>
          <a:prstGeom prst="rect">
            <a:avLst/>
          </a:prstGeom>
          <a:noFill/>
        </p:spPr>
        <p:txBody>
          <a:bodyPr wrap="square" rtlCol="0">
            <a:spAutoFit/>
          </a:bodyPr>
          <a:lstStyle/>
          <a:p>
            <a:r>
              <a:rPr lang="en-GB" sz="3200" dirty="0" smtClean="0">
                <a:solidFill>
                  <a:srgbClr val="00B0F0"/>
                </a:solidFill>
              </a:rPr>
              <a:t>smoking</a:t>
            </a:r>
            <a:endParaRPr lang="en-GB" sz="3200" dirty="0">
              <a:solidFill>
                <a:srgbClr val="00B0F0"/>
              </a:solidFill>
            </a:endParaRPr>
          </a:p>
        </p:txBody>
      </p:sp>
      <p:sp>
        <p:nvSpPr>
          <p:cNvPr id="18" name="TextBox 17"/>
          <p:cNvSpPr txBox="1"/>
          <p:nvPr/>
        </p:nvSpPr>
        <p:spPr>
          <a:xfrm>
            <a:off x="4442691" y="1382018"/>
            <a:ext cx="1865745" cy="369332"/>
          </a:xfrm>
          <a:prstGeom prst="rect">
            <a:avLst/>
          </a:prstGeom>
          <a:noFill/>
        </p:spPr>
        <p:txBody>
          <a:bodyPr wrap="square" rtlCol="0">
            <a:spAutoFit/>
          </a:bodyPr>
          <a:lstStyle/>
          <a:p>
            <a:r>
              <a:rPr lang="en-GB" dirty="0" smtClean="0">
                <a:solidFill>
                  <a:srgbClr val="00B0F0"/>
                </a:solidFill>
              </a:rPr>
              <a:t>alcohol</a:t>
            </a:r>
            <a:endParaRPr lang="en-GB" dirty="0">
              <a:solidFill>
                <a:srgbClr val="00B0F0"/>
              </a:solidFill>
            </a:endParaRPr>
          </a:p>
        </p:txBody>
      </p:sp>
      <p:sp>
        <p:nvSpPr>
          <p:cNvPr id="19" name="TextBox 18"/>
          <p:cNvSpPr txBox="1"/>
          <p:nvPr/>
        </p:nvSpPr>
        <p:spPr>
          <a:xfrm>
            <a:off x="369455" y="2641600"/>
            <a:ext cx="2770909" cy="369332"/>
          </a:xfrm>
          <a:prstGeom prst="rect">
            <a:avLst/>
          </a:prstGeom>
          <a:noFill/>
        </p:spPr>
        <p:txBody>
          <a:bodyPr wrap="square" rtlCol="0">
            <a:spAutoFit/>
          </a:bodyPr>
          <a:lstStyle/>
          <a:p>
            <a:r>
              <a:rPr lang="en-GB" dirty="0">
                <a:solidFill>
                  <a:srgbClr val="00B0F0"/>
                </a:solidFill>
              </a:rPr>
              <a:t>m</a:t>
            </a:r>
            <a:r>
              <a:rPr lang="en-GB" dirty="0" smtClean="0">
                <a:solidFill>
                  <a:srgbClr val="00B0F0"/>
                </a:solidFill>
              </a:rPr>
              <a:t>etabolic disease</a:t>
            </a:r>
            <a:endParaRPr lang="en-GB" dirty="0">
              <a:solidFill>
                <a:srgbClr val="00B0F0"/>
              </a:solidFill>
            </a:endParaRPr>
          </a:p>
        </p:txBody>
      </p:sp>
      <p:sp>
        <p:nvSpPr>
          <p:cNvPr id="20" name="TextBox 19"/>
          <p:cNvSpPr txBox="1"/>
          <p:nvPr/>
        </p:nvSpPr>
        <p:spPr>
          <a:xfrm>
            <a:off x="7056582" y="5190714"/>
            <a:ext cx="3121891" cy="369332"/>
          </a:xfrm>
          <a:prstGeom prst="rect">
            <a:avLst/>
          </a:prstGeom>
          <a:noFill/>
        </p:spPr>
        <p:txBody>
          <a:bodyPr wrap="square" rtlCol="0">
            <a:spAutoFit/>
          </a:bodyPr>
          <a:lstStyle/>
          <a:p>
            <a:r>
              <a:rPr lang="en-GB" dirty="0" smtClean="0">
                <a:solidFill>
                  <a:srgbClr val="00B0F0"/>
                </a:solidFill>
              </a:rPr>
              <a:t>employment</a:t>
            </a:r>
            <a:endParaRPr lang="en-GB" dirty="0">
              <a:solidFill>
                <a:srgbClr val="00B0F0"/>
              </a:solidFill>
            </a:endParaRPr>
          </a:p>
        </p:txBody>
      </p:sp>
      <p:sp>
        <p:nvSpPr>
          <p:cNvPr id="21" name="TextBox 20"/>
          <p:cNvSpPr txBox="1"/>
          <p:nvPr/>
        </p:nvSpPr>
        <p:spPr>
          <a:xfrm>
            <a:off x="572654" y="4008582"/>
            <a:ext cx="2567710" cy="584775"/>
          </a:xfrm>
          <a:prstGeom prst="rect">
            <a:avLst/>
          </a:prstGeom>
          <a:noFill/>
        </p:spPr>
        <p:txBody>
          <a:bodyPr wrap="square" rtlCol="0">
            <a:spAutoFit/>
          </a:bodyPr>
          <a:lstStyle/>
          <a:p>
            <a:r>
              <a:rPr lang="en-GB" sz="3200" dirty="0" smtClean="0">
                <a:solidFill>
                  <a:srgbClr val="00B0F0"/>
                </a:solidFill>
              </a:rPr>
              <a:t>comorbidity</a:t>
            </a:r>
            <a:endParaRPr lang="en-GB" sz="3200" dirty="0">
              <a:solidFill>
                <a:srgbClr val="00B0F0"/>
              </a:solidFill>
            </a:endParaRPr>
          </a:p>
        </p:txBody>
      </p:sp>
      <p:sp>
        <p:nvSpPr>
          <p:cNvPr id="22" name="TextBox 21"/>
          <p:cNvSpPr txBox="1"/>
          <p:nvPr/>
        </p:nvSpPr>
        <p:spPr>
          <a:xfrm>
            <a:off x="8922327" y="4895273"/>
            <a:ext cx="3112655" cy="307777"/>
          </a:xfrm>
          <a:prstGeom prst="rect">
            <a:avLst/>
          </a:prstGeom>
          <a:noFill/>
        </p:spPr>
        <p:txBody>
          <a:bodyPr wrap="square" rtlCol="0">
            <a:spAutoFit/>
          </a:bodyPr>
          <a:lstStyle/>
          <a:p>
            <a:r>
              <a:rPr lang="en-GB" sz="1400" dirty="0">
                <a:solidFill>
                  <a:srgbClr val="00B0F0"/>
                </a:solidFill>
              </a:rPr>
              <a:t>s</a:t>
            </a:r>
            <a:r>
              <a:rPr lang="en-GB" sz="1400" dirty="0" smtClean="0">
                <a:solidFill>
                  <a:srgbClr val="00B0F0"/>
                </a:solidFill>
              </a:rPr>
              <a:t>ocial economic status</a:t>
            </a:r>
            <a:endParaRPr lang="en-GB" sz="1400" dirty="0">
              <a:solidFill>
                <a:srgbClr val="00B0F0"/>
              </a:solidFill>
            </a:endParaRPr>
          </a:p>
        </p:txBody>
      </p:sp>
      <p:sp>
        <p:nvSpPr>
          <p:cNvPr id="23" name="TextBox 22"/>
          <p:cNvSpPr txBox="1"/>
          <p:nvPr/>
        </p:nvSpPr>
        <p:spPr>
          <a:xfrm>
            <a:off x="369455" y="1610043"/>
            <a:ext cx="2382982" cy="523220"/>
          </a:xfrm>
          <a:prstGeom prst="rect">
            <a:avLst/>
          </a:prstGeom>
          <a:noFill/>
        </p:spPr>
        <p:txBody>
          <a:bodyPr wrap="square" rtlCol="0">
            <a:spAutoFit/>
          </a:bodyPr>
          <a:lstStyle/>
          <a:p>
            <a:r>
              <a:rPr lang="en-GB" sz="2800" dirty="0" smtClean="0">
                <a:solidFill>
                  <a:srgbClr val="00B0F0"/>
                </a:solidFill>
              </a:rPr>
              <a:t>ethnicity</a:t>
            </a:r>
            <a:endParaRPr lang="en-GB" sz="2800" dirty="0">
              <a:solidFill>
                <a:srgbClr val="00B0F0"/>
              </a:solidFill>
            </a:endParaRPr>
          </a:p>
        </p:txBody>
      </p:sp>
      <p:sp>
        <p:nvSpPr>
          <p:cNvPr id="24" name="TextBox 23"/>
          <p:cNvSpPr txBox="1"/>
          <p:nvPr/>
        </p:nvSpPr>
        <p:spPr>
          <a:xfrm>
            <a:off x="4844474" y="4710392"/>
            <a:ext cx="3015672" cy="369332"/>
          </a:xfrm>
          <a:prstGeom prst="rect">
            <a:avLst/>
          </a:prstGeom>
          <a:noFill/>
        </p:spPr>
        <p:txBody>
          <a:bodyPr wrap="square" rtlCol="0">
            <a:spAutoFit/>
          </a:bodyPr>
          <a:lstStyle/>
          <a:p>
            <a:r>
              <a:rPr lang="en-GB" dirty="0">
                <a:solidFill>
                  <a:srgbClr val="00B0F0"/>
                </a:solidFill>
              </a:rPr>
              <a:t>m</a:t>
            </a:r>
            <a:r>
              <a:rPr lang="en-GB" dirty="0" smtClean="0">
                <a:solidFill>
                  <a:srgbClr val="00B0F0"/>
                </a:solidFill>
              </a:rPr>
              <a:t>edical history</a:t>
            </a:r>
            <a:endParaRPr lang="en-GB" dirty="0">
              <a:solidFill>
                <a:srgbClr val="00B0F0"/>
              </a:solidFill>
            </a:endParaRPr>
          </a:p>
        </p:txBody>
      </p:sp>
      <p:sp>
        <p:nvSpPr>
          <p:cNvPr id="25" name="TextBox 24"/>
          <p:cNvSpPr txBox="1"/>
          <p:nvPr/>
        </p:nvSpPr>
        <p:spPr>
          <a:xfrm>
            <a:off x="4544291" y="3251200"/>
            <a:ext cx="2613891" cy="369332"/>
          </a:xfrm>
          <a:prstGeom prst="rect">
            <a:avLst/>
          </a:prstGeom>
          <a:noFill/>
        </p:spPr>
        <p:txBody>
          <a:bodyPr wrap="square" rtlCol="0">
            <a:spAutoFit/>
          </a:bodyPr>
          <a:lstStyle/>
          <a:p>
            <a:r>
              <a:rPr lang="en-GB" dirty="0">
                <a:solidFill>
                  <a:srgbClr val="FF0000"/>
                </a:solidFill>
              </a:rPr>
              <a:t>c</a:t>
            </a:r>
            <a:r>
              <a:rPr lang="en-GB" dirty="0" smtClean="0">
                <a:solidFill>
                  <a:srgbClr val="FF0000"/>
                </a:solidFill>
              </a:rPr>
              <a:t>linician skill</a:t>
            </a:r>
            <a:endParaRPr lang="en-GB" dirty="0">
              <a:solidFill>
                <a:srgbClr val="FF0000"/>
              </a:solidFill>
            </a:endParaRPr>
          </a:p>
        </p:txBody>
      </p:sp>
      <p:sp>
        <p:nvSpPr>
          <p:cNvPr id="26" name="TextBox 25"/>
          <p:cNvSpPr txBox="1"/>
          <p:nvPr/>
        </p:nvSpPr>
        <p:spPr>
          <a:xfrm>
            <a:off x="2105891" y="1477818"/>
            <a:ext cx="2179782" cy="369332"/>
          </a:xfrm>
          <a:prstGeom prst="rect">
            <a:avLst/>
          </a:prstGeom>
          <a:noFill/>
        </p:spPr>
        <p:txBody>
          <a:bodyPr wrap="square" rtlCol="0">
            <a:spAutoFit/>
          </a:bodyPr>
          <a:lstStyle/>
          <a:p>
            <a:r>
              <a:rPr lang="en-GB" dirty="0">
                <a:solidFill>
                  <a:srgbClr val="FF0000"/>
                </a:solidFill>
              </a:rPr>
              <a:t>c</a:t>
            </a:r>
            <a:r>
              <a:rPr lang="en-GB" dirty="0" smtClean="0">
                <a:solidFill>
                  <a:srgbClr val="FF0000"/>
                </a:solidFill>
              </a:rPr>
              <a:t>linician experience</a:t>
            </a:r>
            <a:endParaRPr lang="en-GB" dirty="0">
              <a:solidFill>
                <a:srgbClr val="FF0000"/>
              </a:solidFill>
            </a:endParaRPr>
          </a:p>
        </p:txBody>
      </p:sp>
      <p:sp>
        <p:nvSpPr>
          <p:cNvPr id="27" name="TextBox 26"/>
          <p:cNvSpPr txBox="1"/>
          <p:nvPr/>
        </p:nvSpPr>
        <p:spPr>
          <a:xfrm>
            <a:off x="8395855" y="775855"/>
            <a:ext cx="3362036" cy="369332"/>
          </a:xfrm>
          <a:prstGeom prst="rect">
            <a:avLst/>
          </a:prstGeom>
          <a:noFill/>
        </p:spPr>
        <p:txBody>
          <a:bodyPr wrap="square" rtlCol="0">
            <a:spAutoFit/>
          </a:bodyPr>
          <a:lstStyle/>
          <a:p>
            <a:r>
              <a:rPr lang="en-GB" dirty="0">
                <a:solidFill>
                  <a:srgbClr val="FF0000"/>
                </a:solidFill>
              </a:rPr>
              <a:t>e</a:t>
            </a:r>
            <a:r>
              <a:rPr lang="en-GB" dirty="0" smtClean="0">
                <a:solidFill>
                  <a:srgbClr val="FF0000"/>
                </a:solidFill>
              </a:rPr>
              <a:t>mbryology lab conditions</a:t>
            </a:r>
            <a:endParaRPr lang="en-GB" dirty="0">
              <a:solidFill>
                <a:srgbClr val="FF0000"/>
              </a:solidFill>
            </a:endParaRPr>
          </a:p>
        </p:txBody>
      </p:sp>
      <p:sp>
        <p:nvSpPr>
          <p:cNvPr id="28" name="TextBox 27"/>
          <p:cNvSpPr txBox="1"/>
          <p:nvPr/>
        </p:nvSpPr>
        <p:spPr>
          <a:xfrm>
            <a:off x="7620000" y="2465895"/>
            <a:ext cx="3463636" cy="369332"/>
          </a:xfrm>
          <a:prstGeom prst="rect">
            <a:avLst/>
          </a:prstGeom>
          <a:noFill/>
        </p:spPr>
        <p:txBody>
          <a:bodyPr wrap="square" rtlCol="0">
            <a:spAutoFit/>
          </a:bodyPr>
          <a:lstStyle/>
          <a:p>
            <a:r>
              <a:rPr lang="en-GB" dirty="0">
                <a:solidFill>
                  <a:srgbClr val="FF0000"/>
                </a:solidFill>
              </a:rPr>
              <a:t>e</a:t>
            </a:r>
            <a:r>
              <a:rPr lang="en-GB" dirty="0" smtClean="0">
                <a:solidFill>
                  <a:srgbClr val="FF0000"/>
                </a:solidFill>
              </a:rPr>
              <a:t>mbryo selection procedures</a:t>
            </a:r>
            <a:endParaRPr lang="en-GB" dirty="0">
              <a:solidFill>
                <a:srgbClr val="FF0000"/>
              </a:solidFill>
            </a:endParaRPr>
          </a:p>
        </p:txBody>
      </p:sp>
      <p:sp>
        <p:nvSpPr>
          <p:cNvPr id="29" name="TextBox 28"/>
          <p:cNvSpPr txBox="1"/>
          <p:nvPr/>
        </p:nvSpPr>
        <p:spPr>
          <a:xfrm>
            <a:off x="369455" y="5458691"/>
            <a:ext cx="3445163" cy="584775"/>
          </a:xfrm>
          <a:prstGeom prst="rect">
            <a:avLst/>
          </a:prstGeom>
          <a:noFill/>
        </p:spPr>
        <p:txBody>
          <a:bodyPr wrap="square" rtlCol="0">
            <a:spAutoFit/>
          </a:bodyPr>
          <a:lstStyle/>
          <a:p>
            <a:r>
              <a:rPr lang="en-GB" sz="3200" dirty="0">
                <a:solidFill>
                  <a:srgbClr val="FF0000"/>
                </a:solidFill>
              </a:rPr>
              <a:t>d</a:t>
            </a:r>
            <a:r>
              <a:rPr lang="en-GB" sz="3200" dirty="0" smtClean="0">
                <a:solidFill>
                  <a:srgbClr val="FF0000"/>
                </a:solidFill>
              </a:rPr>
              <a:t>iagnostic tests</a:t>
            </a:r>
            <a:endParaRPr lang="en-GB" sz="3200" dirty="0">
              <a:solidFill>
                <a:srgbClr val="FF0000"/>
              </a:solidFill>
            </a:endParaRPr>
          </a:p>
        </p:txBody>
      </p:sp>
      <p:sp>
        <p:nvSpPr>
          <p:cNvPr id="30" name="TextBox 29"/>
          <p:cNvSpPr txBox="1"/>
          <p:nvPr/>
        </p:nvSpPr>
        <p:spPr>
          <a:xfrm>
            <a:off x="8303491" y="5751078"/>
            <a:ext cx="4516582" cy="369332"/>
          </a:xfrm>
          <a:prstGeom prst="rect">
            <a:avLst/>
          </a:prstGeom>
          <a:noFill/>
        </p:spPr>
        <p:txBody>
          <a:bodyPr wrap="square" rtlCol="0">
            <a:spAutoFit/>
          </a:bodyPr>
          <a:lstStyle/>
          <a:p>
            <a:r>
              <a:rPr lang="en-GB" dirty="0">
                <a:solidFill>
                  <a:srgbClr val="FF0000"/>
                </a:solidFill>
              </a:rPr>
              <a:t>c</a:t>
            </a:r>
            <a:r>
              <a:rPr lang="en-GB" dirty="0" smtClean="0">
                <a:solidFill>
                  <a:srgbClr val="FF0000"/>
                </a:solidFill>
              </a:rPr>
              <a:t>ulture media</a:t>
            </a:r>
            <a:endParaRPr lang="en-GB" dirty="0">
              <a:solidFill>
                <a:srgbClr val="FF0000"/>
              </a:solidFill>
            </a:endParaRPr>
          </a:p>
        </p:txBody>
      </p:sp>
      <p:sp>
        <p:nvSpPr>
          <p:cNvPr id="31" name="TextBox 30"/>
          <p:cNvSpPr txBox="1"/>
          <p:nvPr/>
        </p:nvSpPr>
        <p:spPr>
          <a:xfrm>
            <a:off x="4544291" y="5709070"/>
            <a:ext cx="4373419" cy="707886"/>
          </a:xfrm>
          <a:prstGeom prst="rect">
            <a:avLst/>
          </a:prstGeom>
          <a:noFill/>
        </p:spPr>
        <p:txBody>
          <a:bodyPr wrap="square" rtlCol="0">
            <a:spAutoFit/>
          </a:bodyPr>
          <a:lstStyle/>
          <a:p>
            <a:r>
              <a:rPr lang="en-GB" sz="4000" dirty="0" smtClean="0">
                <a:solidFill>
                  <a:srgbClr val="FF0000"/>
                </a:solidFill>
              </a:rPr>
              <a:t>incubators</a:t>
            </a:r>
            <a:endParaRPr lang="en-GB" sz="4000" dirty="0">
              <a:solidFill>
                <a:srgbClr val="FF0000"/>
              </a:solidFill>
            </a:endParaRPr>
          </a:p>
        </p:txBody>
      </p:sp>
    </p:spTree>
    <p:extLst>
      <p:ext uri="{BB962C8B-B14F-4D97-AF65-F5344CB8AC3E}">
        <p14:creationId xmlns:p14="http://schemas.microsoft.com/office/powerpoint/2010/main" val="139463603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p:cNvSpPr/>
          <p:nvPr/>
        </p:nvSpPr>
        <p:spPr>
          <a:xfrm>
            <a:off x="637309" y="1461466"/>
            <a:ext cx="10852727" cy="6858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p:cNvSpPr txBox="1"/>
          <p:nvPr/>
        </p:nvSpPr>
        <p:spPr>
          <a:xfrm>
            <a:off x="572654" y="304800"/>
            <a:ext cx="11185237" cy="584775"/>
          </a:xfrm>
          <a:prstGeom prst="rect">
            <a:avLst/>
          </a:prstGeom>
          <a:noFill/>
        </p:spPr>
        <p:txBody>
          <a:bodyPr wrap="square" rtlCol="0">
            <a:spAutoFit/>
          </a:bodyPr>
          <a:lstStyle/>
          <a:p>
            <a:r>
              <a:rPr lang="en-GB" sz="3200" b="1" smtClean="0"/>
              <a:t>Who knows what else?</a:t>
            </a:r>
            <a:endParaRPr lang="en-GB" sz="3200" b="1" dirty="0"/>
          </a:p>
        </p:txBody>
      </p:sp>
      <p:sp>
        <p:nvSpPr>
          <p:cNvPr id="2" name="TextBox 1"/>
          <p:cNvSpPr txBox="1"/>
          <p:nvPr/>
        </p:nvSpPr>
        <p:spPr>
          <a:xfrm>
            <a:off x="3371273" y="2955636"/>
            <a:ext cx="1791854" cy="769441"/>
          </a:xfrm>
          <a:prstGeom prst="rect">
            <a:avLst/>
          </a:prstGeom>
          <a:noFill/>
        </p:spPr>
        <p:txBody>
          <a:bodyPr wrap="square" rtlCol="0">
            <a:spAutoFit/>
          </a:bodyPr>
          <a:lstStyle/>
          <a:p>
            <a:r>
              <a:rPr lang="en-GB" sz="4400" dirty="0" smtClean="0"/>
              <a:t>age</a:t>
            </a:r>
            <a:endParaRPr lang="en-GB" sz="4400" dirty="0"/>
          </a:p>
        </p:txBody>
      </p:sp>
      <p:sp>
        <p:nvSpPr>
          <p:cNvPr id="3" name="TextBox 2"/>
          <p:cNvSpPr txBox="1"/>
          <p:nvPr/>
        </p:nvSpPr>
        <p:spPr>
          <a:xfrm>
            <a:off x="6881091" y="2933067"/>
            <a:ext cx="2115127" cy="1200329"/>
          </a:xfrm>
          <a:prstGeom prst="rect">
            <a:avLst/>
          </a:prstGeom>
          <a:noFill/>
        </p:spPr>
        <p:txBody>
          <a:bodyPr wrap="square" rtlCol="0">
            <a:spAutoFit/>
          </a:bodyPr>
          <a:lstStyle/>
          <a:p>
            <a:pPr algn="ctr"/>
            <a:r>
              <a:rPr lang="en-GB" sz="2400" dirty="0"/>
              <a:t>p</a:t>
            </a:r>
            <a:r>
              <a:rPr lang="en-GB" sz="2400" dirty="0" smtClean="0"/>
              <a:t>revious stimulation response</a:t>
            </a:r>
            <a:endParaRPr lang="en-GB" sz="2400" dirty="0"/>
          </a:p>
        </p:txBody>
      </p:sp>
      <p:sp>
        <p:nvSpPr>
          <p:cNvPr id="5" name="TextBox 4"/>
          <p:cNvSpPr txBox="1"/>
          <p:nvPr/>
        </p:nvSpPr>
        <p:spPr>
          <a:xfrm>
            <a:off x="3629891" y="4184073"/>
            <a:ext cx="4147127" cy="461665"/>
          </a:xfrm>
          <a:prstGeom prst="rect">
            <a:avLst/>
          </a:prstGeom>
          <a:noFill/>
        </p:spPr>
        <p:txBody>
          <a:bodyPr wrap="square" rtlCol="0">
            <a:spAutoFit/>
          </a:bodyPr>
          <a:lstStyle/>
          <a:p>
            <a:r>
              <a:rPr lang="en-GB" sz="2400" dirty="0"/>
              <a:t>d</a:t>
            </a:r>
            <a:r>
              <a:rPr lang="en-GB" sz="2400" dirty="0" smtClean="0"/>
              <a:t>uration of infertility</a:t>
            </a:r>
            <a:endParaRPr lang="en-GB" sz="2400" dirty="0"/>
          </a:p>
        </p:txBody>
      </p:sp>
      <p:sp>
        <p:nvSpPr>
          <p:cNvPr id="6" name="TextBox 5"/>
          <p:cNvSpPr txBox="1"/>
          <p:nvPr/>
        </p:nvSpPr>
        <p:spPr>
          <a:xfrm>
            <a:off x="2235200" y="4821382"/>
            <a:ext cx="3435927" cy="369332"/>
          </a:xfrm>
          <a:prstGeom prst="rect">
            <a:avLst/>
          </a:prstGeom>
          <a:noFill/>
        </p:spPr>
        <p:txBody>
          <a:bodyPr wrap="square" rtlCol="0">
            <a:spAutoFit/>
          </a:bodyPr>
          <a:lstStyle/>
          <a:p>
            <a:r>
              <a:rPr lang="en-GB" dirty="0" smtClean="0"/>
              <a:t>evidence</a:t>
            </a:r>
            <a:endParaRPr lang="en-GB" dirty="0"/>
          </a:p>
        </p:txBody>
      </p:sp>
      <p:sp>
        <p:nvSpPr>
          <p:cNvPr id="7" name="TextBox 6"/>
          <p:cNvSpPr txBox="1"/>
          <p:nvPr/>
        </p:nvSpPr>
        <p:spPr>
          <a:xfrm>
            <a:off x="1985818" y="2068945"/>
            <a:ext cx="3685309" cy="369332"/>
          </a:xfrm>
          <a:prstGeom prst="rect">
            <a:avLst/>
          </a:prstGeom>
          <a:noFill/>
        </p:spPr>
        <p:txBody>
          <a:bodyPr wrap="square" rtlCol="0">
            <a:spAutoFit/>
          </a:bodyPr>
          <a:lstStyle/>
          <a:p>
            <a:r>
              <a:rPr lang="en-GB" dirty="0" smtClean="0"/>
              <a:t>Cause of subfertility</a:t>
            </a:r>
            <a:endParaRPr lang="en-GB" dirty="0"/>
          </a:p>
        </p:txBody>
      </p:sp>
      <p:sp>
        <p:nvSpPr>
          <p:cNvPr id="8" name="TextBox 7"/>
          <p:cNvSpPr txBox="1"/>
          <p:nvPr/>
        </p:nvSpPr>
        <p:spPr>
          <a:xfrm>
            <a:off x="6502399" y="1890492"/>
            <a:ext cx="2050473" cy="646331"/>
          </a:xfrm>
          <a:prstGeom prst="rect">
            <a:avLst/>
          </a:prstGeom>
          <a:noFill/>
        </p:spPr>
        <p:txBody>
          <a:bodyPr wrap="square" rtlCol="0">
            <a:spAutoFit/>
          </a:bodyPr>
          <a:lstStyle/>
          <a:p>
            <a:r>
              <a:rPr lang="en-GB" sz="3600" dirty="0" smtClean="0"/>
              <a:t>cost</a:t>
            </a:r>
            <a:endParaRPr lang="en-GB" sz="3600" dirty="0"/>
          </a:p>
        </p:txBody>
      </p:sp>
      <p:sp>
        <p:nvSpPr>
          <p:cNvPr id="9" name="TextBox 8"/>
          <p:cNvSpPr txBox="1"/>
          <p:nvPr/>
        </p:nvSpPr>
        <p:spPr>
          <a:xfrm>
            <a:off x="6797964" y="4645738"/>
            <a:ext cx="2789381" cy="369332"/>
          </a:xfrm>
          <a:prstGeom prst="rect">
            <a:avLst/>
          </a:prstGeom>
          <a:noFill/>
        </p:spPr>
        <p:txBody>
          <a:bodyPr wrap="square" rtlCol="0">
            <a:spAutoFit/>
          </a:bodyPr>
          <a:lstStyle/>
          <a:p>
            <a:r>
              <a:rPr lang="en-GB" dirty="0"/>
              <a:t>o</a:t>
            </a:r>
            <a:r>
              <a:rPr lang="en-GB" dirty="0" smtClean="0"/>
              <a:t>varian reserve</a:t>
            </a:r>
            <a:endParaRPr lang="en-GB" dirty="0"/>
          </a:p>
        </p:txBody>
      </p:sp>
      <p:sp>
        <p:nvSpPr>
          <p:cNvPr id="10" name="TextBox 9"/>
          <p:cNvSpPr txBox="1"/>
          <p:nvPr/>
        </p:nvSpPr>
        <p:spPr>
          <a:xfrm>
            <a:off x="923636" y="3251200"/>
            <a:ext cx="2216728" cy="646331"/>
          </a:xfrm>
          <a:prstGeom prst="rect">
            <a:avLst/>
          </a:prstGeom>
          <a:noFill/>
        </p:spPr>
        <p:txBody>
          <a:bodyPr wrap="square" rtlCol="0">
            <a:spAutoFit/>
          </a:bodyPr>
          <a:lstStyle/>
          <a:p>
            <a:r>
              <a:rPr lang="en-GB" dirty="0"/>
              <a:t>c</a:t>
            </a:r>
            <a:r>
              <a:rPr lang="en-GB" dirty="0" smtClean="0"/>
              <a:t>linician experience with ‘similar patients’</a:t>
            </a:r>
            <a:endParaRPr lang="en-GB" dirty="0"/>
          </a:p>
        </p:txBody>
      </p:sp>
      <p:sp>
        <p:nvSpPr>
          <p:cNvPr id="11" name="TextBox 10"/>
          <p:cNvSpPr txBox="1"/>
          <p:nvPr/>
        </p:nvSpPr>
        <p:spPr>
          <a:xfrm>
            <a:off x="9494982" y="3725077"/>
            <a:ext cx="1745673" cy="369332"/>
          </a:xfrm>
          <a:prstGeom prst="rect">
            <a:avLst/>
          </a:prstGeom>
          <a:noFill/>
        </p:spPr>
        <p:txBody>
          <a:bodyPr wrap="square" rtlCol="0">
            <a:spAutoFit/>
          </a:bodyPr>
          <a:lstStyle/>
          <a:p>
            <a:r>
              <a:rPr lang="en-GB" dirty="0" smtClean="0"/>
              <a:t>BMI</a:t>
            </a:r>
            <a:endParaRPr lang="en-GB" dirty="0"/>
          </a:p>
        </p:txBody>
      </p:sp>
      <p:sp>
        <p:nvSpPr>
          <p:cNvPr id="12" name="TextBox 11"/>
          <p:cNvSpPr txBox="1"/>
          <p:nvPr/>
        </p:nvSpPr>
        <p:spPr>
          <a:xfrm>
            <a:off x="4544291" y="2438277"/>
            <a:ext cx="2115127" cy="646331"/>
          </a:xfrm>
          <a:prstGeom prst="rect">
            <a:avLst/>
          </a:prstGeom>
          <a:noFill/>
        </p:spPr>
        <p:txBody>
          <a:bodyPr wrap="square" rtlCol="0">
            <a:spAutoFit/>
          </a:bodyPr>
          <a:lstStyle/>
          <a:p>
            <a:pPr algn="ctr"/>
            <a:r>
              <a:rPr lang="en-GB" dirty="0" smtClean="0"/>
              <a:t>Number of previous attempts</a:t>
            </a:r>
            <a:endParaRPr lang="en-GB" dirty="0"/>
          </a:p>
        </p:txBody>
      </p:sp>
      <p:sp>
        <p:nvSpPr>
          <p:cNvPr id="13" name="TextBox 12"/>
          <p:cNvSpPr txBox="1"/>
          <p:nvPr/>
        </p:nvSpPr>
        <p:spPr>
          <a:xfrm>
            <a:off x="8155709" y="1819564"/>
            <a:ext cx="2493818" cy="646331"/>
          </a:xfrm>
          <a:prstGeom prst="rect">
            <a:avLst/>
          </a:prstGeom>
          <a:noFill/>
        </p:spPr>
        <p:txBody>
          <a:bodyPr wrap="square" rtlCol="0">
            <a:spAutoFit/>
          </a:bodyPr>
          <a:lstStyle/>
          <a:p>
            <a:pPr algn="ctr"/>
            <a:r>
              <a:rPr lang="en-GB" dirty="0" smtClean="0"/>
              <a:t>Experiences of friends/ family</a:t>
            </a:r>
            <a:endParaRPr lang="en-GB" dirty="0"/>
          </a:p>
        </p:txBody>
      </p:sp>
      <p:sp>
        <p:nvSpPr>
          <p:cNvPr id="14" name="TextBox 13"/>
          <p:cNvSpPr txBox="1"/>
          <p:nvPr/>
        </p:nvSpPr>
        <p:spPr>
          <a:xfrm>
            <a:off x="8552872" y="4331855"/>
            <a:ext cx="2530764" cy="369332"/>
          </a:xfrm>
          <a:prstGeom prst="rect">
            <a:avLst/>
          </a:prstGeom>
          <a:noFill/>
        </p:spPr>
        <p:txBody>
          <a:bodyPr wrap="square" rtlCol="0">
            <a:spAutoFit/>
          </a:bodyPr>
          <a:lstStyle/>
          <a:p>
            <a:pPr algn="ctr"/>
            <a:r>
              <a:rPr lang="en-GB" dirty="0"/>
              <a:t>o</a:t>
            </a:r>
            <a:r>
              <a:rPr lang="en-GB" dirty="0" smtClean="0"/>
              <a:t>nline information</a:t>
            </a:r>
            <a:endParaRPr lang="en-GB" dirty="0"/>
          </a:p>
        </p:txBody>
      </p:sp>
      <p:sp>
        <p:nvSpPr>
          <p:cNvPr id="15" name="TextBox 14"/>
          <p:cNvSpPr txBox="1"/>
          <p:nvPr/>
        </p:nvSpPr>
        <p:spPr>
          <a:xfrm>
            <a:off x="3486727" y="5328953"/>
            <a:ext cx="4488873" cy="369332"/>
          </a:xfrm>
          <a:prstGeom prst="rect">
            <a:avLst/>
          </a:prstGeom>
          <a:noFill/>
        </p:spPr>
        <p:txBody>
          <a:bodyPr wrap="square" rtlCol="0">
            <a:spAutoFit/>
          </a:bodyPr>
          <a:lstStyle/>
          <a:p>
            <a:r>
              <a:rPr lang="en-GB" dirty="0" smtClean="0"/>
              <a:t>Previous fertilisation issues</a:t>
            </a:r>
            <a:endParaRPr lang="en-GB" dirty="0"/>
          </a:p>
        </p:txBody>
      </p:sp>
      <p:sp>
        <p:nvSpPr>
          <p:cNvPr id="16" name="TextBox 15"/>
          <p:cNvSpPr txBox="1"/>
          <p:nvPr/>
        </p:nvSpPr>
        <p:spPr>
          <a:xfrm>
            <a:off x="9910618" y="2933067"/>
            <a:ext cx="1579418" cy="646331"/>
          </a:xfrm>
          <a:prstGeom prst="rect">
            <a:avLst/>
          </a:prstGeom>
          <a:noFill/>
        </p:spPr>
        <p:txBody>
          <a:bodyPr wrap="square" rtlCol="0">
            <a:spAutoFit/>
          </a:bodyPr>
          <a:lstStyle/>
          <a:p>
            <a:r>
              <a:rPr lang="en-GB" sz="3600" dirty="0" smtClean="0">
                <a:solidFill>
                  <a:srgbClr val="00B0F0"/>
                </a:solidFill>
              </a:rPr>
              <a:t>diet</a:t>
            </a:r>
            <a:endParaRPr lang="en-GB" sz="3600" dirty="0">
              <a:solidFill>
                <a:srgbClr val="00B0F0"/>
              </a:solidFill>
            </a:endParaRPr>
          </a:p>
        </p:txBody>
      </p:sp>
      <p:sp>
        <p:nvSpPr>
          <p:cNvPr id="17" name="TextBox 16"/>
          <p:cNvSpPr txBox="1"/>
          <p:nvPr/>
        </p:nvSpPr>
        <p:spPr>
          <a:xfrm>
            <a:off x="6502399" y="1032985"/>
            <a:ext cx="3232728" cy="584775"/>
          </a:xfrm>
          <a:prstGeom prst="rect">
            <a:avLst/>
          </a:prstGeom>
          <a:noFill/>
        </p:spPr>
        <p:txBody>
          <a:bodyPr wrap="square" rtlCol="0">
            <a:spAutoFit/>
          </a:bodyPr>
          <a:lstStyle/>
          <a:p>
            <a:r>
              <a:rPr lang="en-GB" sz="3200" dirty="0" smtClean="0">
                <a:solidFill>
                  <a:srgbClr val="00B0F0"/>
                </a:solidFill>
              </a:rPr>
              <a:t>smoking</a:t>
            </a:r>
            <a:endParaRPr lang="en-GB" sz="3200" dirty="0">
              <a:solidFill>
                <a:srgbClr val="00B0F0"/>
              </a:solidFill>
            </a:endParaRPr>
          </a:p>
        </p:txBody>
      </p:sp>
      <p:sp>
        <p:nvSpPr>
          <p:cNvPr id="18" name="TextBox 17"/>
          <p:cNvSpPr txBox="1"/>
          <p:nvPr/>
        </p:nvSpPr>
        <p:spPr>
          <a:xfrm>
            <a:off x="5504514" y="1168828"/>
            <a:ext cx="1865745" cy="830997"/>
          </a:xfrm>
          <a:prstGeom prst="rect">
            <a:avLst/>
          </a:prstGeom>
          <a:noFill/>
        </p:spPr>
        <p:txBody>
          <a:bodyPr wrap="square" rtlCol="0">
            <a:spAutoFit/>
          </a:bodyPr>
          <a:lstStyle/>
          <a:p>
            <a:r>
              <a:rPr lang="en-GB" sz="4800" dirty="0" smtClean="0">
                <a:solidFill>
                  <a:schemeClr val="accent1">
                    <a:lumMod val="60000"/>
                    <a:lumOff val="40000"/>
                  </a:schemeClr>
                </a:solidFill>
                <a:latin typeface="Agency FB" panose="020B0503020202020204" pitchFamily="34" charset="0"/>
              </a:rPr>
              <a:t>?</a:t>
            </a:r>
            <a:endParaRPr lang="en-GB" sz="4800" dirty="0">
              <a:solidFill>
                <a:schemeClr val="accent1">
                  <a:lumMod val="60000"/>
                  <a:lumOff val="40000"/>
                </a:schemeClr>
              </a:solidFill>
              <a:latin typeface="Agency FB" panose="020B0503020202020204" pitchFamily="34" charset="0"/>
            </a:endParaRPr>
          </a:p>
        </p:txBody>
      </p:sp>
      <p:sp>
        <p:nvSpPr>
          <p:cNvPr id="19" name="TextBox 18"/>
          <p:cNvSpPr txBox="1"/>
          <p:nvPr/>
        </p:nvSpPr>
        <p:spPr>
          <a:xfrm>
            <a:off x="369455" y="2641600"/>
            <a:ext cx="2770909" cy="369332"/>
          </a:xfrm>
          <a:prstGeom prst="rect">
            <a:avLst/>
          </a:prstGeom>
          <a:noFill/>
        </p:spPr>
        <p:txBody>
          <a:bodyPr wrap="square" rtlCol="0">
            <a:spAutoFit/>
          </a:bodyPr>
          <a:lstStyle/>
          <a:p>
            <a:r>
              <a:rPr lang="en-GB" dirty="0">
                <a:solidFill>
                  <a:srgbClr val="00B0F0"/>
                </a:solidFill>
              </a:rPr>
              <a:t>m</a:t>
            </a:r>
            <a:r>
              <a:rPr lang="en-GB" dirty="0" smtClean="0">
                <a:solidFill>
                  <a:srgbClr val="00B0F0"/>
                </a:solidFill>
              </a:rPr>
              <a:t>etabolic disease</a:t>
            </a:r>
            <a:endParaRPr lang="en-GB" dirty="0">
              <a:solidFill>
                <a:srgbClr val="00B0F0"/>
              </a:solidFill>
            </a:endParaRPr>
          </a:p>
        </p:txBody>
      </p:sp>
      <p:sp>
        <p:nvSpPr>
          <p:cNvPr id="20" name="TextBox 19"/>
          <p:cNvSpPr txBox="1"/>
          <p:nvPr/>
        </p:nvSpPr>
        <p:spPr>
          <a:xfrm>
            <a:off x="7056582" y="5190714"/>
            <a:ext cx="3121891" cy="369332"/>
          </a:xfrm>
          <a:prstGeom prst="rect">
            <a:avLst/>
          </a:prstGeom>
          <a:noFill/>
        </p:spPr>
        <p:txBody>
          <a:bodyPr wrap="square" rtlCol="0">
            <a:spAutoFit/>
          </a:bodyPr>
          <a:lstStyle/>
          <a:p>
            <a:r>
              <a:rPr lang="en-GB" dirty="0" smtClean="0">
                <a:solidFill>
                  <a:srgbClr val="00B0F0"/>
                </a:solidFill>
              </a:rPr>
              <a:t>employment</a:t>
            </a:r>
            <a:endParaRPr lang="en-GB" dirty="0">
              <a:solidFill>
                <a:srgbClr val="00B0F0"/>
              </a:solidFill>
            </a:endParaRPr>
          </a:p>
        </p:txBody>
      </p:sp>
      <p:sp>
        <p:nvSpPr>
          <p:cNvPr id="21" name="TextBox 20"/>
          <p:cNvSpPr txBox="1"/>
          <p:nvPr/>
        </p:nvSpPr>
        <p:spPr>
          <a:xfrm>
            <a:off x="572654" y="4008582"/>
            <a:ext cx="2567710" cy="584775"/>
          </a:xfrm>
          <a:prstGeom prst="rect">
            <a:avLst/>
          </a:prstGeom>
          <a:noFill/>
        </p:spPr>
        <p:txBody>
          <a:bodyPr wrap="square" rtlCol="0">
            <a:spAutoFit/>
          </a:bodyPr>
          <a:lstStyle/>
          <a:p>
            <a:r>
              <a:rPr lang="en-GB" sz="3200" dirty="0" smtClean="0">
                <a:solidFill>
                  <a:srgbClr val="00B0F0"/>
                </a:solidFill>
              </a:rPr>
              <a:t>comorbidity</a:t>
            </a:r>
            <a:endParaRPr lang="en-GB" sz="3200" dirty="0">
              <a:solidFill>
                <a:srgbClr val="00B0F0"/>
              </a:solidFill>
            </a:endParaRPr>
          </a:p>
        </p:txBody>
      </p:sp>
      <p:sp>
        <p:nvSpPr>
          <p:cNvPr id="22" name="TextBox 21"/>
          <p:cNvSpPr txBox="1"/>
          <p:nvPr/>
        </p:nvSpPr>
        <p:spPr>
          <a:xfrm>
            <a:off x="8922327" y="4895273"/>
            <a:ext cx="3112655" cy="307777"/>
          </a:xfrm>
          <a:prstGeom prst="rect">
            <a:avLst/>
          </a:prstGeom>
          <a:noFill/>
        </p:spPr>
        <p:txBody>
          <a:bodyPr wrap="square" rtlCol="0">
            <a:spAutoFit/>
          </a:bodyPr>
          <a:lstStyle/>
          <a:p>
            <a:r>
              <a:rPr lang="en-GB" sz="1400" dirty="0">
                <a:solidFill>
                  <a:srgbClr val="00B0F0"/>
                </a:solidFill>
              </a:rPr>
              <a:t>s</a:t>
            </a:r>
            <a:r>
              <a:rPr lang="en-GB" sz="1400" dirty="0" smtClean="0">
                <a:solidFill>
                  <a:srgbClr val="00B0F0"/>
                </a:solidFill>
              </a:rPr>
              <a:t>ocial economic status</a:t>
            </a:r>
            <a:endParaRPr lang="en-GB" sz="1400" dirty="0">
              <a:solidFill>
                <a:srgbClr val="00B0F0"/>
              </a:solidFill>
            </a:endParaRPr>
          </a:p>
        </p:txBody>
      </p:sp>
      <p:sp>
        <p:nvSpPr>
          <p:cNvPr id="23" name="TextBox 22"/>
          <p:cNvSpPr txBox="1"/>
          <p:nvPr/>
        </p:nvSpPr>
        <p:spPr>
          <a:xfrm>
            <a:off x="369455" y="1610043"/>
            <a:ext cx="2382982" cy="523220"/>
          </a:xfrm>
          <a:prstGeom prst="rect">
            <a:avLst/>
          </a:prstGeom>
          <a:noFill/>
        </p:spPr>
        <p:txBody>
          <a:bodyPr wrap="square" rtlCol="0">
            <a:spAutoFit/>
          </a:bodyPr>
          <a:lstStyle/>
          <a:p>
            <a:r>
              <a:rPr lang="en-GB" sz="2800" dirty="0" smtClean="0">
                <a:solidFill>
                  <a:srgbClr val="00B0F0"/>
                </a:solidFill>
              </a:rPr>
              <a:t>ethnicity</a:t>
            </a:r>
            <a:endParaRPr lang="en-GB" sz="2800" dirty="0">
              <a:solidFill>
                <a:srgbClr val="00B0F0"/>
              </a:solidFill>
            </a:endParaRPr>
          </a:p>
        </p:txBody>
      </p:sp>
      <p:sp>
        <p:nvSpPr>
          <p:cNvPr id="24" name="TextBox 23"/>
          <p:cNvSpPr txBox="1"/>
          <p:nvPr/>
        </p:nvSpPr>
        <p:spPr>
          <a:xfrm>
            <a:off x="4844474" y="4710392"/>
            <a:ext cx="3015672" cy="369332"/>
          </a:xfrm>
          <a:prstGeom prst="rect">
            <a:avLst/>
          </a:prstGeom>
          <a:noFill/>
        </p:spPr>
        <p:txBody>
          <a:bodyPr wrap="square" rtlCol="0">
            <a:spAutoFit/>
          </a:bodyPr>
          <a:lstStyle/>
          <a:p>
            <a:r>
              <a:rPr lang="en-GB" dirty="0">
                <a:solidFill>
                  <a:srgbClr val="00B0F0"/>
                </a:solidFill>
              </a:rPr>
              <a:t>m</a:t>
            </a:r>
            <a:r>
              <a:rPr lang="en-GB" dirty="0" smtClean="0">
                <a:solidFill>
                  <a:srgbClr val="00B0F0"/>
                </a:solidFill>
              </a:rPr>
              <a:t>edical history</a:t>
            </a:r>
            <a:endParaRPr lang="en-GB" dirty="0">
              <a:solidFill>
                <a:srgbClr val="00B0F0"/>
              </a:solidFill>
            </a:endParaRPr>
          </a:p>
        </p:txBody>
      </p:sp>
      <p:sp>
        <p:nvSpPr>
          <p:cNvPr id="25" name="TextBox 24"/>
          <p:cNvSpPr txBox="1"/>
          <p:nvPr/>
        </p:nvSpPr>
        <p:spPr>
          <a:xfrm>
            <a:off x="4544291" y="3251200"/>
            <a:ext cx="2613891" cy="369332"/>
          </a:xfrm>
          <a:prstGeom prst="rect">
            <a:avLst/>
          </a:prstGeom>
          <a:noFill/>
        </p:spPr>
        <p:txBody>
          <a:bodyPr wrap="square" rtlCol="0">
            <a:spAutoFit/>
          </a:bodyPr>
          <a:lstStyle/>
          <a:p>
            <a:r>
              <a:rPr lang="en-GB" dirty="0">
                <a:solidFill>
                  <a:srgbClr val="FF0000"/>
                </a:solidFill>
              </a:rPr>
              <a:t>c</a:t>
            </a:r>
            <a:r>
              <a:rPr lang="en-GB" dirty="0" smtClean="0">
                <a:solidFill>
                  <a:srgbClr val="FF0000"/>
                </a:solidFill>
              </a:rPr>
              <a:t>linician skill</a:t>
            </a:r>
            <a:endParaRPr lang="en-GB" dirty="0">
              <a:solidFill>
                <a:srgbClr val="FF0000"/>
              </a:solidFill>
            </a:endParaRPr>
          </a:p>
        </p:txBody>
      </p:sp>
      <p:sp>
        <p:nvSpPr>
          <p:cNvPr id="26" name="TextBox 25"/>
          <p:cNvSpPr txBox="1"/>
          <p:nvPr/>
        </p:nvSpPr>
        <p:spPr>
          <a:xfrm>
            <a:off x="2105891" y="1477818"/>
            <a:ext cx="2179782" cy="369332"/>
          </a:xfrm>
          <a:prstGeom prst="rect">
            <a:avLst/>
          </a:prstGeom>
          <a:noFill/>
        </p:spPr>
        <p:txBody>
          <a:bodyPr wrap="square" rtlCol="0">
            <a:spAutoFit/>
          </a:bodyPr>
          <a:lstStyle/>
          <a:p>
            <a:r>
              <a:rPr lang="en-GB" dirty="0">
                <a:solidFill>
                  <a:srgbClr val="FF0000"/>
                </a:solidFill>
              </a:rPr>
              <a:t>c</a:t>
            </a:r>
            <a:r>
              <a:rPr lang="en-GB" dirty="0" smtClean="0">
                <a:solidFill>
                  <a:srgbClr val="FF0000"/>
                </a:solidFill>
              </a:rPr>
              <a:t>linician experience</a:t>
            </a:r>
            <a:endParaRPr lang="en-GB" dirty="0">
              <a:solidFill>
                <a:srgbClr val="FF0000"/>
              </a:solidFill>
            </a:endParaRPr>
          </a:p>
        </p:txBody>
      </p:sp>
      <p:sp>
        <p:nvSpPr>
          <p:cNvPr id="27" name="TextBox 26"/>
          <p:cNvSpPr txBox="1"/>
          <p:nvPr/>
        </p:nvSpPr>
        <p:spPr>
          <a:xfrm>
            <a:off x="8395855" y="775855"/>
            <a:ext cx="3362036" cy="369332"/>
          </a:xfrm>
          <a:prstGeom prst="rect">
            <a:avLst/>
          </a:prstGeom>
          <a:noFill/>
        </p:spPr>
        <p:txBody>
          <a:bodyPr wrap="square" rtlCol="0">
            <a:spAutoFit/>
          </a:bodyPr>
          <a:lstStyle/>
          <a:p>
            <a:r>
              <a:rPr lang="en-GB" dirty="0">
                <a:solidFill>
                  <a:srgbClr val="FF0000"/>
                </a:solidFill>
              </a:rPr>
              <a:t>e</a:t>
            </a:r>
            <a:r>
              <a:rPr lang="en-GB" dirty="0" smtClean="0">
                <a:solidFill>
                  <a:srgbClr val="FF0000"/>
                </a:solidFill>
              </a:rPr>
              <a:t>mbryology lab conditions</a:t>
            </a:r>
            <a:endParaRPr lang="en-GB" dirty="0">
              <a:solidFill>
                <a:srgbClr val="FF0000"/>
              </a:solidFill>
            </a:endParaRPr>
          </a:p>
        </p:txBody>
      </p:sp>
      <p:sp>
        <p:nvSpPr>
          <p:cNvPr id="28" name="TextBox 27"/>
          <p:cNvSpPr txBox="1"/>
          <p:nvPr/>
        </p:nvSpPr>
        <p:spPr>
          <a:xfrm>
            <a:off x="7620000" y="2465895"/>
            <a:ext cx="3463636" cy="369332"/>
          </a:xfrm>
          <a:prstGeom prst="rect">
            <a:avLst/>
          </a:prstGeom>
          <a:noFill/>
        </p:spPr>
        <p:txBody>
          <a:bodyPr wrap="square" rtlCol="0">
            <a:spAutoFit/>
          </a:bodyPr>
          <a:lstStyle/>
          <a:p>
            <a:r>
              <a:rPr lang="en-GB" dirty="0">
                <a:solidFill>
                  <a:srgbClr val="FF0000"/>
                </a:solidFill>
              </a:rPr>
              <a:t>e</a:t>
            </a:r>
            <a:r>
              <a:rPr lang="en-GB" dirty="0" smtClean="0">
                <a:solidFill>
                  <a:srgbClr val="FF0000"/>
                </a:solidFill>
              </a:rPr>
              <a:t>mbryo selection procedures</a:t>
            </a:r>
            <a:endParaRPr lang="en-GB" dirty="0">
              <a:solidFill>
                <a:srgbClr val="FF0000"/>
              </a:solidFill>
            </a:endParaRPr>
          </a:p>
        </p:txBody>
      </p:sp>
      <p:sp>
        <p:nvSpPr>
          <p:cNvPr id="29" name="TextBox 28"/>
          <p:cNvSpPr txBox="1"/>
          <p:nvPr/>
        </p:nvSpPr>
        <p:spPr>
          <a:xfrm>
            <a:off x="369455" y="5458691"/>
            <a:ext cx="3445163" cy="584775"/>
          </a:xfrm>
          <a:prstGeom prst="rect">
            <a:avLst/>
          </a:prstGeom>
          <a:noFill/>
        </p:spPr>
        <p:txBody>
          <a:bodyPr wrap="square" rtlCol="0">
            <a:spAutoFit/>
          </a:bodyPr>
          <a:lstStyle/>
          <a:p>
            <a:r>
              <a:rPr lang="en-GB" sz="3200" dirty="0">
                <a:solidFill>
                  <a:srgbClr val="FF0000"/>
                </a:solidFill>
              </a:rPr>
              <a:t>d</a:t>
            </a:r>
            <a:r>
              <a:rPr lang="en-GB" sz="3200" dirty="0" smtClean="0">
                <a:solidFill>
                  <a:srgbClr val="FF0000"/>
                </a:solidFill>
              </a:rPr>
              <a:t>iagnostic tests</a:t>
            </a:r>
            <a:endParaRPr lang="en-GB" sz="3200" dirty="0">
              <a:solidFill>
                <a:srgbClr val="FF0000"/>
              </a:solidFill>
            </a:endParaRPr>
          </a:p>
        </p:txBody>
      </p:sp>
      <p:sp>
        <p:nvSpPr>
          <p:cNvPr id="30" name="TextBox 29"/>
          <p:cNvSpPr txBox="1"/>
          <p:nvPr/>
        </p:nvSpPr>
        <p:spPr>
          <a:xfrm>
            <a:off x="8303491" y="5751078"/>
            <a:ext cx="4516582" cy="369332"/>
          </a:xfrm>
          <a:prstGeom prst="rect">
            <a:avLst/>
          </a:prstGeom>
          <a:noFill/>
        </p:spPr>
        <p:txBody>
          <a:bodyPr wrap="square" rtlCol="0">
            <a:spAutoFit/>
          </a:bodyPr>
          <a:lstStyle/>
          <a:p>
            <a:r>
              <a:rPr lang="en-GB" dirty="0">
                <a:solidFill>
                  <a:srgbClr val="FF0000"/>
                </a:solidFill>
              </a:rPr>
              <a:t>c</a:t>
            </a:r>
            <a:r>
              <a:rPr lang="en-GB" dirty="0" smtClean="0">
                <a:solidFill>
                  <a:srgbClr val="FF0000"/>
                </a:solidFill>
              </a:rPr>
              <a:t>ulture media</a:t>
            </a:r>
            <a:endParaRPr lang="en-GB" dirty="0">
              <a:solidFill>
                <a:srgbClr val="FF0000"/>
              </a:solidFill>
            </a:endParaRPr>
          </a:p>
        </p:txBody>
      </p:sp>
      <p:sp>
        <p:nvSpPr>
          <p:cNvPr id="31" name="TextBox 30"/>
          <p:cNvSpPr txBox="1"/>
          <p:nvPr/>
        </p:nvSpPr>
        <p:spPr>
          <a:xfrm>
            <a:off x="4548908" y="5788423"/>
            <a:ext cx="4373419" cy="707886"/>
          </a:xfrm>
          <a:prstGeom prst="rect">
            <a:avLst/>
          </a:prstGeom>
          <a:noFill/>
        </p:spPr>
        <p:txBody>
          <a:bodyPr wrap="square" rtlCol="0">
            <a:spAutoFit/>
          </a:bodyPr>
          <a:lstStyle/>
          <a:p>
            <a:r>
              <a:rPr lang="en-GB" sz="4000" dirty="0" smtClean="0">
                <a:solidFill>
                  <a:srgbClr val="FF0000"/>
                </a:solidFill>
              </a:rPr>
              <a:t>incubators</a:t>
            </a:r>
            <a:endParaRPr lang="en-GB" sz="4000" dirty="0">
              <a:solidFill>
                <a:srgbClr val="FF0000"/>
              </a:solidFill>
            </a:endParaRPr>
          </a:p>
        </p:txBody>
      </p:sp>
      <p:sp>
        <p:nvSpPr>
          <p:cNvPr id="32" name="TextBox 31"/>
          <p:cNvSpPr txBox="1"/>
          <p:nvPr/>
        </p:nvSpPr>
        <p:spPr>
          <a:xfrm>
            <a:off x="10178473" y="5328953"/>
            <a:ext cx="1505527" cy="1323439"/>
          </a:xfrm>
          <a:prstGeom prst="rect">
            <a:avLst/>
          </a:prstGeom>
          <a:noFill/>
        </p:spPr>
        <p:txBody>
          <a:bodyPr wrap="square" rtlCol="0">
            <a:spAutoFit/>
          </a:bodyPr>
          <a:lstStyle/>
          <a:p>
            <a:r>
              <a:rPr lang="en-GB" sz="8000" dirty="0" smtClean="0">
                <a:solidFill>
                  <a:schemeClr val="accent1">
                    <a:lumMod val="60000"/>
                    <a:lumOff val="40000"/>
                  </a:schemeClr>
                </a:solidFill>
                <a:latin typeface="Agency FB" panose="020B0503020202020204" pitchFamily="34" charset="0"/>
              </a:rPr>
              <a:t>?</a:t>
            </a:r>
            <a:endParaRPr lang="en-GB" sz="8000" dirty="0">
              <a:solidFill>
                <a:schemeClr val="accent1">
                  <a:lumMod val="60000"/>
                  <a:lumOff val="40000"/>
                </a:schemeClr>
              </a:solidFill>
              <a:latin typeface="Agency FB" panose="020B0503020202020204" pitchFamily="34" charset="0"/>
            </a:endParaRPr>
          </a:p>
        </p:txBody>
      </p:sp>
      <p:sp>
        <p:nvSpPr>
          <p:cNvPr id="34" name="Rectangle 33"/>
          <p:cNvSpPr/>
          <p:nvPr/>
        </p:nvSpPr>
        <p:spPr>
          <a:xfrm>
            <a:off x="10967823" y="1535924"/>
            <a:ext cx="449162" cy="923330"/>
          </a:xfrm>
          <a:prstGeom prst="rect">
            <a:avLst/>
          </a:prstGeom>
        </p:spPr>
        <p:txBody>
          <a:bodyPr wrap="none">
            <a:spAutoFit/>
          </a:bodyPr>
          <a:lstStyle/>
          <a:p>
            <a:r>
              <a:rPr lang="en-GB" sz="5400" dirty="0">
                <a:solidFill>
                  <a:schemeClr val="accent1">
                    <a:lumMod val="60000"/>
                    <a:lumOff val="40000"/>
                  </a:schemeClr>
                </a:solidFill>
                <a:latin typeface="Agency FB" panose="020B0503020202020204" pitchFamily="34" charset="0"/>
              </a:rPr>
              <a:t>?</a:t>
            </a:r>
          </a:p>
        </p:txBody>
      </p:sp>
      <p:sp>
        <p:nvSpPr>
          <p:cNvPr id="35" name="Rectangle 34"/>
          <p:cNvSpPr/>
          <p:nvPr/>
        </p:nvSpPr>
        <p:spPr>
          <a:xfrm>
            <a:off x="6282497" y="3750178"/>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sp>
        <p:nvSpPr>
          <p:cNvPr id="36" name="Rectangle 35"/>
          <p:cNvSpPr/>
          <p:nvPr/>
        </p:nvSpPr>
        <p:spPr>
          <a:xfrm>
            <a:off x="2598838" y="2471402"/>
            <a:ext cx="449162" cy="923330"/>
          </a:xfrm>
          <a:prstGeom prst="rect">
            <a:avLst/>
          </a:prstGeom>
        </p:spPr>
        <p:txBody>
          <a:bodyPr wrap="none">
            <a:spAutoFit/>
          </a:bodyPr>
          <a:lstStyle/>
          <a:p>
            <a:r>
              <a:rPr lang="en-GB" sz="5400" dirty="0" smtClean="0">
                <a:solidFill>
                  <a:schemeClr val="accent1">
                    <a:lumMod val="60000"/>
                    <a:lumOff val="40000"/>
                  </a:schemeClr>
                </a:solidFill>
                <a:latin typeface="Agency FB" panose="020B0503020202020204" pitchFamily="34" charset="0"/>
              </a:rPr>
              <a:t>?</a:t>
            </a:r>
            <a:endParaRPr lang="en-GB" sz="5400" dirty="0">
              <a:solidFill>
                <a:schemeClr val="accent1">
                  <a:lumMod val="60000"/>
                  <a:lumOff val="40000"/>
                </a:schemeClr>
              </a:solidFill>
              <a:latin typeface="Agency FB" panose="020B0503020202020204" pitchFamily="34" charset="0"/>
            </a:endParaRPr>
          </a:p>
        </p:txBody>
      </p:sp>
      <p:sp>
        <p:nvSpPr>
          <p:cNvPr id="37" name="TextBox 36"/>
          <p:cNvSpPr txBox="1"/>
          <p:nvPr/>
        </p:nvSpPr>
        <p:spPr>
          <a:xfrm>
            <a:off x="429490" y="773306"/>
            <a:ext cx="988292" cy="1107996"/>
          </a:xfrm>
          <a:prstGeom prst="rect">
            <a:avLst/>
          </a:prstGeom>
          <a:noFill/>
        </p:spPr>
        <p:txBody>
          <a:bodyPr wrap="square" rtlCol="0">
            <a:spAutoFit/>
          </a:bodyPr>
          <a:lstStyle/>
          <a:p>
            <a:r>
              <a:rPr lang="en-GB" sz="6600">
                <a:solidFill>
                  <a:schemeClr val="accent1">
                    <a:lumMod val="60000"/>
                    <a:lumOff val="40000"/>
                  </a:schemeClr>
                </a:solidFill>
                <a:latin typeface="Agency FB" panose="020B0503020202020204" pitchFamily="34" charset="0"/>
              </a:rPr>
              <a:t>?</a:t>
            </a:r>
            <a:endParaRPr lang="en-GB" sz="6600" dirty="0">
              <a:solidFill>
                <a:schemeClr val="accent1">
                  <a:lumMod val="60000"/>
                  <a:lumOff val="40000"/>
                </a:schemeClr>
              </a:solidFill>
              <a:latin typeface="Agency FB" panose="020B0503020202020204" pitchFamily="34" charset="0"/>
            </a:endParaRPr>
          </a:p>
        </p:txBody>
      </p:sp>
      <p:sp>
        <p:nvSpPr>
          <p:cNvPr id="38" name="Rectangle 37"/>
          <p:cNvSpPr/>
          <p:nvPr/>
        </p:nvSpPr>
        <p:spPr>
          <a:xfrm>
            <a:off x="898241" y="4653546"/>
            <a:ext cx="399468" cy="769441"/>
          </a:xfrm>
          <a:prstGeom prst="rect">
            <a:avLst/>
          </a:prstGeom>
        </p:spPr>
        <p:txBody>
          <a:bodyPr wrap="none">
            <a:spAutoFit/>
          </a:bodyPr>
          <a:lstStyle/>
          <a:p>
            <a:r>
              <a:rPr lang="en-GB" sz="4400" dirty="0">
                <a:solidFill>
                  <a:schemeClr val="accent1">
                    <a:lumMod val="60000"/>
                    <a:lumOff val="40000"/>
                  </a:schemeClr>
                </a:solidFill>
                <a:latin typeface="Agency FB" panose="020B0503020202020204" pitchFamily="34" charset="0"/>
              </a:rPr>
              <a:t>?</a:t>
            </a:r>
          </a:p>
        </p:txBody>
      </p:sp>
      <p:sp>
        <p:nvSpPr>
          <p:cNvPr id="39" name="Rectangle 38"/>
          <p:cNvSpPr/>
          <p:nvPr/>
        </p:nvSpPr>
        <p:spPr>
          <a:xfrm>
            <a:off x="3495963" y="6051752"/>
            <a:ext cx="380232" cy="707886"/>
          </a:xfrm>
          <a:prstGeom prst="rect">
            <a:avLst/>
          </a:prstGeom>
        </p:spPr>
        <p:txBody>
          <a:bodyPr wrap="none">
            <a:spAutoFit/>
          </a:bodyPr>
          <a:lstStyle/>
          <a:p>
            <a:r>
              <a:rPr lang="en-GB" sz="4000" dirty="0">
                <a:solidFill>
                  <a:schemeClr val="accent1">
                    <a:lumMod val="60000"/>
                    <a:lumOff val="40000"/>
                  </a:schemeClr>
                </a:solidFill>
                <a:latin typeface="Agency FB" panose="020B0503020202020204" pitchFamily="34" charset="0"/>
              </a:rPr>
              <a:t>?</a:t>
            </a:r>
          </a:p>
        </p:txBody>
      </p:sp>
    </p:spTree>
    <p:extLst>
      <p:ext uri="{BB962C8B-B14F-4D97-AF65-F5344CB8AC3E}">
        <p14:creationId xmlns:p14="http://schemas.microsoft.com/office/powerpoint/2010/main" val="409620373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24216" y="1630800"/>
            <a:ext cx="10852727" cy="6858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3400" y="28"/>
            <a:ext cx="6045200" cy="6858000"/>
          </a:xfrm>
          <a:prstGeom prst="rect">
            <a:avLst/>
          </a:prstGeom>
        </p:spPr>
      </p:pic>
      <p:sp>
        <p:nvSpPr>
          <p:cNvPr id="6" name="Rectangle 5"/>
          <p:cNvSpPr/>
          <p:nvPr/>
        </p:nvSpPr>
        <p:spPr>
          <a:xfrm>
            <a:off x="5605160" y="2971773"/>
            <a:ext cx="490840" cy="369332"/>
          </a:xfrm>
          <a:prstGeom prst="rect">
            <a:avLst/>
          </a:prstGeom>
        </p:spPr>
        <p:txBody>
          <a:bodyPr wrap="none">
            <a:spAutoFit/>
          </a:bodyPr>
          <a:lstStyle/>
          <a:p>
            <a:r>
              <a:rPr lang="en-GB" dirty="0"/>
              <a:t>age</a:t>
            </a:r>
          </a:p>
        </p:txBody>
      </p:sp>
      <p:sp>
        <p:nvSpPr>
          <p:cNvPr id="7" name="Rectangle 6"/>
          <p:cNvSpPr/>
          <p:nvPr/>
        </p:nvSpPr>
        <p:spPr>
          <a:xfrm>
            <a:off x="5850580" y="3912549"/>
            <a:ext cx="1164101" cy="369332"/>
          </a:xfrm>
          <a:prstGeom prst="rect">
            <a:avLst/>
          </a:prstGeom>
        </p:spPr>
        <p:txBody>
          <a:bodyPr wrap="none">
            <a:spAutoFit/>
          </a:bodyPr>
          <a:lstStyle/>
          <a:p>
            <a:r>
              <a:rPr lang="en-GB" dirty="0">
                <a:solidFill>
                  <a:srgbClr val="FF0000"/>
                </a:solidFill>
              </a:rPr>
              <a:t>incubators</a:t>
            </a:r>
          </a:p>
        </p:txBody>
      </p:sp>
      <p:sp>
        <p:nvSpPr>
          <p:cNvPr id="8" name="Rectangle 7"/>
          <p:cNvSpPr/>
          <p:nvPr/>
        </p:nvSpPr>
        <p:spPr>
          <a:xfrm>
            <a:off x="5959584" y="3244334"/>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sp>
        <p:nvSpPr>
          <p:cNvPr id="9" name="TextBox 8"/>
          <p:cNvSpPr txBox="1"/>
          <p:nvPr/>
        </p:nvSpPr>
        <p:spPr>
          <a:xfrm>
            <a:off x="5148936" y="1712117"/>
            <a:ext cx="1865745" cy="830997"/>
          </a:xfrm>
          <a:prstGeom prst="rect">
            <a:avLst/>
          </a:prstGeom>
          <a:noFill/>
        </p:spPr>
        <p:txBody>
          <a:bodyPr wrap="square" rtlCol="0">
            <a:spAutoFit/>
          </a:bodyPr>
          <a:lstStyle/>
          <a:p>
            <a:r>
              <a:rPr lang="en-GB" sz="4800" dirty="0" smtClean="0">
                <a:solidFill>
                  <a:schemeClr val="accent1">
                    <a:lumMod val="60000"/>
                    <a:lumOff val="40000"/>
                  </a:schemeClr>
                </a:solidFill>
                <a:latin typeface="Agency FB" panose="020B0503020202020204" pitchFamily="34" charset="0"/>
              </a:rPr>
              <a:t>?</a:t>
            </a:r>
            <a:endParaRPr lang="en-GB" sz="4800" dirty="0">
              <a:solidFill>
                <a:schemeClr val="accent1">
                  <a:lumMod val="60000"/>
                  <a:lumOff val="40000"/>
                </a:schemeClr>
              </a:solidFill>
              <a:latin typeface="Agency FB" panose="020B0503020202020204" pitchFamily="34" charset="0"/>
            </a:endParaRPr>
          </a:p>
        </p:txBody>
      </p:sp>
      <p:sp>
        <p:nvSpPr>
          <p:cNvPr id="10" name="Rectangle 9"/>
          <p:cNvSpPr/>
          <p:nvPr/>
        </p:nvSpPr>
        <p:spPr>
          <a:xfrm>
            <a:off x="5756163" y="465936"/>
            <a:ext cx="952505" cy="369332"/>
          </a:xfrm>
          <a:prstGeom prst="rect">
            <a:avLst/>
          </a:prstGeom>
        </p:spPr>
        <p:txBody>
          <a:bodyPr wrap="none">
            <a:spAutoFit/>
          </a:bodyPr>
          <a:lstStyle/>
          <a:p>
            <a:r>
              <a:rPr lang="en-GB" dirty="0">
                <a:solidFill>
                  <a:srgbClr val="00B0F0"/>
                </a:solidFill>
              </a:rPr>
              <a:t>smoking</a:t>
            </a:r>
          </a:p>
        </p:txBody>
      </p:sp>
      <p:sp>
        <p:nvSpPr>
          <p:cNvPr id="11" name="Rectangle 10"/>
          <p:cNvSpPr/>
          <p:nvPr/>
        </p:nvSpPr>
        <p:spPr>
          <a:xfrm>
            <a:off x="5764017" y="2173782"/>
            <a:ext cx="1337226" cy="369332"/>
          </a:xfrm>
          <a:prstGeom prst="rect">
            <a:avLst/>
          </a:prstGeom>
        </p:spPr>
        <p:txBody>
          <a:bodyPr wrap="none">
            <a:spAutoFit/>
          </a:bodyPr>
          <a:lstStyle/>
          <a:p>
            <a:r>
              <a:rPr lang="en-GB" dirty="0">
                <a:solidFill>
                  <a:srgbClr val="FF0000"/>
                </a:solidFill>
              </a:rPr>
              <a:t>clinician skill</a:t>
            </a:r>
          </a:p>
        </p:txBody>
      </p:sp>
      <p:sp>
        <p:nvSpPr>
          <p:cNvPr id="12" name="Rectangle 11"/>
          <p:cNvSpPr/>
          <p:nvPr/>
        </p:nvSpPr>
        <p:spPr>
          <a:xfrm>
            <a:off x="4866015" y="4470917"/>
            <a:ext cx="984565" cy="369332"/>
          </a:xfrm>
          <a:prstGeom prst="rect">
            <a:avLst/>
          </a:prstGeom>
        </p:spPr>
        <p:txBody>
          <a:bodyPr wrap="none">
            <a:spAutoFit/>
          </a:bodyPr>
          <a:lstStyle/>
          <a:p>
            <a:r>
              <a:rPr lang="en-GB" dirty="0">
                <a:solidFill>
                  <a:srgbClr val="00B0F0"/>
                </a:solidFill>
              </a:rPr>
              <a:t>ethnicity</a:t>
            </a:r>
          </a:p>
        </p:txBody>
      </p:sp>
      <p:sp>
        <p:nvSpPr>
          <p:cNvPr id="13" name="Rectangle 12"/>
          <p:cNvSpPr/>
          <p:nvPr/>
        </p:nvSpPr>
        <p:spPr>
          <a:xfrm flipH="1">
            <a:off x="7101243" y="6212780"/>
            <a:ext cx="1001589" cy="584775"/>
          </a:xfrm>
          <a:prstGeom prst="rect">
            <a:avLst/>
          </a:prstGeom>
        </p:spPr>
        <p:txBody>
          <a:bodyPr wrap="square">
            <a:spAutoFit/>
          </a:bodyPr>
          <a:lstStyle/>
          <a:p>
            <a:r>
              <a:rPr lang="en-GB" sz="1600" dirty="0">
                <a:solidFill>
                  <a:srgbClr val="00B0F0"/>
                </a:solidFill>
              </a:rPr>
              <a:t>medical history</a:t>
            </a:r>
          </a:p>
        </p:txBody>
      </p:sp>
      <p:sp>
        <p:nvSpPr>
          <p:cNvPr id="14" name="Rectangle 13"/>
          <p:cNvSpPr/>
          <p:nvPr/>
        </p:nvSpPr>
        <p:spPr>
          <a:xfrm>
            <a:off x="4535568" y="5970061"/>
            <a:ext cx="551754" cy="369332"/>
          </a:xfrm>
          <a:prstGeom prst="rect">
            <a:avLst/>
          </a:prstGeom>
        </p:spPr>
        <p:txBody>
          <a:bodyPr wrap="none">
            <a:spAutoFit/>
          </a:bodyPr>
          <a:lstStyle/>
          <a:p>
            <a:r>
              <a:rPr lang="en-GB" dirty="0"/>
              <a:t>BMI</a:t>
            </a:r>
          </a:p>
        </p:txBody>
      </p:sp>
      <p:sp>
        <p:nvSpPr>
          <p:cNvPr id="15" name="Rectangle 14"/>
          <p:cNvSpPr/>
          <p:nvPr/>
        </p:nvSpPr>
        <p:spPr>
          <a:xfrm>
            <a:off x="5959584" y="3244334"/>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sp>
        <p:nvSpPr>
          <p:cNvPr id="16" name="Rectangle 15"/>
          <p:cNvSpPr/>
          <p:nvPr/>
        </p:nvSpPr>
        <p:spPr>
          <a:xfrm>
            <a:off x="7101243" y="2820113"/>
            <a:ext cx="322524" cy="523220"/>
          </a:xfrm>
          <a:prstGeom prst="rect">
            <a:avLst/>
          </a:prstGeom>
        </p:spPr>
        <p:txBody>
          <a:bodyPr wrap="none">
            <a:spAutoFit/>
          </a:bodyPr>
          <a:lstStyle/>
          <a:p>
            <a:r>
              <a:rPr lang="en-GB" sz="2800" dirty="0">
                <a:solidFill>
                  <a:schemeClr val="accent1">
                    <a:lumMod val="60000"/>
                    <a:lumOff val="40000"/>
                  </a:schemeClr>
                </a:solidFill>
                <a:latin typeface="Agency FB" panose="020B0503020202020204" pitchFamily="34" charset="0"/>
              </a:rPr>
              <a:t>?</a:t>
            </a:r>
          </a:p>
        </p:txBody>
      </p:sp>
      <p:sp>
        <p:nvSpPr>
          <p:cNvPr id="17" name="Rectangle 16"/>
          <p:cNvSpPr/>
          <p:nvPr/>
        </p:nvSpPr>
        <p:spPr>
          <a:xfrm>
            <a:off x="5267226" y="3560829"/>
            <a:ext cx="1629164" cy="369332"/>
          </a:xfrm>
          <a:prstGeom prst="rect">
            <a:avLst/>
          </a:prstGeom>
        </p:spPr>
        <p:txBody>
          <a:bodyPr wrap="none">
            <a:spAutoFit/>
          </a:bodyPr>
          <a:lstStyle/>
          <a:p>
            <a:r>
              <a:rPr lang="en-GB" dirty="0"/>
              <a:t>ovarian reserve</a:t>
            </a:r>
          </a:p>
        </p:txBody>
      </p:sp>
      <p:sp>
        <p:nvSpPr>
          <p:cNvPr id="18" name="Rectangle 17"/>
          <p:cNvSpPr/>
          <p:nvPr/>
        </p:nvSpPr>
        <p:spPr>
          <a:xfrm>
            <a:off x="4949435" y="780064"/>
            <a:ext cx="1629164" cy="461665"/>
          </a:xfrm>
          <a:prstGeom prst="rect">
            <a:avLst/>
          </a:prstGeom>
        </p:spPr>
        <p:txBody>
          <a:bodyPr wrap="square">
            <a:spAutoFit/>
          </a:bodyPr>
          <a:lstStyle/>
          <a:p>
            <a:pPr algn="ctr"/>
            <a:r>
              <a:rPr lang="en-GB" sz="1200" dirty="0">
                <a:solidFill>
                  <a:srgbClr val="FF0000"/>
                </a:solidFill>
              </a:rPr>
              <a:t>embryology lab conditions</a:t>
            </a:r>
          </a:p>
        </p:txBody>
      </p:sp>
      <p:sp>
        <p:nvSpPr>
          <p:cNvPr id="19" name="Rectangle 18"/>
          <p:cNvSpPr/>
          <p:nvPr/>
        </p:nvSpPr>
        <p:spPr>
          <a:xfrm>
            <a:off x="4674489" y="2426498"/>
            <a:ext cx="1861342" cy="369332"/>
          </a:xfrm>
          <a:prstGeom prst="rect">
            <a:avLst/>
          </a:prstGeom>
        </p:spPr>
        <p:txBody>
          <a:bodyPr wrap="none">
            <a:spAutoFit/>
          </a:bodyPr>
          <a:lstStyle/>
          <a:p>
            <a:pPr algn="ctr"/>
            <a:r>
              <a:rPr lang="en-GB" dirty="0"/>
              <a:t>previous attempts</a:t>
            </a:r>
          </a:p>
        </p:txBody>
      </p:sp>
      <p:sp>
        <p:nvSpPr>
          <p:cNvPr id="20" name="Rectangle 19"/>
          <p:cNvSpPr/>
          <p:nvPr/>
        </p:nvSpPr>
        <p:spPr>
          <a:xfrm>
            <a:off x="6623558" y="4930264"/>
            <a:ext cx="420308" cy="830997"/>
          </a:xfrm>
          <a:prstGeom prst="rect">
            <a:avLst/>
          </a:prstGeom>
        </p:spPr>
        <p:txBody>
          <a:bodyPr wrap="none">
            <a:spAutoFit/>
          </a:bodyPr>
          <a:lstStyle/>
          <a:p>
            <a:r>
              <a:rPr lang="en-GB" sz="4800" dirty="0">
                <a:solidFill>
                  <a:schemeClr val="accent1">
                    <a:lumMod val="60000"/>
                    <a:lumOff val="40000"/>
                  </a:schemeClr>
                </a:solidFill>
                <a:latin typeface="Agency FB" panose="020B0503020202020204" pitchFamily="34" charset="0"/>
              </a:rPr>
              <a:t>?</a:t>
            </a:r>
          </a:p>
        </p:txBody>
      </p:sp>
      <p:sp>
        <p:nvSpPr>
          <p:cNvPr id="2" name="TextBox 1"/>
          <p:cNvSpPr txBox="1"/>
          <p:nvPr/>
        </p:nvSpPr>
        <p:spPr>
          <a:xfrm>
            <a:off x="102112" y="923191"/>
            <a:ext cx="3029467" cy="1200329"/>
          </a:xfrm>
          <a:prstGeom prst="rect">
            <a:avLst/>
          </a:prstGeom>
          <a:noFill/>
        </p:spPr>
        <p:txBody>
          <a:bodyPr wrap="square" rtlCol="0">
            <a:spAutoFit/>
          </a:bodyPr>
          <a:lstStyle/>
          <a:p>
            <a:r>
              <a:rPr lang="en-GB" dirty="0" smtClean="0"/>
              <a:t>There is a unique ‘story’ or profile in the background, every time a patient is treated.</a:t>
            </a:r>
            <a:endParaRPr lang="en-GB" dirty="0"/>
          </a:p>
        </p:txBody>
      </p:sp>
    </p:spTree>
    <p:extLst>
      <p:ext uri="{BB962C8B-B14F-4D97-AF65-F5344CB8AC3E}">
        <p14:creationId xmlns:p14="http://schemas.microsoft.com/office/powerpoint/2010/main" val="261676851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a:off x="806051" y="1635720"/>
            <a:ext cx="10852727" cy="6858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3400" y="28"/>
            <a:ext cx="6045200" cy="6858000"/>
          </a:xfrm>
          <a:prstGeom prst="rect">
            <a:avLst/>
          </a:prstGeom>
        </p:spPr>
      </p:pic>
      <p:sp>
        <p:nvSpPr>
          <p:cNvPr id="6" name="Rectangle 5"/>
          <p:cNvSpPr/>
          <p:nvPr/>
        </p:nvSpPr>
        <p:spPr>
          <a:xfrm>
            <a:off x="5605160" y="2971773"/>
            <a:ext cx="490840" cy="369332"/>
          </a:xfrm>
          <a:prstGeom prst="rect">
            <a:avLst/>
          </a:prstGeom>
        </p:spPr>
        <p:txBody>
          <a:bodyPr wrap="none">
            <a:spAutoFit/>
          </a:bodyPr>
          <a:lstStyle/>
          <a:p>
            <a:r>
              <a:rPr lang="en-GB" dirty="0"/>
              <a:t>age</a:t>
            </a:r>
          </a:p>
        </p:txBody>
      </p:sp>
      <p:sp>
        <p:nvSpPr>
          <p:cNvPr id="7" name="Rectangle 6"/>
          <p:cNvSpPr/>
          <p:nvPr/>
        </p:nvSpPr>
        <p:spPr>
          <a:xfrm>
            <a:off x="5850580" y="3912549"/>
            <a:ext cx="1164101" cy="369332"/>
          </a:xfrm>
          <a:prstGeom prst="rect">
            <a:avLst/>
          </a:prstGeom>
        </p:spPr>
        <p:txBody>
          <a:bodyPr wrap="none">
            <a:spAutoFit/>
          </a:bodyPr>
          <a:lstStyle/>
          <a:p>
            <a:r>
              <a:rPr lang="en-GB" dirty="0">
                <a:solidFill>
                  <a:srgbClr val="FF0000"/>
                </a:solidFill>
              </a:rPr>
              <a:t>incubators</a:t>
            </a:r>
          </a:p>
        </p:txBody>
      </p:sp>
      <p:sp>
        <p:nvSpPr>
          <p:cNvPr id="8" name="Rectangle 7"/>
          <p:cNvSpPr/>
          <p:nvPr/>
        </p:nvSpPr>
        <p:spPr>
          <a:xfrm>
            <a:off x="5959584" y="3244334"/>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sp>
        <p:nvSpPr>
          <p:cNvPr id="9" name="TextBox 8"/>
          <p:cNvSpPr txBox="1"/>
          <p:nvPr/>
        </p:nvSpPr>
        <p:spPr>
          <a:xfrm>
            <a:off x="5148936" y="1712117"/>
            <a:ext cx="1865745" cy="830997"/>
          </a:xfrm>
          <a:prstGeom prst="rect">
            <a:avLst/>
          </a:prstGeom>
          <a:noFill/>
        </p:spPr>
        <p:txBody>
          <a:bodyPr wrap="square" rtlCol="0">
            <a:spAutoFit/>
          </a:bodyPr>
          <a:lstStyle/>
          <a:p>
            <a:r>
              <a:rPr lang="en-GB" sz="4800" dirty="0" smtClean="0">
                <a:solidFill>
                  <a:schemeClr val="accent1">
                    <a:lumMod val="60000"/>
                    <a:lumOff val="40000"/>
                  </a:schemeClr>
                </a:solidFill>
                <a:latin typeface="Agency FB" panose="020B0503020202020204" pitchFamily="34" charset="0"/>
              </a:rPr>
              <a:t>?</a:t>
            </a:r>
            <a:endParaRPr lang="en-GB" sz="4800" dirty="0">
              <a:solidFill>
                <a:schemeClr val="accent1">
                  <a:lumMod val="60000"/>
                  <a:lumOff val="40000"/>
                </a:schemeClr>
              </a:solidFill>
              <a:latin typeface="Agency FB" panose="020B0503020202020204" pitchFamily="34" charset="0"/>
            </a:endParaRPr>
          </a:p>
        </p:txBody>
      </p:sp>
      <p:sp>
        <p:nvSpPr>
          <p:cNvPr id="10" name="Rectangle 9"/>
          <p:cNvSpPr/>
          <p:nvPr/>
        </p:nvSpPr>
        <p:spPr>
          <a:xfrm>
            <a:off x="5756163" y="465936"/>
            <a:ext cx="952505" cy="369332"/>
          </a:xfrm>
          <a:prstGeom prst="rect">
            <a:avLst/>
          </a:prstGeom>
        </p:spPr>
        <p:txBody>
          <a:bodyPr wrap="none">
            <a:spAutoFit/>
          </a:bodyPr>
          <a:lstStyle/>
          <a:p>
            <a:r>
              <a:rPr lang="en-GB" dirty="0">
                <a:solidFill>
                  <a:srgbClr val="00B0F0"/>
                </a:solidFill>
              </a:rPr>
              <a:t>smoking</a:t>
            </a:r>
          </a:p>
        </p:txBody>
      </p:sp>
      <p:sp>
        <p:nvSpPr>
          <p:cNvPr id="11" name="Rectangle 10"/>
          <p:cNvSpPr/>
          <p:nvPr/>
        </p:nvSpPr>
        <p:spPr>
          <a:xfrm>
            <a:off x="5764017" y="2173782"/>
            <a:ext cx="1337226" cy="369332"/>
          </a:xfrm>
          <a:prstGeom prst="rect">
            <a:avLst/>
          </a:prstGeom>
        </p:spPr>
        <p:txBody>
          <a:bodyPr wrap="none">
            <a:spAutoFit/>
          </a:bodyPr>
          <a:lstStyle/>
          <a:p>
            <a:r>
              <a:rPr lang="en-GB" dirty="0">
                <a:solidFill>
                  <a:srgbClr val="FF0000"/>
                </a:solidFill>
              </a:rPr>
              <a:t>clinician skill</a:t>
            </a:r>
          </a:p>
        </p:txBody>
      </p:sp>
      <p:sp>
        <p:nvSpPr>
          <p:cNvPr id="12" name="Rectangle 11"/>
          <p:cNvSpPr/>
          <p:nvPr/>
        </p:nvSpPr>
        <p:spPr>
          <a:xfrm>
            <a:off x="4866015" y="4470917"/>
            <a:ext cx="984565" cy="369332"/>
          </a:xfrm>
          <a:prstGeom prst="rect">
            <a:avLst/>
          </a:prstGeom>
        </p:spPr>
        <p:txBody>
          <a:bodyPr wrap="none">
            <a:spAutoFit/>
          </a:bodyPr>
          <a:lstStyle/>
          <a:p>
            <a:r>
              <a:rPr lang="en-GB" dirty="0">
                <a:solidFill>
                  <a:srgbClr val="00B0F0"/>
                </a:solidFill>
              </a:rPr>
              <a:t>ethnicity</a:t>
            </a:r>
          </a:p>
        </p:txBody>
      </p:sp>
      <p:sp>
        <p:nvSpPr>
          <p:cNvPr id="13" name="Rectangle 12"/>
          <p:cNvSpPr/>
          <p:nvPr/>
        </p:nvSpPr>
        <p:spPr>
          <a:xfrm flipH="1">
            <a:off x="7101243" y="6212780"/>
            <a:ext cx="1001589" cy="584775"/>
          </a:xfrm>
          <a:prstGeom prst="rect">
            <a:avLst/>
          </a:prstGeom>
        </p:spPr>
        <p:txBody>
          <a:bodyPr wrap="square">
            <a:spAutoFit/>
          </a:bodyPr>
          <a:lstStyle/>
          <a:p>
            <a:r>
              <a:rPr lang="en-GB" sz="1600" dirty="0">
                <a:solidFill>
                  <a:srgbClr val="00B0F0"/>
                </a:solidFill>
              </a:rPr>
              <a:t>medical history</a:t>
            </a:r>
          </a:p>
        </p:txBody>
      </p:sp>
      <p:sp>
        <p:nvSpPr>
          <p:cNvPr id="14" name="Rectangle 13"/>
          <p:cNvSpPr/>
          <p:nvPr/>
        </p:nvSpPr>
        <p:spPr>
          <a:xfrm>
            <a:off x="4535568" y="5970061"/>
            <a:ext cx="551754" cy="369332"/>
          </a:xfrm>
          <a:prstGeom prst="rect">
            <a:avLst/>
          </a:prstGeom>
        </p:spPr>
        <p:txBody>
          <a:bodyPr wrap="none">
            <a:spAutoFit/>
          </a:bodyPr>
          <a:lstStyle/>
          <a:p>
            <a:r>
              <a:rPr lang="en-GB" dirty="0"/>
              <a:t>BMI</a:t>
            </a:r>
          </a:p>
        </p:txBody>
      </p:sp>
      <p:sp>
        <p:nvSpPr>
          <p:cNvPr id="15" name="Rectangle 14"/>
          <p:cNvSpPr/>
          <p:nvPr/>
        </p:nvSpPr>
        <p:spPr>
          <a:xfrm>
            <a:off x="5959584" y="3244334"/>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sp>
        <p:nvSpPr>
          <p:cNvPr id="16" name="Rectangle 15"/>
          <p:cNvSpPr/>
          <p:nvPr/>
        </p:nvSpPr>
        <p:spPr>
          <a:xfrm>
            <a:off x="7101243" y="2820113"/>
            <a:ext cx="322524" cy="523220"/>
          </a:xfrm>
          <a:prstGeom prst="rect">
            <a:avLst/>
          </a:prstGeom>
        </p:spPr>
        <p:txBody>
          <a:bodyPr wrap="none">
            <a:spAutoFit/>
          </a:bodyPr>
          <a:lstStyle/>
          <a:p>
            <a:r>
              <a:rPr lang="en-GB" sz="2800" dirty="0">
                <a:solidFill>
                  <a:schemeClr val="accent1">
                    <a:lumMod val="60000"/>
                    <a:lumOff val="40000"/>
                  </a:schemeClr>
                </a:solidFill>
                <a:latin typeface="Agency FB" panose="020B0503020202020204" pitchFamily="34" charset="0"/>
              </a:rPr>
              <a:t>?</a:t>
            </a:r>
          </a:p>
        </p:txBody>
      </p:sp>
      <p:sp>
        <p:nvSpPr>
          <p:cNvPr id="17" name="Rectangle 16"/>
          <p:cNvSpPr/>
          <p:nvPr/>
        </p:nvSpPr>
        <p:spPr>
          <a:xfrm>
            <a:off x="5267226" y="3560829"/>
            <a:ext cx="1629164" cy="369332"/>
          </a:xfrm>
          <a:prstGeom prst="rect">
            <a:avLst/>
          </a:prstGeom>
        </p:spPr>
        <p:txBody>
          <a:bodyPr wrap="none">
            <a:spAutoFit/>
          </a:bodyPr>
          <a:lstStyle/>
          <a:p>
            <a:r>
              <a:rPr lang="en-GB" dirty="0"/>
              <a:t>ovarian reserve</a:t>
            </a:r>
          </a:p>
        </p:txBody>
      </p:sp>
      <p:sp>
        <p:nvSpPr>
          <p:cNvPr id="18" name="Rectangle 17"/>
          <p:cNvSpPr/>
          <p:nvPr/>
        </p:nvSpPr>
        <p:spPr>
          <a:xfrm>
            <a:off x="4949435" y="780064"/>
            <a:ext cx="1629164" cy="461665"/>
          </a:xfrm>
          <a:prstGeom prst="rect">
            <a:avLst/>
          </a:prstGeom>
        </p:spPr>
        <p:txBody>
          <a:bodyPr wrap="square">
            <a:spAutoFit/>
          </a:bodyPr>
          <a:lstStyle/>
          <a:p>
            <a:pPr algn="ctr"/>
            <a:r>
              <a:rPr lang="en-GB" sz="1200" dirty="0">
                <a:solidFill>
                  <a:srgbClr val="FF0000"/>
                </a:solidFill>
              </a:rPr>
              <a:t>embryology lab conditions</a:t>
            </a:r>
          </a:p>
        </p:txBody>
      </p:sp>
      <p:sp>
        <p:nvSpPr>
          <p:cNvPr id="19" name="Rectangle 18"/>
          <p:cNvSpPr/>
          <p:nvPr/>
        </p:nvSpPr>
        <p:spPr>
          <a:xfrm>
            <a:off x="4674489" y="2426498"/>
            <a:ext cx="1861342" cy="369332"/>
          </a:xfrm>
          <a:prstGeom prst="rect">
            <a:avLst/>
          </a:prstGeom>
        </p:spPr>
        <p:txBody>
          <a:bodyPr wrap="none">
            <a:spAutoFit/>
          </a:bodyPr>
          <a:lstStyle/>
          <a:p>
            <a:pPr algn="ctr"/>
            <a:r>
              <a:rPr lang="en-GB" dirty="0"/>
              <a:t>previous attempts</a:t>
            </a:r>
          </a:p>
        </p:txBody>
      </p:sp>
      <p:sp>
        <p:nvSpPr>
          <p:cNvPr id="20" name="Rectangle 19"/>
          <p:cNvSpPr/>
          <p:nvPr/>
        </p:nvSpPr>
        <p:spPr>
          <a:xfrm>
            <a:off x="6623558" y="4930264"/>
            <a:ext cx="420308" cy="830997"/>
          </a:xfrm>
          <a:prstGeom prst="rect">
            <a:avLst/>
          </a:prstGeom>
        </p:spPr>
        <p:txBody>
          <a:bodyPr wrap="none">
            <a:spAutoFit/>
          </a:bodyPr>
          <a:lstStyle/>
          <a:p>
            <a:r>
              <a:rPr lang="en-GB" sz="4800" dirty="0">
                <a:solidFill>
                  <a:schemeClr val="accent1">
                    <a:lumMod val="60000"/>
                    <a:lumOff val="40000"/>
                  </a:schemeClr>
                </a:solidFill>
                <a:latin typeface="Agency FB" panose="020B0503020202020204" pitchFamily="34" charset="0"/>
              </a:rPr>
              <a:t>?</a:t>
            </a:r>
          </a:p>
        </p:txBody>
      </p:sp>
      <p:sp>
        <p:nvSpPr>
          <p:cNvPr id="2" name="TextBox 1"/>
          <p:cNvSpPr txBox="1"/>
          <p:nvPr/>
        </p:nvSpPr>
        <p:spPr>
          <a:xfrm>
            <a:off x="102112" y="923191"/>
            <a:ext cx="3029467" cy="1200329"/>
          </a:xfrm>
          <a:prstGeom prst="rect">
            <a:avLst/>
          </a:prstGeom>
          <a:noFill/>
        </p:spPr>
        <p:txBody>
          <a:bodyPr wrap="square" rtlCol="0">
            <a:spAutoFit/>
          </a:bodyPr>
          <a:lstStyle/>
          <a:p>
            <a:r>
              <a:rPr lang="en-GB" dirty="0" smtClean="0"/>
              <a:t>There is a unique ‘story’ or profile in the background, every time a patient is treated.</a:t>
            </a:r>
            <a:endParaRPr lang="en-GB" dirty="0"/>
          </a:p>
        </p:txBody>
      </p:sp>
      <p:sp>
        <p:nvSpPr>
          <p:cNvPr id="3" name="TextBox 2"/>
          <p:cNvSpPr txBox="1"/>
          <p:nvPr/>
        </p:nvSpPr>
        <p:spPr>
          <a:xfrm>
            <a:off x="307732" y="3613666"/>
            <a:ext cx="2855576" cy="923330"/>
          </a:xfrm>
          <a:prstGeom prst="rect">
            <a:avLst/>
          </a:prstGeom>
          <a:noFill/>
        </p:spPr>
        <p:txBody>
          <a:bodyPr wrap="square" rtlCol="0">
            <a:spAutoFit/>
          </a:bodyPr>
          <a:lstStyle/>
          <a:p>
            <a:r>
              <a:rPr lang="en-GB" dirty="0" smtClean="0"/>
              <a:t>This profile determines whether or not treatment is likely to work.</a:t>
            </a:r>
            <a:endParaRPr lang="en-GB" dirty="0"/>
          </a:p>
        </p:txBody>
      </p:sp>
    </p:spTree>
    <p:extLst>
      <p:ext uri="{BB962C8B-B14F-4D97-AF65-F5344CB8AC3E}">
        <p14:creationId xmlns:p14="http://schemas.microsoft.com/office/powerpoint/2010/main" val="187957013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p:cNvSpPr/>
          <p:nvPr/>
        </p:nvSpPr>
        <p:spPr>
          <a:xfrm>
            <a:off x="616006" y="1460458"/>
            <a:ext cx="10852727" cy="6858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5" name="Group 24"/>
          <p:cNvGrpSpPr/>
          <p:nvPr/>
        </p:nvGrpSpPr>
        <p:grpSpPr>
          <a:xfrm>
            <a:off x="2818152" y="2176341"/>
            <a:ext cx="1584547" cy="2185734"/>
            <a:chOff x="1815829" y="1261360"/>
            <a:chExt cx="1584547" cy="2185734"/>
          </a:xfrm>
        </p:grpSpPr>
        <p:grpSp>
          <p:nvGrpSpPr>
            <p:cNvPr id="6" name="Group 5"/>
            <p:cNvGrpSpPr/>
            <p:nvPr/>
          </p:nvGrpSpPr>
          <p:grpSpPr>
            <a:xfrm>
              <a:off x="2393504" y="2009302"/>
              <a:ext cx="431428" cy="575117"/>
              <a:chOff x="2887410" y="414748"/>
              <a:chExt cx="431428" cy="575117"/>
            </a:xfrm>
          </p:grpSpPr>
          <p:sp>
            <p:nvSpPr>
              <p:cNvPr id="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 name="Group 6"/>
            <p:cNvGrpSpPr/>
            <p:nvPr/>
          </p:nvGrpSpPr>
          <p:grpSpPr>
            <a:xfrm>
              <a:off x="2968948" y="1718435"/>
              <a:ext cx="431428" cy="575117"/>
              <a:chOff x="2887410" y="414748"/>
              <a:chExt cx="431428" cy="575117"/>
            </a:xfrm>
          </p:grpSpPr>
          <p:sp>
            <p:nvSpPr>
              <p:cNvPr id="8"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 name="Group 9"/>
            <p:cNvGrpSpPr/>
            <p:nvPr/>
          </p:nvGrpSpPr>
          <p:grpSpPr>
            <a:xfrm>
              <a:off x="1890068" y="1737899"/>
              <a:ext cx="431428" cy="575117"/>
              <a:chOff x="2887410" y="414748"/>
              <a:chExt cx="431428" cy="575117"/>
            </a:xfrm>
          </p:grpSpPr>
          <p:sp>
            <p:nvSpPr>
              <p:cNvPr id="1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 name="Group 12"/>
            <p:cNvGrpSpPr/>
            <p:nvPr/>
          </p:nvGrpSpPr>
          <p:grpSpPr>
            <a:xfrm>
              <a:off x="2825242" y="2584419"/>
              <a:ext cx="431428" cy="575117"/>
              <a:chOff x="2887410" y="414748"/>
              <a:chExt cx="431428" cy="575117"/>
            </a:xfrm>
          </p:grpSpPr>
          <p:sp>
            <p:nvSpPr>
              <p:cNvPr id="1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6" name="Group 15"/>
            <p:cNvGrpSpPr/>
            <p:nvPr/>
          </p:nvGrpSpPr>
          <p:grpSpPr>
            <a:xfrm>
              <a:off x="2343351" y="2871977"/>
              <a:ext cx="431428" cy="575117"/>
              <a:chOff x="2887410" y="414748"/>
              <a:chExt cx="431428" cy="575117"/>
            </a:xfrm>
          </p:grpSpPr>
          <p:sp>
            <p:nvSpPr>
              <p:cNvPr id="1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 name="Group 18"/>
            <p:cNvGrpSpPr/>
            <p:nvPr/>
          </p:nvGrpSpPr>
          <p:grpSpPr>
            <a:xfrm>
              <a:off x="1815829" y="2440876"/>
              <a:ext cx="431428" cy="575117"/>
              <a:chOff x="2887410" y="414748"/>
              <a:chExt cx="431428" cy="575117"/>
            </a:xfrm>
          </p:grpSpPr>
          <p:sp>
            <p:nvSpPr>
              <p:cNvPr id="20"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 name="Group 21"/>
            <p:cNvGrpSpPr/>
            <p:nvPr/>
          </p:nvGrpSpPr>
          <p:grpSpPr>
            <a:xfrm>
              <a:off x="2434983" y="1261360"/>
              <a:ext cx="431428" cy="575117"/>
              <a:chOff x="2887410" y="414748"/>
              <a:chExt cx="431428" cy="575117"/>
            </a:xfrm>
          </p:grpSpPr>
          <p:sp>
            <p:nvSpPr>
              <p:cNvPr id="2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6" name="Group 25"/>
          <p:cNvGrpSpPr/>
          <p:nvPr/>
        </p:nvGrpSpPr>
        <p:grpSpPr>
          <a:xfrm>
            <a:off x="7560137" y="2083722"/>
            <a:ext cx="1584547" cy="2185734"/>
            <a:chOff x="1815829" y="1261360"/>
            <a:chExt cx="1584547" cy="2185734"/>
          </a:xfrm>
        </p:grpSpPr>
        <p:grpSp>
          <p:nvGrpSpPr>
            <p:cNvPr id="27" name="Group 26"/>
            <p:cNvGrpSpPr/>
            <p:nvPr/>
          </p:nvGrpSpPr>
          <p:grpSpPr>
            <a:xfrm>
              <a:off x="2393504" y="2009302"/>
              <a:ext cx="431428" cy="575117"/>
              <a:chOff x="2887410" y="414748"/>
              <a:chExt cx="431428" cy="575117"/>
            </a:xfrm>
          </p:grpSpPr>
          <p:sp>
            <p:nvSpPr>
              <p:cNvPr id="46"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Oval 46"/>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8" name="Group 27"/>
            <p:cNvGrpSpPr/>
            <p:nvPr/>
          </p:nvGrpSpPr>
          <p:grpSpPr>
            <a:xfrm>
              <a:off x="2968948" y="1718435"/>
              <a:ext cx="431428" cy="575117"/>
              <a:chOff x="2887410" y="414748"/>
              <a:chExt cx="431428" cy="575117"/>
            </a:xfrm>
          </p:grpSpPr>
          <p:sp>
            <p:nvSpPr>
              <p:cNvPr id="4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Oval 4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9" name="Group 28"/>
            <p:cNvGrpSpPr/>
            <p:nvPr/>
          </p:nvGrpSpPr>
          <p:grpSpPr>
            <a:xfrm>
              <a:off x="1890068" y="1737899"/>
              <a:ext cx="431428" cy="575117"/>
              <a:chOff x="2887410" y="414748"/>
              <a:chExt cx="431428" cy="575117"/>
            </a:xfrm>
          </p:grpSpPr>
          <p:sp>
            <p:nvSpPr>
              <p:cNvPr id="42"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Oval 42"/>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0" name="Group 29"/>
            <p:cNvGrpSpPr/>
            <p:nvPr/>
          </p:nvGrpSpPr>
          <p:grpSpPr>
            <a:xfrm>
              <a:off x="2825242" y="2584419"/>
              <a:ext cx="431428" cy="575117"/>
              <a:chOff x="2887410" y="414748"/>
              <a:chExt cx="431428" cy="575117"/>
            </a:xfrm>
          </p:grpSpPr>
          <p:sp>
            <p:nvSpPr>
              <p:cNvPr id="40"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Oval 40"/>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1" name="Group 30"/>
            <p:cNvGrpSpPr/>
            <p:nvPr/>
          </p:nvGrpSpPr>
          <p:grpSpPr>
            <a:xfrm>
              <a:off x="2343351" y="2871977"/>
              <a:ext cx="431428" cy="575117"/>
              <a:chOff x="2887410" y="414748"/>
              <a:chExt cx="431428" cy="575117"/>
            </a:xfrm>
          </p:grpSpPr>
          <p:sp>
            <p:nvSpPr>
              <p:cNvPr id="38"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Oval 38"/>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2" name="Group 31"/>
            <p:cNvGrpSpPr/>
            <p:nvPr/>
          </p:nvGrpSpPr>
          <p:grpSpPr>
            <a:xfrm>
              <a:off x="1815829" y="2440876"/>
              <a:ext cx="431428" cy="575117"/>
              <a:chOff x="2887410" y="414748"/>
              <a:chExt cx="431428" cy="575117"/>
            </a:xfrm>
          </p:grpSpPr>
          <p:sp>
            <p:nvSpPr>
              <p:cNvPr id="36"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Oval 36"/>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3" name="Group 32"/>
            <p:cNvGrpSpPr/>
            <p:nvPr/>
          </p:nvGrpSpPr>
          <p:grpSpPr>
            <a:xfrm>
              <a:off x="2434983" y="1261360"/>
              <a:ext cx="431428" cy="575117"/>
              <a:chOff x="2887410" y="414748"/>
              <a:chExt cx="431428" cy="575117"/>
            </a:xfrm>
          </p:grpSpPr>
          <p:sp>
            <p:nvSpPr>
              <p:cNvPr id="3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Oval 3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48" name="Rectangle 47"/>
          <p:cNvSpPr/>
          <p:nvPr/>
        </p:nvSpPr>
        <p:spPr>
          <a:xfrm>
            <a:off x="188748" y="418737"/>
            <a:ext cx="11707244" cy="707886"/>
          </a:xfrm>
          <a:prstGeom prst="rect">
            <a:avLst/>
          </a:prstGeom>
        </p:spPr>
        <p:txBody>
          <a:bodyPr wrap="square">
            <a:spAutoFit/>
          </a:bodyPr>
          <a:lstStyle/>
          <a:p>
            <a:r>
              <a:rPr lang="en-GB" sz="2000" dirty="0" smtClean="0"/>
              <a:t>In NRSI, we take a group who were treated one way and compare them to a group who were treated a different way</a:t>
            </a:r>
            <a:endParaRPr lang="en-GB" sz="2000" dirty="0"/>
          </a:p>
        </p:txBody>
      </p:sp>
      <p:sp>
        <p:nvSpPr>
          <p:cNvPr id="49" name="TextBox 48"/>
          <p:cNvSpPr txBox="1"/>
          <p:nvPr/>
        </p:nvSpPr>
        <p:spPr>
          <a:xfrm>
            <a:off x="2715849" y="1491402"/>
            <a:ext cx="1791384" cy="523220"/>
          </a:xfrm>
          <a:prstGeom prst="rect">
            <a:avLst/>
          </a:prstGeom>
          <a:noFill/>
        </p:spPr>
        <p:txBody>
          <a:bodyPr wrap="square" rtlCol="0">
            <a:spAutoFit/>
          </a:bodyPr>
          <a:lstStyle/>
          <a:p>
            <a:pPr algn="ctr"/>
            <a:r>
              <a:rPr lang="en-GB" sz="2800" dirty="0" smtClean="0"/>
              <a:t>Group A</a:t>
            </a:r>
            <a:endParaRPr lang="en-GB" sz="2800" dirty="0"/>
          </a:p>
        </p:txBody>
      </p:sp>
      <p:sp>
        <p:nvSpPr>
          <p:cNvPr id="50" name="Rectangle 49"/>
          <p:cNvSpPr/>
          <p:nvPr/>
        </p:nvSpPr>
        <p:spPr>
          <a:xfrm>
            <a:off x="7816846" y="1495318"/>
            <a:ext cx="1443730" cy="523220"/>
          </a:xfrm>
          <a:prstGeom prst="rect">
            <a:avLst/>
          </a:prstGeom>
        </p:spPr>
        <p:txBody>
          <a:bodyPr wrap="none">
            <a:spAutoFit/>
          </a:bodyPr>
          <a:lstStyle/>
          <a:p>
            <a:pPr algn="ctr"/>
            <a:r>
              <a:rPr lang="en-GB" sz="2800" dirty="0"/>
              <a:t>Group </a:t>
            </a:r>
            <a:r>
              <a:rPr lang="en-GB" sz="2800" dirty="0" smtClean="0"/>
              <a:t>B</a:t>
            </a:r>
            <a:endParaRPr lang="en-GB" sz="2800" dirty="0"/>
          </a:p>
        </p:txBody>
      </p:sp>
    </p:spTree>
    <p:extLst>
      <p:ext uri="{BB962C8B-B14F-4D97-AF65-F5344CB8AC3E}">
        <p14:creationId xmlns:p14="http://schemas.microsoft.com/office/powerpoint/2010/main" val="291827378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Rectangle 72"/>
          <p:cNvSpPr/>
          <p:nvPr/>
        </p:nvSpPr>
        <p:spPr>
          <a:xfrm>
            <a:off x="720436" y="1396241"/>
            <a:ext cx="10852727" cy="6858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5" name="Group 24"/>
          <p:cNvGrpSpPr/>
          <p:nvPr/>
        </p:nvGrpSpPr>
        <p:grpSpPr>
          <a:xfrm>
            <a:off x="2818152" y="2176341"/>
            <a:ext cx="1584547" cy="2185734"/>
            <a:chOff x="1815829" y="1261360"/>
            <a:chExt cx="1584547" cy="2185734"/>
          </a:xfrm>
        </p:grpSpPr>
        <p:grpSp>
          <p:nvGrpSpPr>
            <p:cNvPr id="6" name="Group 5"/>
            <p:cNvGrpSpPr/>
            <p:nvPr/>
          </p:nvGrpSpPr>
          <p:grpSpPr>
            <a:xfrm>
              <a:off x="2393504" y="2009302"/>
              <a:ext cx="431428" cy="575117"/>
              <a:chOff x="2887410" y="414748"/>
              <a:chExt cx="431428" cy="575117"/>
            </a:xfrm>
          </p:grpSpPr>
          <p:sp>
            <p:nvSpPr>
              <p:cNvPr id="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 name="Group 6"/>
            <p:cNvGrpSpPr/>
            <p:nvPr/>
          </p:nvGrpSpPr>
          <p:grpSpPr>
            <a:xfrm>
              <a:off x="2968948" y="1718435"/>
              <a:ext cx="431428" cy="575117"/>
              <a:chOff x="2887410" y="414748"/>
              <a:chExt cx="431428" cy="575117"/>
            </a:xfrm>
          </p:grpSpPr>
          <p:sp>
            <p:nvSpPr>
              <p:cNvPr id="8"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 name="Group 9"/>
            <p:cNvGrpSpPr/>
            <p:nvPr/>
          </p:nvGrpSpPr>
          <p:grpSpPr>
            <a:xfrm>
              <a:off x="1890068" y="1737899"/>
              <a:ext cx="431428" cy="575117"/>
              <a:chOff x="2887410" y="414748"/>
              <a:chExt cx="431428" cy="575117"/>
            </a:xfrm>
          </p:grpSpPr>
          <p:sp>
            <p:nvSpPr>
              <p:cNvPr id="1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 name="Group 12"/>
            <p:cNvGrpSpPr/>
            <p:nvPr/>
          </p:nvGrpSpPr>
          <p:grpSpPr>
            <a:xfrm>
              <a:off x="2825242" y="2584419"/>
              <a:ext cx="431428" cy="575117"/>
              <a:chOff x="2887410" y="414748"/>
              <a:chExt cx="431428" cy="575117"/>
            </a:xfrm>
          </p:grpSpPr>
          <p:sp>
            <p:nvSpPr>
              <p:cNvPr id="1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6" name="Group 15"/>
            <p:cNvGrpSpPr/>
            <p:nvPr/>
          </p:nvGrpSpPr>
          <p:grpSpPr>
            <a:xfrm>
              <a:off x="2343351" y="2871977"/>
              <a:ext cx="431428" cy="575117"/>
              <a:chOff x="2887410" y="414748"/>
              <a:chExt cx="431428" cy="575117"/>
            </a:xfrm>
          </p:grpSpPr>
          <p:sp>
            <p:nvSpPr>
              <p:cNvPr id="1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 name="Group 18"/>
            <p:cNvGrpSpPr/>
            <p:nvPr/>
          </p:nvGrpSpPr>
          <p:grpSpPr>
            <a:xfrm>
              <a:off x="1815829" y="2440876"/>
              <a:ext cx="431428" cy="575117"/>
              <a:chOff x="2887410" y="414748"/>
              <a:chExt cx="431428" cy="575117"/>
            </a:xfrm>
          </p:grpSpPr>
          <p:sp>
            <p:nvSpPr>
              <p:cNvPr id="20"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 name="Group 21"/>
            <p:cNvGrpSpPr/>
            <p:nvPr/>
          </p:nvGrpSpPr>
          <p:grpSpPr>
            <a:xfrm>
              <a:off x="2434983" y="1261360"/>
              <a:ext cx="431428" cy="575117"/>
              <a:chOff x="2887410" y="414748"/>
              <a:chExt cx="431428" cy="575117"/>
            </a:xfrm>
          </p:grpSpPr>
          <p:sp>
            <p:nvSpPr>
              <p:cNvPr id="2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6" name="Group 25"/>
          <p:cNvGrpSpPr/>
          <p:nvPr/>
        </p:nvGrpSpPr>
        <p:grpSpPr>
          <a:xfrm>
            <a:off x="7560137" y="2083722"/>
            <a:ext cx="1584547" cy="2185734"/>
            <a:chOff x="1815829" y="1261360"/>
            <a:chExt cx="1584547" cy="2185734"/>
          </a:xfrm>
        </p:grpSpPr>
        <p:grpSp>
          <p:nvGrpSpPr>
            <p:cNvPr id="27" name="Group 26"/>
            <p:cNvGrpSpPr/>
            <p:nvPr/>
          </p:nvGrpSpPr>
          <p:grpSpPr>
            <a:xfrm>
              <a:off x="2393504" y="2009302"/>
              <a:ext cx="431428" cy="575117"/>
              <a:chOff x="2887410" y="414748"/>
              <a:chExt cx="431428" cy="575117"/>
            </a:xfrm>
          </p:grpSpPr>
          <p:sp>
            <p:nvSpPr>
              <p:cNvPr id="46"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Oval 46"/>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8" name="Group 27"/>
            <p:cNvGrpSpPr/>
            <p:nvPr/>
          </p:nvGrpSpPr>
          <p:grpSpPr>
            <a:xfrm>
              <a:off x="2968948" y="1718435"/>
              <a:ext cx="431428" cy="575117"/>
              <a:chOff x="2887410" y="414748"/>
              <a:chExt cx="431428" cy="575117"/>
            </a:xfrm>
          </p:grpSpPr>
          <p:sp>
            <p:nvSpPr>
              <p:cNvPr id="4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Oval 4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9" name="Group 28"/>
            <p:cNvGrpSpPr/>
            <p:nvPr/>
          </p:nvGrpSpPr>
          <p:grpSpPr>
            <a:xfrm>
              <a:off x="1890068" y="1737899"/>
              <a:ext cx="431428" cy="575117"/>
              <a:chOff x="2887410" y="414748"/>
              <a:chExt cx="431428" cy="575117"/>
            </a:xfrm>
          </p:grpSpPr>
          <p:sp>
            <p:nvSpPr>
              <p:cNvPr id="42"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Oval 42"/>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0" name="Group 29"/>
            <p:cNvGrpSpPr/>
            <p:nvPr/>
          </p:nvGrpSpPr>
          <p:grpSpPr>
            <a:xfrm>
              <a:off x="2825242" y="2584419"/>
              <a:ext cx="431428" cy="575117"/>
              <a:chOff x="2887410" y="414748"/>
              <a:chExt cx="431428" cy="575117"/>
            </a:xfrm>
          </p:grpSpPr>
          <p:sp>
            <p:nvSpPr>
              <p:cNvPr id="40"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Oval 40"/>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1" name="Group 30"/>
            <p:cNvGrpSpPr/>
            <p:nvPr/>
          </p:nvGrpSpPr>
          <p:grpSpPr>
            <a:xfrm>
              <a:off x="2343351" y="2871977"/>
              <a:ext cx="431428" cy="575117"/>
              <a:chOff x="2887410" y="414748"/>
              <a:chExt cx="431428" cy="575117"/>
            </a:xfrm>
          </p:grpSpPr>
          <p:sp>
            <p:nvSpPr>
              <p:cNvPr id="38"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Oval 38"/>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2" name="Group 31"/>
            <p:cNvGrpSpPr/>
            <p:nvPr/>
          </p:nvGrpSpPr>
          <p:grpSpPr>
            <a:xfrm>
              <a:off x="1815829" y="2440876"/>
              <a:ext cx="431428" cy="575117"/>
              <a:chOff x="2887410" y="414748"/>
              <a:chExt cx="431428" cy="575117"/>
            </a:xfrm>
          </p:grpSpPr>
          <p:sp>
            <p:nvSpPr>
              <p:cNvPr id="36"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Oval 36"/>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3" name="Group 32"/>
            <p:cNvGrpSpPr/>
            <p:nvPr/>
          </p:nvGrpSpPr>
          <p:grpSpPr>
            <a:xfrm>
              <a:off x="2434983" y="1261360"/>
              <a:ext cx="431428" cy="575117"/>
              <a:chOff x="2887410" y="414748"/>
              <a:chExt cx="431428" cy="575117"/>
            </a:xfrm>
          </p:grpSpPr>
          <p:sp>
            <p:nvSpPr>
              <p:cNvPr id="3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Oval 3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48" name="Rectangle 47"/>
          <p:cNvSpPr/>
          <p:nvPr/>
        </p:nvSpPr>
        <p:spPr>
          <a:xfrm>
            <a:off x="144787" y="434082"/>
            <a:ext cx="11707244" cy="707886"/>
          </a:xfrm>
          <a:prstGeom prst="rect">
            <a:avLst/>
          </a:prstGeom>
        </p:spPr>
        <p:txBody>
          <a:bodyPr wrap="square">
            <a:spAutoFit/>
          </a:bodyPr>
          <a:lstStyle/>
          <a:p>
            <a:r>
              <a:rPr lang="en-GB" sz="2000" dirty="0" smtClean="0"/>
              <a:t>In NRSI, we take a group who were treated one way and compare them to a group who were treated a different way</a:t>
            </a:r>
            <a:endParaRPr lang="en-GB" sz="2000" dirty="0"/>
          </a:p>
        </p:txBody>
      </p:sp>
      <p:sp>
        <p:nvSpPr>
          <p:cNvPr id="49" name="TextBox 48"/>
          <p:cNvSpPr txBox="1"/>
          <p:nvPr/>
        </p:nvSpPr>
        <p:spPr>
          <a:xfrm>
            <a:off x="2715849" y="1491402"/>
            <a:ext cx="1791384" cy="523220"/>
          </a:xfrm>
          <a:prstGeom prst="rect">
            <a:avLst/>
          </a:prstGeom>
          <a:noFill/>
        </p:spPr>
        <p:txBody>
          <a:bodyPr wrap="square" rtlCol="0">
            <a:spAutoFit/>
          </a:bodyPr>
          <a:lstStyle/>
          <a:p>
            <a:pPr algn="ctr"/>
            <a:r>
              <a:rPr lang="en-GB" sz="2800" dirty="0" smtClean="0"/>
              <a:t>Group A</a:t>
            </a:r>
            <a:endParaRPr lang="en-GB" sz="2800" dirty="0"/>
          </a:p>
        </p:txBody>
      </p:sp>
      <p:sp>
        <p:nvSpPr>
          <p:cNvPr id="50" name="Rectangle 49"/>
          <p:cNvSpPr/>
          <p:nvPr/>
        </p:nvSpPr>
        <p:spPr>
          <a:xfrm>
            <a:off x="7816846" y="1495318"/>
            <a:ext cx="1443730" cy="523220"/>
          </a:xfrm>
          <a:prstGeom prst="rect">
            <a:avLst/>
          </a:prstGeom>
        </p:spPr>
        <p:txBody>
          <a:bodyPr wrap="none">
            <a:spAutoFit/>
          </a:bodyPr>
          <a:lstStyle/>
          <a:p>
            <a:pPr algn="ctr"/>
            <a:r>
              <a:rPr lang="en-GB" sz="2800" dirty="0"/>
              <a:t>Group </a:t>
            </a:r>
            <a:r>
              <a:rPr lang="en-GB" sz="2800" dirty="0" smtClean="0"/>
              <a:t>B</a:t>
            </a:r>
            <a:endParaRPr lang="en-GB" sz="2800" dirty="0"/>
          </a:p>
        </p:txBody>
      </p:sp>
      <p:sp>
        <p:nvSpPr>
          <p:cNvPr id="81" name="Down Arrow 80"/>
          <p:cNvSpPr/>
          <p:nvPr/>
        </p:nvSpPr>
        <p:spPr>
          <a:xfrm>
            <a:off x="3402417" y="4520959"/>
            <a:ext cx="317941" cy="554182"/>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Down Arrow 81"/>
          <p:cNvSpPr/>
          <p:nvPr/>
        </p:nvSpPr>
        <p:spPr>
          <a:xfrm>
            <a:off x="8236034" y="4490537"/>
            <a:ext cx="317941" cy="554182"/>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Oval 4"/>
          <p:cNvSpPr/>
          <p:nvPr/>
        </p:nvSpPr>
        <p:spPr>
          <a:xfrm>
            <a:off x="3561388" y="5410552"/>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Oval 83"/>
          <p:cNvSpPr/>
          <p:nvPr/>
        </p:nvSpPr>
        <p:spPr>
          <a:xfrm>
            <a:off x="3633396"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Oval 84"/>
          <p:cNvSpPr/>
          <p:nvPr/>
        </p:nvSpPr>
        <p:spPr>
          <a:xfrm>
            <a:off x="3012653"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Oval 4"/>
          <p:cNvSpPr/>
          <p:nvPr/>
        </p:nvSpPr>
        <p:spPr>
          <a:xfrm>
            <a:off x="2950250" y="5410551"/>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9" name="Group 88"/>
          <p:cNvGrpSpPr/>
          <p:nvPr/>
        </p:nvGrpSpPr>
        <p:grpSpPr>
          <a:xfrm>
            <a:off x="4147524" y="5122520"/>
            <a:ext cx="431428" cy="578897"/>
            <a:chOff x="4147524" y="5122520"/>
            <a:chExt cx="431428" cy="578897"/>
          </a:xfrm>
        </p:grpSpPr>
        <p:sp>
          <p:nvSpPr>
            <p:cNvPr id="87"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Oval 87"/>
            <p:cNvSpPr/>
            <p:nvPr/>
          </p:nvSpPr>
          <p:spPr>
            <a:xfrm>
              <a:off x="4219821"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0" name="Group 89"/>
          <p:cNvGrpSpPr/>
          <p:nvPr/>
        </p:nvGrpSpPr>
        <p:grpSpPr>
          <a:xfrm>
            <a:off x="4347483" y="5454891"/>
            <a:ext cx="272076" cy="376882"/>
            <a:chOff x="4147524" y="5122520"/>
            <a:chExt cx="431428" cy="578897"/>
          </a:xfrm>
          <a:solidFill>
            <a:schemeClr val="bg1">
              <a:lumMod val="95000"/>
            </a:schemeClr>
          </a:solidFill>
        </p:grpSpPr>
        <p:sp>
          <p:nvSpPr>
            <p:cNvPr id="91"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Oval 91"/>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3" name="Group 92"/>
          <p:cNvGrpSpPr/>
          <p:nvPr/>
        </p:nvGrpSpPr>
        <p:grpSpPr>
          <a:xfrm>
            <a:off x="3731422" y="5455814"/>
            <a:ext cx="272076" cy="376882"/>
            <a:chOff x="4147524" y="5122520"/>
            <a:chExt cx="431428" cy="578897"/>
          </a:xfrm>
          <a:solidFill>
            <a:schemeClr val="bg1">
              <a:lumMod val="95000"/>
            </a:schemeClr>
          </a:solidFill>
        </p:grpSpPr>
        <p:sp>
          <p:nvSpPr>
            <p:cNvPr id="94"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Oval 94"/>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6" name="Group 95"/>
          <p:cNvGrpSpPr/>
          <p:nvPr/>
        </p:nvGrpSpPr>
        <p:grpSpPr>
          <a:xfrm>
            <a:off x="3115361" y="5455814"/>
            <a:ext cx="272076" cy="376882"/>
            <a:chOff x="4147524" y="5122520"/>
            <a:chExt cx="431428" cy="578897"/>
          </a:xfrm>
          <a:solidFill>
            <a:schemeClr val="bg1">
              <a:lumMod val="95000"/>
            </a:schemeClr>
          </a:solidFill>
        </p:grpSpPr>
        <p:sp>
          <p:nvSpPr>
            <p:cNvPr id="97"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Oval 97"/>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9" name="Group 98"/>
          <p:cNvGrpSpPr/>
          <p:nvPr/>
        </p:nvGrpSpPr>
        <p:grpSpPr>
          <a:xfrm>
            <a:off x="8204468" y="5121101"/>
            <a:ext cx="431428" cy="578897"/>
            <a:chOff x="4147524" y="5122520"/>
            <a:chExt cx="431428" cy="578897"/>
          </a:xfrm>
        </p:grpSpPr>
        <p:sp>
          <p:nvSpPr>
            <p:cNvPr id="100"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Oval 100"/>
            <p:cNvSpPr/>
            <p:nvPr/>
          </p:nvSpPr>
          <p:spPr>
            <a:xfrm>
              <a:off x="4219821"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2" name="Group 101"/>
          <p:cNvGrpSpPr/>
          <p:nvPr/>
        </p:nvGrpSpPr>
        <p:grpSpPr>
          <a:xfrm>
            <a:off x="8402673" y="5453968"/>
            <a:ext cx="272076" cy="376882"/>
            <a:chOff x="4147524" y="5122520"/>
            <a:chExt cx="431428" cy="578897"/>
          </a:xfrm>
          <a:solidFill>
            <a:schemeClr val="bg1">
              <a:lumMod val="95000"/>
            </a:schemeClr>
          </a:solidFill>
        </p:grpSpPr>
        <p:sp>
          <p:nvSpPr>
            <p:cNvPr id="103"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Oval 103"/>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294035336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Rectangle 104"/>
          <p:cNvSpPr/>
          <p:nvPr/>
        </p:nvSpPr>
        <p:spPr>
          <a:xfrm>
            <a:off x="518870" y="1451537"/>
            <a:ext cx="10852727" cy="6858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Rectangle 79"/>
          <p:cNvSpPr/>
          <p:nvPr/>
        </p:nvSpPr>
        <p:spPr>
          <a:xfrm>
            <a:off x="9497791" y="1438613"/>
            <a:ext cx="2470302" cy="3063734"/>
          </a:xfrm>
          <a:prstGeom prst="rect">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Rectangle 78"/>
          <p:cNvSpPr/>
          <p:nvPr/>
        </p:nvSpPr>
        <p:spPr>
          <a:xfrm>
            <a:off x="41989" y="1388193"/>
            <a:ext cx="2470302" cy="3063734"/>
          </a:xfrm>
          <a:prstGeom prst="rect">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5" name="Group 24"/>
          <p:cNvGrpSpPr/>
          <p:nvPr/>
        </p:nvGrpSpPr>
        <p:grpSpPr>
          <a:xfrm>
            <a:off x="2818152" y="2176341"/>
            <a:ext cx="1584547" cy="2185734"/>
            <a:chOff x="1815829" y="1261360"/>
            <a:chExt cx="1584547" cy="2185734"/>
          </a:xfrm>
        </p:grpSpPr>
        <p:grpSp>
          <p:nvGrpSpPr>
            <p:cNvPr id="6" name="Group 5"/>
            <p:cNvGrpSpPr/>
            <p:nvPr/>
          </p:nvGrpSpPr>
          <p:grpSpPr>
            <a:xfrm>
              <a:off x="2393504" y="2009302"/>
              <a:ext cx="431428" cy="575117"/>
              <a:chOff x="2887410" y="414748"/>
              <a:chExt cx="431428" cy="575117"/>
            </a:xfrm>
          </p:grpSpPr>
          <p:sp>
            <p:nvSpPr>
              <p:cNvPr id="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 name="Group 6"/>
            <p:cNvGrpSpPr/>
            <p:nvPr/>
          </p:nvGrpSpPr>
          <p:grpSpPr>
            <a:xfrm>
              <a:off x="2968948" y="1718435"/>
              <a:ext cx="431428" cy="575117"/>
              <a:chOff x="2887410" y="414748"/>
              <a:chExt cx="431428" cy="575117"/>
            </a:xfrm>
          </p:grpSpPr>
          <p:sp>
            <p:nvSpPr>
              <p:cNvPr id="8"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 name="Group 9"/>
            <p:cNvGrpSpPr/>
            <p:nvPr/>
          </p:nvGrpSpPr>
          <p:grpSpPr>
            <a:xfrm>
              <a:off x="1890068" y="1737899"/>
              <a:ext cx="431428" cy="575117"/>
              <a:chOff x="2887410" y="414748"/>
              <a:chExt cx="431428" cy="575117"/>
            </a:xfrm>
          </p:grpSpPr>
          <p:sp>
            <p:nvSpPr>
              <p:cNvPr id="1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 name="Group 12"/>
            <p:cNvGrpSpPr/>
            <p:nvPr/>
          </p:nvGrpSpPr>
          <p:grpSpPr>
            <a:xfrm>
              <a:off x="2825242" y="2584419"/>
              <a:ext cx="431428" cy="575117"/>
              <a:chOff x="2887410" y="414748"/>
              <a:chExt cx="431428" cy="575117"/>
            </a:xfrm>
          </p:grpSpPr>
          <p:sp>
            <p:nvSpPr>
              <p:cNvPr id="1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6" name="Group 15"/>
            <p:cNvGrpSpPr/>
            <p:nvPr/>
          </p:nvGrpSpPr>
          <p:grpSpPr>
            <a:xfrm>
              <a:off x="2343351" y="2871977"/>
              <a:ext cx="431428" cy="575117"/>
              <a:chOff x="2887410" y="414748"/>
              <a:chExt cx="431428" cy="575117"/>
            </a:xfrm>
          </p:grpSpPr>
          <p:sp>
            <p:nvSpPr>
              <p:cNvPr id="1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 name="Group 18"/>
            <p:cNvGrpSpPr/>
            <p:nvPr/>
          </p:nvGrpSpPr>
          <p:grpSpPr>
            <a:xfrm>
              <a:off x="1815829" y="2440876"/>
              <a:ext cx="431428" cy="575117"/>
              <a:chOff x="2887410" y="414748"/>
              <a:chExt cx="431428" cy="575117"/>
            </a:xfrm>
          </p:grpSpPr>
          <p:sp>
            <p:nvSpPr>
              <p:cNvPr id="20"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 name="Group 21"/>
            <p:cNvGrpSpPr/>
            <p:nvPr/>
          </p:nvGrpSpPr>
          <p:grpSpPr>
            <a:xfrm>
              <a:off x="2434983" y="1261360"/>
              <a:ext cx="431428" cy="575117"/>
              <a:chOff x="2887410" y="414748"/>
              <a:chExt cx="431428" cy="575117"/>
            </a:xfrm>
          </p:grpSpPr>
          <p:sp>
            <p:nvSpPr>
              <p:cNvPr id="2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6" name="Group 25"/>
          <p:cNvGrpSpPr/>
          <p:nvPr/>
        </p:nvGrpSpPr>
        <p:grpSpPr>
          <a:xfrm>
            <a:off x="7560137" y="2083722"/>
            <a:ext cx="1584547" cy="2185734"/>
            <a:chOff x="1815829" y="1261360"/>
            <a:chExt cx="1584547" cy="2185734"/>
          </a:xfrm>
        </p:grpSpPr>
        <p:grpSp>
          <p:nvGrpSpPr>
            <p:cNvPr id="27" name="Group 26"/>
            <p:cNvGrpSpPr/>
            <p:nvPr/>
          </p:nvGrpSpPr>
          <p:grpSpPr>
            <a:xfrm>
              <a:off x="2393504" y="2009302"/>
              <a:ext cx="431428" cy="575117"/>
              <a:chOff x="2887410" y="414748"/>
              <a:chExt cx="431428" cy="575117"/>
            </a:xfrm>
          </p:grpSpPr>
          <p:sp>
            <p:nvSpPr>
              <p:cNvPr id="46"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Oval 46"/>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8" name="Group 27"/>
            <p:cNvGrpSpPr/>
            <p:nvPr/>
          </p:nvGrpSpPr>
          <p:grpSpPr>
            <a:xfrm>
              <a:off x="2968948" y="1718435"/>
              <a:ext cx="431428" cy="575117"/>
              <a:chOff x="2887410" y="414748"/>
              <a:chExt cx="431428" cy="575117"/>
            </a:xfrm>
          </p:grpSpPr>
          <p:sp>
            <p:nvSpPr>
              <p:cNvPr id="4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Oval 4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9" name="Group 28"/>
            <p:cNvGrpSpPr/>
            <p:nvPr/>
          </p:nvGrpSpPr>
          <p:grpSpPr>
            <a:xfrm>
              <a:off x="1890068" y="1737899"/>
              <a:ext cx="431428" cy="575117"/>
              <a:chOff x="2887410" y="414748"/>
              <a:chExt cx="431428" cy="575117"/>
            </a:xfrm>
          </p:grpSpPr>
          <p:sp>
            <p:nvSpPr>
              <p:cNvPr id="42"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Oval 42"/>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0" name="Group 29"/>
            <p:cNvGrpSpPr/>
            <p:nvPr/>
          </p:nvGrpSpPr>
          <p:grpSpPr>
            <a:xfrm>
              <a:off x="2825242" y="2584419"/>
              <a:ext cx="431428" cy="575117"/>
              <a:chOff x="2887410" y="414748"/>
              <a:chExt cx="431428" cy="575117"/>
            </a:xfrm>
          </p:grpSpPr>
          <p:sp>
            <p:nvSpPr>
              <p:cNvPr id="40"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Oval 40"/>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1" name="Group 30"/>
            <p:cNvGrpSpPr/>
            <p:nvPr/>
          </p:nvGrpSpPr>
          <p:grpSpPr>
            <a:xfrm>
              <a:off x="2343351" y="2871977"/>
              <a:ext cx="431428" cy="575117"/>
              <a:chOff x="2887410" y="414748"/>
              <a:chExt cx="431428" cy="575117"/>
            </a:xfrm>
          </p:grpSpPr>
          <p:sp>
            <p:nvSpPr>
              <p:cNvPr id="38"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Oval 38"/>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2" name="Group 31"/>
            <p:cNvGrpSpPr/>
            <p:nvPr/>
          </p:nvGrpSpPr>
          <p:grpSpPr>
            <a:xfrm>
              <a:off x="1815829" y="2440876"/>
              <a:ext cx="431428" cy="575117"/>
              <a:chOff x="2887410" y="414748"/>
              <a:chExt cx="431428" cy="575117"/>
            </a:xfrm>
          </p:grpSpPr>
          <p:sp>
            <p:nvSpPr>
              <p:cNvPr id="36"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Oval 36"/>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3" name="Group 32"/>
            <p:cNvGrpSpPr/>
            <p:nvPr/>
          </p:nvGrpSpPr>
          <p:grpSpPr>
            <a:xfrm>
              <a:off x="2434983" y="1261360"/>
              <a:ext cx="431428" cy="575117"/>
              <a:chOff x="2887410" y="414748"/>
              <a:chExt cx="431428" cy="575117"/>
            </a:xfrm>
          </p:grpSpPr>
          <p:sp>
            <p:nvSpPr>
              <p:cNvPr id="3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Oval 3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48" name="Rectangle 47"/>
          <p:cNvSpPr/>
          <p:nvPr/>
        </p:nvSpPr>
        <p:spPr>
          <a:xfrm>
            <a:off x="157001" y="431466"/>
            <a:ext cx="11707244" cy="707886"/>
          </a:xfrm>
          <a:prstGeom prst="rect">
            <a:avLst/>
          </a:prstGeom>
        </p:spPr>
        <p:txBody>
          <a:bodyPr wrap="square">
            <a:spAutoFit/>
          </a:bodyPr>
          <a:lstStyle/>
          <a:p>
            <a:r>
              <a:rPr lang="en-GB" sz="2000" dirty="0" smtClean="0"/>
              <a:t>In NRSI, we take a group who were treated one way and compare them to a group who were treated a different way</a:t>
            </a:r>
            <a:endParaRPr lang="en-GB" sz="2000" dirty="0"/>
          </a:p>
        </p:txBody>
      </p:sp>
      <p:sp>
        <p:nvSpPr>
          <p:cNvPr id="49" name="TextBox 48"/>
          <p:cNvSpPr txBox="1"/>
          <p:nvPr/>
        </p:nvSpPr>
        <p:spPr>
          <a:xfrm>
            <a:off x="2715849" y="1491402"/>
            <a:ext cx="1791384" cy="523220"/>
          </a:xfrm>
          <a:prstGeom prst="rect">
            <a:avLst/>
          </a:prstGeom>
          <a:noFill/>
        </p:spPr>
        <p:txBody>
          <a:bodyPr wrap="square" rtlCol="0">
            <a:spAutoFit/>
          </a:bodyPr>
          <a:lstStyle/>
          <a:p>
            <a:pPr algn="ctr"/>
            <a:r>
              <a:rPr lang="en-GB" sz="2800" dirty="0" smtClean="0"/>
              <a:t>Group A</a:t>
            </a:r>
            <a:endParaRPr lang="en-GB" sz="2800" dirty="0"/>
          </a:p>
        </p:txBody>
      </p:sp>
      <p:sp>
        <p:nvSpPr>
          <p:cNvPr id="50" name="Rectangle 49"/>
          <p:cNvSpPr/>
          <p:nvPr/>
        </p:nvSpPr>
        <p:spPr>
          <a:xfrm>
            <a:off x="7816846" y="1495318"/>
            <a:ext cx="1443730" cy="523220"/>
          </a:xfrm>
          <a:prstGeom prst="rect">
            <a:avLst/>
          </a:prstGeom>
        </p:spPr>
        <p:txBody>
          <a:bodyPr wrap="none">
            <a:spAutoFit/>
          </a:bodyPr>
          <a:lstStyle/>
          <a:p>
            <a:pPr algn="ctr"/>
            <a:r>
              <a:rPr lang="en-GB" sz="2800" dirty="0"/>
              <a:t>Group </a:t>
            </a:r>
            <a:r>
              <a:rPr lang="en-GB" sz="2800" dirty="0" smtClean="0"/>
              <a:t>B</a:t>
            </a:r>
            <a:endParaRPr lang="en-GB" sz="2800" dirty="0"/>
          </a:p>
        </p:txBody>
      </p:sp>
      <p:grpSp>
        <p:nvGrpSpPr>
          <p:cNvPr id="60" name="Group 59"/>
          <p:cNvGrpSpPr/>
          <p:nvPr/>
        </p:nvGrpSpPr>
        <p:grpSpPr>
          <a:xfrm>
            <a:off x="0" y="1417956"/>
            <a:ext cx="2386864" cy="2757880"/>
            <a:chOff x="0" y="1417956"/>
            <a:chExt cx="2386864" cy="2757880"/>
          </a:xfrm>
        </p:grpSpPr>
        <p:sp>
          <p:nvSpPr>
            <p:cNvPr id="52" name="Rectangle 51"/>
            <p:cNvSpPr/>
            <p:nvPr/>
          </p:nvSpPr>
          <p:spPr>
            <a:xfrm>
              <a:off x="0" y="2498554"/>
              <a:ext cx="2282997" cy="369332"/>
            </a:xfrm>
            <a:prstGeom prst="rect">
              <a:avLst/>
            </a:prstGeom>
          </p:spPr>
          <p:txBody>
            <a:bodyPr wrap="none">
              <a:spAutoFit/>
            </a:bodyPr>
            <a:lstStyle/>
            <a:p>
              <a:r>
                <a:rPr lang="en-GB" dirty="0">
                  <a:solidFill>
                    <a:srgbClr val="00B0F0"/>
                  </a:solidFill>
                </a:rPr>
                <a:t>social economic status</a:t>
              </a:r>
            </a:p>
          </p:txBody>
        </p:sp>
        <p:grpSp>
          <p:nvGrpSpPr>
            <p:cNvPr id="59" name="Group 58"/>
            <p:cNvGrpSpPr/>
            <p:nvPr/>
          </p:nvGrpSpPr>
          <p:grpSpPr>
            <a:xfrm>
              <a:off x="157001" y="1417956"/>
              <a:ext cx="2229863" cy="2757880"/>
              <a:chOff x="218692" y="1313328"/>
              <a:chExt cx="2229863" cy="2757880"/>
            </a:xfrm>
          </p:grpSpPr>
          <p:grpSp>
            <p:nvGrpSpPr>
              <p:cNvPr id="58" name="Group 57"/>
              <p:cNvGrpSpPr/>
              <p:nvPr/>
            </p:nvGrpSpPr>
            <p:grpSpPr>
              <a:xfrm>
                <a:off x="218692" y="1858406"/>
                <a:ext cx="2229863" cy="2212802"/>
                <a:chOff x="218692" y="1858406"/>
                <a:chExt cx="2229863" cy="2212802"/>
              </a:xfrm>
            </p:grpSpPr>
            <p:sp>
              <p:nvSpPr>
                <p:cNvPr id="2" name="Rectangle 1"/>
                <p:cNvSpPr/>
                <p:nvPr/>
              </p:nvSpPr>
              <p:spPr>
                <a:xfrm>
                  <a:off x="218692" y="1858406"/>
                  <a:ext cx="2126672" cy="369332"/>
                </a:xfrm>
                <a:prstGeom prst="rect">
                  <a:avLst/>
                </a:prstGeom>
              </p:spPr>
              <p:txBody>
                <a:bodyPr wrap="none">
                  <a:spAutoFit/>
                </a:bodyPr>
                <a:lstStyle/>
                <a:p>
                  <a:r>
                    <a:rPr lang="en-GB" dirty="0"/>
                    <a:t>duration of infertility</a:t>
                  </a:r>
                </a:p>
              </p:txBody>
            </p:sp>
            <p:sp>
              <p:nvSpPr>
                <p:cNvPr id="3" name="Rectangle 2"/>
                <p:cNvSpPr/>
                <p:nvPr/>
              </p:nvSpPr>
              <p:spPr>
                <a:xfrm>
                  <a:off x="1887022" y="2752464"/>
                  <a:ext cx="551754" cy="369332"/>
                </a:xfrm>
                <a:prstGeom prst="rect">
                  <a:avLst/>
                </a:prstGeom>
              </p:spPr>
              <p:txBody>
                <a:bodyPr wrap="none">
                  <a:spAutoFit/>
                </a:bodyPr>
                <a:lstStyle/>
                <a:p>
                  <a:r>
                    <a:rPr lang="en-GB" dirty="0" smtClean="0"/>
                    <a:t>BMI</a:t>
                  </a:r>
                  <a:endParaRPr lang="en-GB" dirty="0"/>
                </a:p>
              </p:txBody>
            </p:sp>
            <p:sp>
              <p:nvSpPr>
                <p:cNvPr id="51" name="Rectangle 50"/>
                <p:cNvSpPr/>
                <p:nvPr/>
              </p:nvSpPr>
              <p:spPr>
                <a:xfrm>
                  <a:off x="1074550" y="3222115"/>
                  <a:ext cx="663964" cy="523220"/>
                </a:xfrm>
                <a:prstGeom prst="rect">
                  <a:avLst/>
                </a:prstGeom>
              </p:spPr>
              <p:txBody>
                <a:bodyPr wrap="none">
                  <a:spAutoFit/>
                </a:bodyPr>
                <a:lstStyle/>
                <a:p>
                  <a:r>
                    <a:rPr lang="en-GB" sz="2800" dirty="0"/>
                    <a:t>age</a:t>
                  </a:r>
                </a:p>
              </p:txBody>
            </p:sp>
            <p:sp>
              <p:nvSpPr>
                <p:cNvPr id="53" name="Rectangle 52"/>
                <p:cNvSpPr/>
                <p:nvPr/>
              </p:nvSpPr>
              <p:spPr>
                <a:xfrm>
                  <a:off x="234253" y="3701876"/>
                  <a:ext cx="1460849" cy="369332"/>
                </a:xfrm>
                <a:prstGeom prst="rect">
                  <a:avLst/>
                </a:prstGeom>
              </p:spPr>
              <p:txBody>
                <a:bodyPr wrap="none">
                  <a:spAutoFit/>
                </a:bodyPr>
                <a:lstStyle/>
                <a:p>
                  <a:r>
                    <a:rPr lang="en-GB" dirty="0">
                      <a:solidFill>
                        <a:srgbClr val="FF0000"/>
                      </a:solidFill>
                    </a:rPr>
                    <a:t>culture media</a:t>
                  </a:r>
                </a:p>
              </p:txBody>
            </p:sp>
            <p:sp>
              <p:nvSpPr>
                <p:cNvPr id="54" name="Rectangle 53"/>
                <p:cNvSpPr/>
                <p:nvPr/>
              </p:nvSpPr>
              <p:spPr>
                <a:xfrm>
                  <a:off x="2175723" y="2259424"/>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sp>
              <p:nvSpPr>
                <p:cNvPr id="55" name="Rectangle 54"/>
                <p:cNvSpPr/>
                <p:nvPr/>
              </p:nvSpPr>
              <p:spPr>
                <a:xfrm>
                  <a:off x="588247" y="2989944"/>
                  <a:ext cx="399468" cy="769441"/>
                </a:xfrm>
                <a:prstGeom prst="rect">
                  <a:avLst/>
                </a:prstGeom>
              </p:spPr>
              <p:txBody>
                <a:bodyPr wrap="none">
                  <a:spAutoFit/>
                </a:bodyPr>
                <a:lstStyle/>
                <a:p>
                  <a:r>
                    <a:rPr lang="en-GB" sz="4400" dirty="0">
                      <a:solidFill>
                        <a:schemeClr val="accent1">
                          <a:lumMod val="60000"/>
                          <a:lumOff val="40000"/>
                        </a:schemeClr>
                      </a:solidFill>
                      <a:latin typeface="Agency FB" panose="020B0503020202020204" pitchFamily="34" charset="0"/>
                    </a:rPr>
                    <a:t>?</a:t>
                  </a:r>
                </a:p>
              </p:txBody>
            </p:sp>
            <p:sp>
              <p:nvSpPr>
                <p:cNvPr id="56" name="Rectangle 55"/>
                <p:cNvSpPr/>
                <p:nvPr/>
              </p:nvSpPr>
              <p:spPr>
                <a:xfrm>
                  <a:off x="2072532" y="3270775"/>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grpSp>
          <p:sp>
            <p:nvSpPr>
              <p:cNvPr id="57" name="Rectangle 56"/>
              <p:cNvSpPr/>
              <p:nvPr/>
            </p:nvSpPr>
            <p:spPr>
              <a:xfrm>
                <a:off x="843348" y="1313328"/>
                <a:ext cx="420308" cy="830997"/>
              </a:xfrm>
              <a:prstGeom prst="rect">
                <a:avLst/>
              </a:prstGeom>
            </p:spPr>
            <p:txBody>
              <a:bodyPr wrap="none">
                <a:spAutoFit/>
              </a:bodyPr>
              <a:lstStyle/>
              <a:p>
                <a:r>
                  <a:rPr lang="en-GB" sz="4800" dirty="0">
                    <a:solidFill>
                      <a:schemeClr val="accent1">
                        <a:lumMod val="60000"/>
                        <a:lumOff val="40000"/>
                      </a:schemeClr>
                    </a:solidFill>
                    <a:latin typeface="Agency FB" panose="020B0503020202020204" pitchFamily="34" charset="0"/>
                  </a:rPr>
                  <a:t>?</a:t>
                </a:r>
              </a:p>
            </p:txBody>
          </p:sp>
        </p:grpSp>
      </p:grpSp>
      <p:grpSp>
        <p:nvGrpSpPr>
          <p:cNvPr id="61" name="Group 60"/>
          <p:cNvGrpSpPr/>
          <p:nvPr/>
        </p:nvGrpSpPr>
        <p:grpSpPr>
          <a:xfrm>
            <a:off x="9549421" y="1388193"/>
            <a:ext cx="2386864" cy="2757880"/>
            <a:chOff x="0" y="1417956"/>
            <a:chExt cx="2386864" cy="2757880"/>
          </a:xfrm>
        </p:grpSpPr>
        <p:sp>
          <p:nvSpPr>
            <p:cNvPr id="62" name="Rectangle 61"/>
            <p:cNvSpPr/>
            <p:nvPr/>
          </p:nvSpPr>
          <p:spPr>
            <a:xfrm>
              <a:off x="0" y="2498554"/>
              <a:ext cx="2282997" cy="369332"/>
            </a:xfrm>
            <a:prstGeom prst="rect">
              <a:avLst/>
            </a:prstGeom>
          </p:spPr>
          <p:txBody>
            <a:bodyPr wrap="none">
              <a:spAutoFit/>
            </a:bodyPr>
            <a:lstStyle/>
            <a:p>
              <a:r>
                <a:rPr lang="en-GB" dirty="0">
                  <a:solidFill>
                    <a:srgbClr val="00B0F0"/>
                  </a:solidFill>
                </a:rPr>
                <a:t>social economic status</a:t>
              </a:r>
            </a:p>
          </p:txBody>
        </p:sp>
        <p:grpSp>
          <p:nvGrpSpPr>
            <p:cNvPr id="63" name="Group 62"/>
            <p:cNvGrpSpPr/>
            <p:nvPr/>
          </p:nvGrpSpPr>
          <p:grpSpPr>
            <a:xfrm>
              <a:off x="157001" y="1417956"/>
              <a:ext cx="2229863" cy="2757880"/>
              <a:chOff x="218692" y="1313328"/>
              <a:chExt cx="2229863" cy="2757880"/>
            </a:xfrm>
          </p:grpSpPr>
          <p:grpSp>
            <p:nvGrpSpPr>
              <p:cNvPr id="64" name="Group 63"/>
              <p:cNvGrpSpPr/>
              <p:nvPr/>
            </p:nvGrpSpPr>
            <p:grpSpPr>
              <a:xfrm>
                <a:off x="218692" y="1858406"/>
                <a:ext cx="2229863" cy="2212802"/>
                <a:chOff x="218692" y="1858406"/>
                <a:chExt cx="2229863" cy="2212802"/>
              </a:xfrm>
            </p:grpSpPr>
            <p:sp>
              <p:nvSpPr>
                <p:cNvPr id="66" name="Rectangle 65"/>
                <p:cNvSpPr/>
                <p:nvPr/>
              </p:nvSpPr>
              <p:spPr>
                <a:xfrm>
                  <a:off x="218692" y="1858406"/>
                  <a:ext cx="2126672" cy="369332"/>
                </a:xfrm>
                <a:prstGeom prst="rect">
                  <a:avLst/>
                </a:prstGeom>
              </p:spPr>
              <p:txBody>
                <a:bodyPr wrap="none">
                  <a:spAutoFit/>
                </a:bodyPr>
                <a:lstStyle/>
                <a:p>
                  <a:r>
                    <a:rPr lang="en-GB" dirty="0"/>
                    <a:t>duration of infertility</a:t>
                  </a:r>
                </a:p>
              </p:txBody>
            </p:sp>
            <p:sp>
              <p:nvSpPr>
                <p:cNvPr id="67" name="Rectangle 66"/>
                <p:cNvSpPr/>
                <p:nvPr/>
              </p:nvSpPr>
              <p:spPr>
                <a:xfrm>
                  <a:off x="1887022" y="2752464"/>
                  <a:ext cx="551754" cy="369332"/>
                </a:xfrm>
                <a:prstGeom prst="rect">
                  <a:avLst/>
                </a:prstGeom>
              </p:spPr>
              <p:txBody>
                <a:bodyPr wrap="none">
                  <a:spAutoFit/>
                </a:bodyPr>
                <a:lstStyle/>
                <a:p>
                  <a:r>
                    <a:rPr lang="en-GB" dirty="0" smtClean="0"/>
                    <a:t>BMI</a:t>
                  </a:r>
                  <a:endParaRPr lang="en-GB" dirty="0"/>
                </a:p>
              </p:txBody>
            </p:sp>
            <p:sp>
              <p:nvSpPr>
                <p:cNvPr id="68" name="Rectangle 67"/>
                <p:cNvSpPr/>
                <p:nvPr/>
              </p:nvSpPr>
              <p:spPr>
                <a:xfrm>
                  <a:off x="1074550" y="3222115"/>
                  <a:ext cx="663964" cy="523220"/>
                </a:xfrm>
                <a:prstGeom prst="rect">
                  <a:avLst/>
                </a:prstGeom>
              </p:spPr>
              <p:txBody>
                <a:bodyPr wrap="none">
                  <a:spAutoFit/>
                </a:bodyPr>
                <a:lstStyle/>
                <a:p>
                  <a:r>
                    <a:rPr lang="en-GB" sz="2800" dirty="0"/>
                    <a:t>age</a:t>
                  </a:r>
                </a:p>
              </p:txBody>
            </p:sp>
            <p:sp>
              <p:nvSpPr>
                <p:cNvPr id="69" name="Rectangle 68"/>
                <p:cNvSpPr/>
                <p:nvPr/>
              </p:nvSpPr>
              <p:spPr>
                <a:xfrm>
                  <a:off x="234253" y="3701876"/>
                  <a:ext cx="1460849" cy="369332"/>
                </a:xfrm>
                <a:prstGeom prst="rect">
                  <a:avLst/>
                </a:prstGeom>
              </p:spPr>
              <p:txBody>
                <a:bodyPr wrap="none">
                  <a:spAutoFit/>
                </a:bodyPr>
                <a:lstStyle/>
                <a:p>
                  <a:r>
                    <a:rPr lang="en-GB" dirty="0">
                      <a:solidFill>
                        <a:srgbClr val="FF0000"/>
                      </a:solidFill>
                    </a:rPr>
                    <a:t>culture media</a:t>
                  </a:r>
                </a:p>
              </p:txBody>
            </p:sp>
            <p:sp>
              <p:nvSpPr>
                <p:cNvPr id="70" name="Rectangle 69"/>
                <p:cNvSpPr/>
                <p:nvPr/>
              </p:nvSpPr>
              <p:spPr>
                <a:xfrm>
                  <a:off x="2175723" y="2259424"/>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sp>
              <p:nvSpPr>
                <p:cNvPr id="71" name="Rectangle 70"/>
                <p:cNvSpPr/>
                <p:nvPr/>
              </p:nvSpPr>
              <p:spPr>
                <a:xfrm>
                  <a:off x="588247" y="2989944"/>
                  <a:ext cx="399468" cy="769441"/>
                </a:xfrm>
                <a:prstGeom prst="rect">
                  <a:avLst/>
                </a:prstGeom>
              </p:spPr>
              <p:txBody>
                <a:bodyPr wrap="none">
                  <a:spAutoFit/>
                </a:bodyPr>
                <a:lstStyle/>
                <a:p>
                  <a:r>
                    <a:rPr lang="en-GB" sz="4400" dirty="0">
                      <a:solidFill>
                        <a:schemeClr val="accent1">
                          <a:lumMod val="60000"/>
                          <a:lumOff val="40000"/>
                        </a:schemeClr>
                      </a:solidFill>
                      <a:latin typeface="Agency FB" panose="020B0503020202020204" pitchFamily="34" charset="0"/>
                    </a:rPr>
                    <a:t>?</a:t>
                  </a:r>
                </a:p>
              </p:txBody>
            </p:sp>
            <p:sp>
              <p:nvSpPr>
                <p:cNvPr id="72" name="Rectangle 71"/>
                <p:cNvSpPr/>
                <p:nvPr/>
              </p:nvSpPr>
              <p:spPr>
                <a:xfrm>
                  <a:off x="2072532" y="3270775"/>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grpSp>
          <p:sp>
            <p:nvSpPr>
              <p:cNvPr id="65" name="Rectangle 64"/>
              <p:cNvSpPr/>
              <p:nvPr/>
            </p:nvSpPr>
            <p:spPr>
              <a:xfrm>
                <a:off x="843348" y="1313328"/>
                <a:ext cx="420308" cy="830997"/>
              </a:xfrm>
              <a:prstGeom prst="rect">
                <a:avLst/>
              </a:prstGeom>
            </p:spPr>
            <p:txBody>
              <a:bodyPr wrap="none">
                <a:spAutoFit/>
              </a:bodyPr>
              <a:lstStyle/>
              <a:p>
                <a:r>
                  <a:rPr lang="en-GB" sz="4800" dirty="0">
                    <a:solidFill>
                      <a:schemeClr val="accent1">
                        <a:lumMod val="60000"/>
                        <a:lumOff val="40000"/>
                      </a:schemeClr>
                    </a:solidFill>
                    <a:latin typeface="Agency FB" panose="020B0503020202020204" pitchFamily="34" charset="0"/>
                  </a:rPr>
                  <a:t>?</a:t>
                </a:r>
              </a:p>
            </p:txBody>
          </p:sp>
        </p:grpSp>
      </p:grpSp>
      <p:sp>
        <p:nvSpPr>
          <p:cNvPr id="81" name="Down Arrow 80"/>
          <p:cNvSpPr/>
          <p:nvPr/>
        </p:nvSpPr>
        <p:spPr>
          <a:xfrm>
            <a:off x="3402417" y="4520959"/>
            <a:ext cx="317941" cy="554182"/>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Down Arrow 81"/>
          <p:cNvSpPr/>
          <p:nvPr/>
        </p:nvSpPr>
        <p:spPr>
          <a:xfrm>
            <a:off x="8236034" y="4490537"/>
            <a:ext cx="317941" cy="554182"/>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Oval 4"/>
          <p:cNvSpPr/>
          <p:nvPr/>
        </p:nvSpPr>
        <p:spPr>
          <a:xfrm>
            <a:off x="3561388" y="5410552"/>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Oval 83"/>
          <p:cNvSpPr/>
          <p:nvPr/>
        </p:nvSpPr>
        <p:spPr>
          <a:xfrm>
            <a:off x="3633396"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Oval 84"/>
          <p:cNvSpPr/>
          <p:nvPr/>
        </p:nvSpPr>
        <p:spPr>
          <a:xfrm>
            <a:off x="3012653"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Oval 4"/>
          <p:cNvSpPr/>
          <p:nvPr/>
        </p:nvSpPr>
        <p:spPr>
          <a:xfrm>
            <a:off x="2950250" y="5410551"/>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9" name="Group 88"/>
          <p:cNvGrpSpPr/>
          <p:nvPr/>
        </p:nvGrpSpPr>
        <p:grpSpPr>
          <a:xfrm>
            <a:off x="4147524" y="5122520"/>
            <a:ext cx="431428" cy="578897"/>
            <a:chOff x="4147524" y="5122520"/>
            <a:chExt cx="431428" cy="578897"/>
          </a:xfrm>
        </p:grpSpPr>
        <p:sp>
          <p:nvSpPr>
            <p:cNvPr id="87"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Oval 87"/>
            <p:cNvSpPr/>
            <p:nvPr/>
          </p:nvSpPr>
          <p:spPr>
            <a:xfrm>
              <a:off x="4219821"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0" name="Group 89"/>
          <p:cNvGrpSpPr/>
          <p:nvPr/>
        </p:nvGrpSpPr>
        <p:grpSpPr>
          <a:xfrm>
            <a:off x="4347483" y="5454891"/>
            <a:ext cx="272076" cy="376882"/>
            <a:chOff x="4147524" y="5122520"/>
            <a:chExt cx="431428" cy="578897"/>
          </a:xfrm>
          <a:solidFill>
            <a:schemeClr val="bg1">
              <a:lumMod val="95000"/>
            </a:schemeClr>
          </a:solidFill>
        </p:grpSpPr>
        <p:sp>
          <p:nvSpPr>
            <p:cNvPr id="91"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Oval 91"/>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3" name="Group 92"/>
          <p:cNvGrpSpPr/>
          <p:nvPr/>
        </p:nvGrpSpPr>
        <p:grpSpPr>
          <a:xfrm>
            <a:off x="3731422" y="5455814"/>
            <a:ext cx="272076" cy="376882"/>
            <a:chOff x="4147524" y="5122520"/>
            <a:chExt cx="431428" cy="578897"/>
          </a:xfrm>
          <a:solidFill>
            <a:schemeClr val="bg1">
              <a:lumMod val="95000"/>
            </a:schemeClr>
          </a:solidFill>
        </p:grpSpPr>
        <p:sp>
          <p:nvSpPr>
            <p:cNvPr id="94"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Oval 94"/>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6" name="Group 95"/>
          <p:cNvGrpSpPr/>
          <p:nvPr/>
        </p:nvGrpSpPr>
        <p:grpSpPr>
          <a:xfrm>
            <a:off x="3115361" y="5455814"/>
            <a:ext cx="272076" cy="376882"/>
            <a:chOff x="4147524" y="5122520"/>
            <a:chExt cx="431428" cy="578897"/>
          </a:xfrm>
          <a:solidFill>
            <a:schemeClr val="bg1">
              <a:lumMod val="95000"/>
            </a:schemeClr>
          </a:solidFill>
        </p:grpSpPr>
        <p:sp>
          <p:nvSpPr>
            <p:cNvPr id="97"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Oval 97"/>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9" name="Group 98"/>
          <p:cNvGrpSpPr/>
          <p:nvPr/>
        </p:nvGrpSpPr>
        <p:grpSpPr>
          <a:xfrm>
            <a:off x="8204468" y="5121101"/>
            <a:ext cx="431428" cy="578897"/>
            <a:chOff x="4147524" y="5122520"/>
            <a:chExt cx="431428" cy="578897"/>
          </a:xfrm>
        </p:grpSpPr>
        <p:sp>
          <p:nvSpPr>
            <p:cNvPr id="100"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Oval 100"/>
            <p:cNvSpPr/>
            <p:nvPr/>
          </p:nvSpPr>
          <p:spPr>
            <a:xfrm>
              <a:off x="4219821"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2" name="Group 101"/>
          <p:cNvGrpSpPr/>
          <p:nvPr/>
        </p:nvGrpSpPr>
        <p:grpSpPr>
          <a:xfrm>
            <a:off x="8395004" y="5419107"/>
            <a:ext cx="272076" cy="376882"/>
            <a:chOff x="4147524" y="5122520"/>
            <a:chExt cx="431428" cy="578897"/>
          </a:xfrm>
          <a:solidFill>
            <a:schemeClr val="bg1">
              <a:lumMod val="95000"/>
            </a:schemeClr>
          </a:solidFill>
        </p:grpSpPr>
        <p:sp>
          <p:nvSpPr>
            <p:cNvPr id="103"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Oval 103"/>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65965654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Dealing with confounding in non-randomised studies</a:t>
            </a:r>
            <a:endParaRPr lang="en-GB" dirty="0"/>
          </a:p>
        </p:txBody>
      </p:sp>
      <p:sp>
        <p:nvSpPr>
          <p:cNvPr id="3" name="Content Placeholder 2"/>
          <p:cNvSpPr>
            <a:spLocks noGrp="1"/>
          </p:cNvSpPr>
          <p:nvPr>
            <p:ph idx="1"/>
          </p:nvPr>
        </p:nvSpPr>
        <p:spPr/>
        <p:txBody>
          <a:bodyPr>
            <a:normAutofit fontScale="92500" lnSpcReduction="20000"/>
          </a:bodyPr>
          <a:lstStyle/>
          <a:p>
            <a:r>
              <a:rPr lang="en-GB" dirty="0" smtClean="0"/>
              <a:t>Without randomisation, treatment and control groups may </a:t>
            </a:r>
            <a:r>
              <a:rPr lang="en-GB" b="1" dirty="0" smtClean="0"/>
              <a:t>systematically </a:t>
            </a:r>
            <a:r>
              <a:rPr lang="en-GB" dirty="0" smtClean="0"/>
              <a:t>(as opposed to randomly) </a:t>
            </a:r>
            <a:r>
              <a:rPr lang="en-GB" b="1" dirty="0" smtClean="0"/>
              <a:t>differ </a:t>
            </a:r>
            <a:r>
              <a:rPr lang="en-GB" dirty="0" smtClean="0"/>
              <a:t>in terms of prognostic characteristics. </a:t>
            </a:r>
          </a:p>
          <a:p>
            <a:endParaRPr lang="en-GB" dirty="0"/>
          </a:p>
          <a:p>
            <a:r>
              <a:rPr lang="en-GB" dirty="0" smtClean="0"/>
              <a:t>May also differ in terms of co-interventions: different incubators? Different lab conditions etc.</a:t>
            </a:r>
          </a:p>
          <a:p>
            <a:pPr marL="0" indent="0">
              <a:buNone/>
            </a:pPr>
            <a:endParaRPr lang="en-GB" dirty="0" smtClean="0"/>
          </a:p>
          <a:p>
            <a:pPr marL="0" indent="0">
              <a:buNone/>
            </a:pPr>
            <a:endParaRPr lang="en-GB" dirty="0"/>
          </a:p>
          <a:p>
            <a:r>
              <a:rPr lang="en-GB" dirty="0" smtClean="0"/>
              <a:t>A simple comparison between groups no longer reflects the treatment effect – also reflects the fact that one group is older (for example). </a:t>
            </a:r>
          </a:p>
          <a:p>
            <a:endParaRPr lang="en-GB" dirty="0" smtClean="0"/>
          </a:p>
          <a:p>
            <a:pPr marL="0" indent="0">
              <a:buNone/>
            </a:pPr>
            <a:endParaRPr lang="en-GB" dirty="0"/>
          </a:p>
          <a:p>
            <a:r>
              <a:rPr lang="en-GB" dirty="0" smtClean="0"/>
              <a:t>Usual approach is to try to </a:t>
            </a:r>
            <a:r>
              <a:rPr lang="en-GB" b="1" dirty="0" smtClean="0"/>
              <a:t>adjust</a:t>
            </a:r>
            <a:r>
              <a:rPr lang="en-GB" dirty="0" smtClean="0"/>
              <a:t> for confounding in the statistical analysis: regression, propensity score methods (or both at once).</a:t>
            </a:r>
            <a:endParaRPr lang="en-GB" dirty="0"/>
          </a:p>
        </p:txBody>
      </p:sp>
    </p:spTree>
    <p:extLst>
      <p:ext uri="{BB962C8B-B14F-4D97-AF65-F5344CB8AC3E}">
        <p14:creationId xmlns:p14="http://schemas.microsoft.com/office/powerpoint/2010/main" val="118089194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148" y="2083788"/>
            <a:ext cx="5278066" cy="1930128"/>
          </a:xfrm>
          <a:prstGeom prst="rect">
            <a:avLst/>
          </a:prstGeom>
        </p:spPr>
      </p:pic>
      <p:sp>
        <p:nvSpPr>
          <p:cNvPr id="5" name="TextBox 4"/>
          <p:cNvSpPr txBox="1"/>
          <p:nvPr/>
        </p:nvSpPr>
        <p:spPr>
          <a:xfrm>
            <a:off x="5984631" y="2310188"/>
            <a:ext cx="6207369" cy="1477328"/>
          </a:xfrm>
          <a:prstGeom prst="rect">
            <a:avLst/>
          </a:prstGeom>
          <a:noFill/>
        </p:spPr>
        <p:txBody>
          <a:bodyPr wrap="square" rtlCol="0">
            <a:spAutoFit/>
          </a:bodyPr>
          <a:lstStyle/>
          <a:p>
            <a:pPr marL="285750" indent="-285750">
              <a:buFont typeface="Arial" panose="020B0604020202020204" pitchFamily="34" charset="0"/>
              <a:buChar char="•"/>
            </a:pPr>
            <a:r>
              <a:rPr lang="en-GB" dirty="0" smtClean="0"/>
              <a:t>Used logistic regression to adjust for a number of measured confounders: incubator, number of embryos transferred, method of fertilisation (IVF vs ICSI), treatment attempt, embryo culture duration (2,3, or 5 days).</a:t>
            </a:r>
            <a:endParaRPr lang="en-GB" dirty="0"/>
          </a:p>
        </p:txBody>
      </p:sp>
      <p:sp>
        <p:nvSpPr>
          <p:cNvPr id="2" name="TextBox 1"/>
          <p:cNvSpPr txBox="1"/>
          <p:nvPr/>
        </p:nvSpPr>
        <p:spPr>
          <a:xfrm>
            <a:off x="831273" y="785090"/>
            <a:ext cx="5504872" cy="769441"/>
          </a:xfrm>
          <a:prstGeom prst="rect">
            <a:avLst/>
          </a:prstGeom>
          <a:noFill/>
        </p:spPr>
        <p:txBody>
          <a:bodyPr wrap="square" rtlCol="0">
            <a:spAutoFit/>
          </a:bodyPr>
          <a:lstStyle/>
          <a:p>
            <a:r>
              <a:rPr lang="en-GB" sz="4400" dirty="0" smtClean="0"/>
              <a:t>Example</a:t>
            </a:r>
            <a:endParaRPr lang="en-GB" sz="4400" dirty="0"/>
          </a:p>
        </p:txBody>
      </p:sp>
    </p:spTree>
    <p:extLst>
      <p:ext uri="{BB962C8B-B14F-4D97-AF65-F5344CB8AC3E}">
        <p14:creationId xmlns:p14="http://schemas.microsoft.com/office/powerpoint/2010/main" val="279084298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Rectangle 104"/>
          <p:cNvSpPr/>
          <p:nvPr/>
        </p:nvSpPr>
        <p:spPr>
          <a:xfrm>
            <a:off x="726290" y="1506023"/>
            <a:ext cx="10852727" cy="6858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Rectangle 79"/>
          <p:cNvSpPr/>
          <p:nvPr/>
        </p:nvSpPr>
        <p:spPr>
          <a:xfrm>
            <a:off x="9497791" y="1438613"/>
            <a:ext cx="2470302" cy="3063734"/>
          </a:xfrm>
          <a:prstGeom prst="rect">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Rectangle 78"/>
          <p:cNvSpPr/>
          <p:nvPr/>
        </p:nvSpPr>
        <p:spPr>
          <a:xfrm>
            <a:off x="41989" y="1388193"/>
            <a:ext cx="2470302" cy="3063734"/>
          </a:xfrm>
          <a:prstGeom prst="rect">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5" name="Group 24"/>
          <p:cNvGrpSpPr/>
          <p:nvPr/>
        </p:nvGrpSpPr>
        <p:grpSpPr>
          <a:xfrm>
            <a:off x="2818152" y="2176341"/>
            <a:ext cx="1584547" cy="2185734"/>
            <a:chOff x="1815829" y="1261360"/>
            <a:chExt cx="1584547" cy="2185734"/>
          </a:xfrm>
        </p:grpSpPr>
        <p:grpSp>
          <p:nvGrpSpPr>
            <p:cNvPr id="6" name="Group 5"/>
            <p:cNvGrpSpPr/>
            <p:nvPr/>
          </p:nvGrpSpPr>
          <p:grpSpPr>
            <a:xfrm>
              <a:off x="2393504" y="2009302"/>
              <a:ext cx="431428" cy="575117"/>
              <a:chOff x="2887410" y="414748"/>
              <a:chExt cx="431428" cy="575117"/>
            </a:xfrm>
          </p:grpSpPr>
          <p:sp>
            <p:nvSpPr>
              <p:cNvPr id="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 name="Group 6"/>
            <p:cNvGrpSpPr/>
            <p:nvPr/>
          </p:nvGrpSpPr>
          <p:grpSpPr>
            <a:xfrm>
              <a:off x="2968948" y="1718435"/>
              <a:ext cx="431428" cy="575117"/>
              <a:chOff x="2887410" y="414748"/>
              <a:chExt cx="431428" cy="575117"/>
            </a:xfrm>
          </p:grpSpPr>
          <p:sp>
            <p:nvSpPr>
              <p:cNvPr id="8"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 name="Group 9"/>
            <p:cNvGrpSpPr/>
            <p:nvPr/>
          </p:nvGrpSpPr>
          <p:grpSpPr>
            <a:xfrm>
              <a:off x="1890068" y="1737899"/>
              <a:ext cx="431428" cy="575117"/>
              <a:chOff x="2887410" y="414748"/>
              <a:chExt cx="431428" cy="575117"/>
            </a:xfrm>
          </p:grpSpPr>
          <p:sp>
            <p:nvSpPr>
              <p:cNvPr id="1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 name="Group 12"/>
            <p:cNvGrpSpPr/>
            <p:nvPr/>
          </p:nvGrpSpPr>
          <p:grpSpPr>
            <a:xfrm>
              <a:off x="2825242" y="2584419"/>
              <a:ext cx="431428" cy="575117"/>
              <a:chOff x="2887410" y="414748"/>
              <a:chExt cx="431428" cy="575117"/>
            </a:xfrm>
          </p:grpSpPr>
          <p:sp>
            <p:nvSpPr>
              <p:cNvPr id="1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6" name="Group 15"/>
            <p:cNvGrpSpPr/>
            <p:nvPr/>
          </p:nvGrpSpPr>
          <p:grpSpPr>
            <a:xfrm>
              <a:off x="2343351" y="2871977"/>
              <a:ext cx="431428" cy="575117"/>
              <a:chOff x="2887410" y="414748"/>
              <a:chExt cx="431428" cy="575117"/>
            </a:xfrm>
          </p:grpSpPr>
          <p:sp>
            <p:nvSpPr>
              <p:cNvPr id="1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 name="Group 18"/>
            <p:cNvGrpSpPr/>
            <p:nvPr/>
          </p:nvGrpSpPr>
          <p:grpSpPr>
            <a:xfrm>
              <a:off x="1815829" y="2440876"/>
              <a:ext cx="431428" cy="575117"/>
              <a:chOff x="2887410" y="414748"/>
              <a:chExt cx="431428" cy="575117"/>
            </a:xfrm>
          </p:grpSpPr>
          <p:sp>
            <p:nvSpPr>
              <p:cNvPr id="20"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 name="Group 21"/>
            <p:cNvGrpSpPr/>
            <p:nvPr/>
          </p:nvGrpSpPr>
          <p:grpSpPr>
            <a:xfrm>
              <a:off x="2434983" y="1261360"/>
              <a:ext cx="431428" cy="575117"/>
              <a:chOff x="2887410" y="414748"/>
              <a:chExt cx="431428" cy="575117"/>
            </a:xfrm>
          </p:grpSpPr>
          <p:sp>
            <p:nvSpPr>
              <p:cNvPr id="2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6" name="Group 25"/>
          <p:cNvGrpSpPr/>
          <p:nvPr/>
        </p:nvGrpSpPr>
        <p:grpSpPr>
          <a:xfrm>
            <a:off x="7560137" y="2083722"/>
            <a:ext cx="1584547" cy="2185734"/>
            <a:chOff x="1815829" y="1261360"/>
            <a:chExt cx="1584547" cy="2185734"/>
          </a:xfrm>
        </p:grpSpPr>
        <p:grpSp>
          <p:nvGrpSpPr>
            <p:cNvPr id="27" name="Group 26"/>
            <p:cNvGrpSpPr/>
            <p:nvPr/>
          </p:nvGrpSpPr>
          <p:grpSpPr>
            <a:xfrm>
              <a:off x="2393504" y="2009302"/>
              <a:ext cx="431428" cy="575117"/>
              <a:chOff x="2887410" y="414748"/>
              <a:chExt cx="431428" cy="575117"/>
            </a:xfrm>
          </p:grpSpPr>
          <p:sp>
            <p:nvSpPr>
              <p:cNvPr id="46"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Oval 46"/>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8" name="Group 27"/>
            <p:cNvGrpSpPr/>
            <p:nvPr/>
          </p:nvGrpSpPr>
          <p:grpSpPr>
            <a:xfrm>
              <a:off x="2968948" y="1718435"/>
              <a:ext cx="431428" cy="575117"/>
              <a:chOff x="2887410" y="414748"/>
              <a:chExt cx="431428" cy="575117"/>
            </a:xfrm>
          </p:grpSpPr>
          <p:sp>
            <p:nvSpPr>
              <p:cNvPr id="4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Oval 4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9" name="Group 28"/>
            <p:cNvGrpSpPr/>
            <p:nvPr/>
          </p:nvGrpSpPr>
          <p:grpSpPr>
            <a:xfrm>
              <a:off x="1890068" y="1737899"/>
              <a:ext cx="431428" cy="575117"/>
              <a:chOff x="2887410" y="414748"/>
              <a:chExt cx="431428" cy="575117"/>
            </a:xfrm>
          </p:grpSpPr>
          <p:sp>
            <p:nvSpPr>
              <p:cNvPr id="42"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Oval 42"/>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0" name="Group 29"/>
            <p:cNvGrpSpPr/>
            <p:nvPr/>
          </p:nvGrpSpPr>
          <p:grpSpPr>
            <a:xfrm>
              <a:off x="2825242" y="2584419"/>
              <a:ext cx="431428" cy="575117"/>
              <a:chOff x="2887410" y="414748"/>
              <a:chExt cx="431428" cy="575117"/>
            </a:xfrm>
          </p:grpSpPr>
          <p:sp>
            <p:nvSpPr>
              <p:cNvPr id="40"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Oval 40"/>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1" name="Group 30"/>
            <p:cNvGrpSpPr/>
            <p:nvPr/>
          </p:nvGrpSpPr>
          <p:grpSpPr>
            <a:xfrm>
              <a:off x="2343351" y="2871977"/>
              <a:ext cx="431428" cy="575117"/>
              <a:chOff x="2887410" y="414748"/>
              <a:chExt cx="431428" cy="575117"/>
            </a:xfrm>
          </p:grpSpPr>
          <p:sp>
            <p:nvSpPr>
              <p:cNvPr id="38"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Oval 38"/>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2" name="Group 31"/>
            <p:cNvGrpSpPr/>
            <p:nvPr/>
          </p:nvGrpSpPr>
          <p:grpSpPr>
            <a:xfrm>
              <a:off x="1815829" y="2440876"/>
              <a:ext cx="431428" cy="575117"/>
              <a:chOff x="2887410" y="414748"/>
              <a:chExt cx="431428" cy="575117"/>
            </a:xfrm>
          </p:grpSpPr>
          <p:sp>
            <p:nvSpPr>
              <p:cNvPr id="36"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Oval 36"/>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3" name="Group 32"/>
            <p:cNvGrpSpPr/>
            <p:nvPr/>
          </p:nvGrpSpPr>
          <p:grpSpPr>
            <a:xfrm>
              <a:off x="2434983" y="1261360"/>
              <a:ext cx="431428" cy="575117"/>
              <a:chOff x="2887410" y="414748"/>
              <a:chExt cx="431428" cy="575117"/>
            </a:xfrm>
          </p:grpSpPr>
          <p:sp>
            <p:nvSpPr>
              <p:cNvPr id="3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Oval 3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48" name="Rectangle 47"/>
          <p:cNvSpPr/>
          <p:nvPr/>
        </p:nvSpPr>
        <p:spPr>
          <a:xfrm>
            <a:off x="125174" y="394403"/>
            <a:ext cx="11707244" cy="707886"/>
          </a:xfrm>
          <a:prstGeom prst="rect">
            <a:avLst/>
          </a:prstGeom>
        </p:spPr>
        <p:txBody>
          <a:bodyPr wrap="square">
            <a:spAutoFit/>
          </a:bodyPr>
          <a:lstStyle/>
          <a:p>
            <a:r>
              <a:rPr lang="en-GB" sz="2000" dirty="0" smtClean="0"/>
              <a:t>In NRSI, we take a group who were treated one way and compare them to a group who were treated a different way</a:t>
            </a:r>
            <a:endParaRPr lang="en-GB" sz="2000" dirty="0"/>
          </a:p>
        </p:txBody>
      </p:sp>
      <p:sp>
        <p:nvSpPr>
          <p:cNvPr id="49" name="TextBox 48"/>
          <p:cNvSpPr txBox="1"/>
          <p:nvPr/>
        </p:nvSpPr>
        <p:spPr>
          <a:xfrm>
            <a:off x="2715849" y="1491402"/>
            <a:ext cx="1791384" cy="523220"/>
          </a:xfrm>
          <a:prstGeom prst="rect">
            <a:avLst/>
          </a:prstGeom>
          <a:noFill/>
        </p:spPr>
        <p:txBody>
          <a:bodyPr wrap="square" rtlCol="0">
            <a:spAutoFit/>
          </a:bodyPr>
          <a:lstStyle/>
          <a:p>
            <a:pPr algn="ctr"/>
            <a:r>
              <a:rPr lang="en-GB" sz="2800" dirty="0" smtClean="0"/>
              <a:t>Group A</a:t>
            </a:r>
            <a:endParaRPr lang="en-GB" sz="2800" dirty="0"/>
          </a:p>
        </p:txBody>
      </p:sp>
      <p:sp>
        <p:nvSpPr>
          <p:cNvPr id="50" name="Rectangle 49"/>
          <p:cNvSpPr/>
          <p:nvPr/>
        </p:nvSpPr>
        <p:spPr>
          <a:xfrm>
            <a:off x="7816846" y="1495318"/>
            <a:ext cx="1443730" cy="523220"/>
          </a:xfrm>
          <a:prstGeom prst="rect">
            <a:avLst/>
          </a:prstGeom>
        </p:spPr>
        <p:txBody>
          <a:bodyPr wrap="none">
            <a:spAutoFit/>
          </a:bodyPr>
          <a:lstStyle/>
          <a:p>
            <a:pPr algn="ctr"/>
            <a:r>
              <a:rPr lang="en-GB" sz="2800" dirty="0"/>
              <a:t>Group </a:t>
            </a:r>
            <a:r>
              <a:rPr lang="en-GB" sz="2800" dirty="0" smtClean="0"/>
              <a:t>B</a:t>
            </a:r>
            <a:endParaRPr lang="en-GB" sz="2800" dirty="0"/>
          </a:p>
        </p:txBody>
      </p:sp>
      <p:grpSp>
        <p:nvGrpSpPr>
          <p:cNvPr id="60" name="Group 59"/>
          <p:cNvGrpSpPr/>
          <p:nvPr/>
        </p:nvGrpSpPr>
        <p:grpSpPr>
          <a:xfrm>
            <a:off x="0" y="1417956"/>
            <a:ext cx="2386864" cy="2757880"/>
            <a:chOff x="0" y="1417956"/>
            <a:chExt cx="2386864" cy="2757880"/>
          </a:xfrm>
        </p:grpSpPr>
        <p:sp>
          <p:nvSpPr>
            <p:cNvPr id="52" name="Rectangle 51"/>
            <p:cNvSpPr/>
            <p:nvPr/>
          </p:nvSpPr>
          <p:spPr>
            <a:xfrm>
              <a:off x="0" y="2498554"/>
              <a:ext cx="2282997" cy="369332"/>
            </a:xfrm>
            <a:prstGeom prst="rect">
              <a:avLst/>
            </a:prstGeom>
          </p:spPr>
          <p:txBody>
            <a:bodyPr wrap="none">
              <a:spAutoFit/>
            </a:bodyPr>
            <a:lstStyle/>
            <a:p>
              <a:r>
                <a:rPr lang="en-GB" dirty="0">
                  <a:solidFill>
                    <a:srgbClr val="00B0F0"/>
                  </a:solidFill>
                </a:rPr>
                <a:t>social economic status</a:t>
              </a:r>
            </a:p>
          </p:txBody>
        </p:sp>
        <p:grpSp>
          <p:nvGrpSpPr>
            <p:cNvPr id="59" name="Group 58"/>
            <p:cNvGrpSpPr/>
            <p:nvPr/>
          </p:nvGrpSpPr>
          <p:grpSpPr>
            <a:xfrm>
              <a:off x="157001" y="1417956"/>
              <a:ext cx="2229863" cy="2757880"/>
              <a:chOff x="218692" y="1313328"/>
              <a:chExt cx="2229863" cy="2757880"/>
            </a:xfrm>
          </p:grpSpPr>
          <p:grpSp>
            <p:nvGrpSpPr>
              <p:cNvPr id="58" name="Group 57"/>
              <p:cNvGrpSpPr/>
              <p:nvPr/>
            </p:nvGrpSpPr>
            <p:grpSpPr>
              <a:xfrm>
                <a:off x="218692" y="1858406"/>
                <a:ext cx="2229863" cy="2212802"/>
                <a:chOff x="218692" y="1858406"/>
                <a:chExt cx="2229863" cy="2212802"/>
              </a:xfrm>
            </p:grpSpPr>
            <p:sp>
              <p:nvSpPr>
                <p:cNvPr id="2" name="Rectangle 1"/>
                <p:cNvSpPr/>
                <p:nvPr/>
              </p:nvSpPr>
              <p:spPr>
                <a:xfrm>
                  <a:off x="218692" y="1858406"/>
                  <a:ext cx="2126672" cy="369332"/>
                </a:xfrm>
                <a:prstGeom prst="rect">
                  <a:avLst/>
                </a:prstGeom>
              </p:spPr>
              <p:txBody>
                <a:bodyPr wrap="none">
                  <a:spAutoFit/>
                </a:bodyPr>
                <a:lstStyle/>
                <a:p>
                  <a:r>
                    <a:rPr lang="en-GB" dirty="0"/>
                    <a:t>duration of infertility</a:t>
                  </a:r>
                </a:p>
              </p:txBody>
            </p:sp>
            <p:sp>
              <p:nvSpPr>
                <p:cNvPr id="3" name="Rectangle 2"/>
                <p:cNvSpPr/>
                <p:nvPr/>
              </p:nvSpPr>
              <p:spPr>
                <a:xfrm>
                  <a:off x="1887022" y="2752464"/>
                  <a:ext cx="551754" cy="369332"/>
                </a:xfrm>
                <a:prstGeom prst="rect">
                  <a:avLst/>
                </a:prstGeom>
              </p:spPr>
              <p:txBody>
                <a:bodyPr wrap="none">
                  <a:spAutoFit/>
                </a:bodyPr>
                <a:lstStyle/>
                <a:p>
                  <a:r>
                    <a:rPr lang="en-GB" dirty="0" smtClean="0"/>
                    <a:t>BMI</a:t>
                  </a:r>
                  <a:endParaRPr lang="en-GB" dirty="0"/>
                </a:p>
              </p:txBody>
            </p:sp>
            <p:sp>
              <p:nvSpPr>
                <p:cNvPr id="51" name="Rectangle 50"/>
                <p:cNvSpPr/>
                <p:nvPr/>
              </p:nvSpPr>
              <p:spPr>
                <a:xfrm>
                  <a:off x="1074550" y="3222115"/>
                  <a:ext cx="663964" cy="523220"/>
                </a:xfrm>
                <a:prstGeom prst="rect">
                  <a:avLst/>
                </a:prstGeom>
              </p:spPr>
              <p:txBody>
                <a:bodyPr wrap="none">
                  <a:spAutoFit/>
                </a:bodyPr>
                <a:lstStyle/>
                <a:p>
                  <a:r>
                    <a:rPr lang="en-GB" sz="2800" dirty="0"/>
                    <a:t>age</a:t>
                  </a:r>
                </a:p>
              </p:txBody>
            </p:sp>
            <p:sp>
              <p:nvSpPr>
                <p:cNvPr id="53" name="Rectangle 52"/>
                <p:cNvSpPr/>
                <p:nvPr/>
              </p:nvSpPr>
              <p:spPr>
                <a:xfrm>
                  <a:off x="234253" y="3701876"/>
                  <a:ext cx="1460849" cy="369332"/>
                </a:xfrm>
                <a:prstGeom prst="rect">
                  <a:avLst/>
                </a:prstGeom>
              </p:spPr>
              <p:txBody>
                <a:bodyPr wrap="none">
                  <a:spAutoFit/>
                </a:bodyPr>
                <a:lstStyle/>
                <a:p>
                  <a:r>
                    <a:rPr lang="en-GB" dirty="0">
                      <a:solidFill>
                        <a:srgbClr val="FF0000"/>
                      </a:solidFill>
                    </a:rPr>
                    <a:t>culture media</a:t>
                  </a:r>
                </a:p>
              </p:txBody>
            </p:sp>
            <p:sp>
              <p:nvSpPr>
                <p:cNvPr id="54" name="Rectangle 53"/>
                <p:cNvSpPr/>
                <p:nvPr/>
              </p:nvSpPr>
              <p:spPr>
                <a:xfrm>
                  <a:off x="2175723" y="2259424"/>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sp>
              <p:nvSpPr>
                <p:cNvPr id="55" name="Rectangle 54"/>
                <p:cNvSpPr/>
                <p:nvPr/>
              </p:nvSpPr>
              <p:spPr>
                <a:xfrm>
                  <a:off x="588247" y="2989944"/>
                  <a:ext cx="399468" cy="769441"/>
                </a:xfrm>
                <a:prstGeom prst="rect">
                  <a:avLst/>
                </a:prstGeom>
              </p:spPr>
              <p:txBody>
                <a:bodyPr wrap="none">
                  <a:spAutoFit/>
                </a:bodyPr>
                <a:lstStyle/>
                <a:p>
                  <a:r>
                    <a:rPr lang="en-GB" sz="4400" dirty="0">
                      <a:solidFill>
                        <a:schemeClr val="accent1">
                          <a:lumMod val="60000"/>
                          <a:lumOff val="40000"/>
                        </a:schemeClr>
                      </a:solidFill>
                      <a:latin typeface="Agency FB" panose="020B0503020202020204" pitchFamily="34" charset="0"/>
                    </a:rPr>
                    <a:t>?</a:t>
                  </a:r>
                </a:p>
              </p:txBody>
            </p:sp>
            <p:sp>
              <p:nvSpPr>
                <p:cNvPr id="56" name="Rectangle 55"/>
                <p:cNvSpPr/>
                <p:nvPr/>
              </p:nvSpPr>
              <p:spPr>
                <a:xfrm>
                  <a:off x="2072532" y="3270775"/>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grpSp>
          <p:sp>
            <p:nvSpPr>
              <p:cNvPr id="57" name="Rectangle 56"/>
              <p:cNvSpPr/>
              <p:nvPr/>
            </p:nvSpPr>
            <p:spPr>
              <a:xfrm>
                <a:off x="843348" y="1313328"/>
                <a:ext cx="420308" cy="830997"/>
              </a:xfrm>
              <a:prstGeom prst="rect">
                <a:avLst/>
              </a:prstGeom>
            </p:spPr>
            <p:txBody>
              <a:bodyPr wrap="none">
                <a:spAutoFit/>
              </a:bodyPr>
              <a:lstStyle/>
              <a:p>
                <a:r>
                  <a:rPr lang="en-GB" sz="4800" dirty="0">
                    <a:solidFill>
                      <a:schemeClr val="accent1">
                        <a:lumMod val="60000"/>
                        <a:lumOff val="40000"/>
                      </a:schemeClr>
                    </a:solidFill>
                    <a:latin typeface="Agency FB" panose="020B0503020202020204" pitchFamily="34" charset="0"/>
                  </a:rPr>
                  <a:t>?</a:t>
                </a:r>
              </a:p>
            </p:txBody>
          </p:sp>
        </p:grpSp>
      </p:grpSp>
      <p:grpSp>
        <p:nvGrpSpPr>
          <p:cNvPr id="61" name="Group 60"/>
          <p:cNvGrpSpPr/>
          <p:nvPr/>
        </p:nvGrpSpPr>
        <p:grpSpPr>
          <a:xfrm>
            <a:off x="9549421" y="1388193"/>
            <a:ext cx="2386864" cy="2757880"/>
            <a:chOff x="0" y="1417956"/>
            <a:chExt cx="2386864" cy="2757880"/>
          </a:xfrm>
        </p:grpSpPr>
        <p:sp>
          <p:nvSpPr>
            <p:cNvPr id="62" name="Rectangle 61"/>
            <p:cNvSpPr/>
            <p:nvPr/>
          </p:nvSpPr>
          <p:spPr>
            <a:xfrm>
              <a:off x="0" y="2498554"/>
              <a:ext cx="2282997" cy="369332"/>
            </a:xfrm>
            <a:prstGeom prst="rect">
              <a:avLst/>
            </a:prstGeom>
          </p:spPr>
          <p:txBody>
            <a:bodyPr wrap="none">
              <a:spAutoFit/>
            </a:bodyPr>
            <a:lstStyle/>
            <a:p>
              <a:r>
                <a:rPr lang="en-GB" dirty="0">
                  <a:solidFill>
                    <a:srgbClr val="00B0F0"/>
                  </a:solidFill>
                </a:rPr>
                <a:t>social economic status</a:t>
              </a:r>
            </a:p>
          </p:txBody>
        </p:sp>
        <p:grpSp>
          <p:nvGrpSpPr>
            <p:cNvPr id="63" name="Group 62"/>
            <p:cNvGrpSpPr/>
            <p:nvPr/>
          </p:nvGrpSpPr>
          <p:grpSpPr>
            <a:xfrm>
              <a:off x="157001" y="1417956"/>
              <a:ext cx="2229863" cy="2757880"/>
              <a:chOff x="218692" y="1313328"/>
              <a:chExt cx="2229863" cy="2757880"/>
            </a:xfrm>
          </p:grpSpPr>
          <p:grpSp>
            <p:nvGrpSpPr>
              <p:cNvPr id="64" name="Group 63"/>
              <p:cNvGrpSpPr/>
              <p:nvPr/>
            </p:nvGrpSpPr>
            <p:grpSpPr>
              <a:xfrm>
                <a:off x="218692" y="1858406"/>
                <a:ext cx="2229863" cy="2212802"/>
                <a:chOff x="218692" y="1858406"/>
                <a:chExt cx="2229863" cy="2212802"/>
              </a:xfrm>
            </p:grpSpPr>
            <p:sp>
              <p:nvSpPr>
                <p:cNvPr id="66" name="Rectangle 65"/>
                <p:cNvSpPr/>
                <p:nvPr/>
              </p:nvSpPr>
              <p:spPr>
                <a:xfrm>
                  <a:off x="218692" y="1858406"/>
                  <a:ext cx="2126672" cy="369332"/>
                </a:xfrm>
                <a:prstGeom prst="rect">
                  <a:avLst/>
                </a:prstGeom>
              </p:spPr>
              <p:txBody>
                <a:bodyPr wrap="none">
                  <a:spAutoFit/>
                </a:bodyPr>
                <a:lstStyle/>
                <a:p>
                  <a:r>
                    <a:rPr lang="en-GB" dirty="0"/>
                    <a:t>duration of infertility</a:t>
                  </a:r>
                </a:p>
              </p:txBody>
            </p:sp>
            <p:sp>
              <p:nvSpPr>
                <p:cNvPr id="67" name="Rectangle 66"/>
                <p:cNvSpPr/>
                <p:nvPr/>
              </p:nvSpPr>
              <p:spPr>
                <a:xfrm>
                  <a:off x="1887022" y="2752464"/>
                  <a:ext cx="551754" cy="369332"/>
                </a:xfrm>
                <a:prstGeom prst="rect">
                  <a:avLst/>
                </a:prstGeom>
              </p:spPr>
              <p:txBody>
                <a:bodyPr wrap="none">
                  <a:spAutoFit/>
                </a:bodyPr>
                <a:lstStyle/>
                <a:p>
                  <a:r>
                    <a:rPr lang="en-GB" dirty="0" smtClean="0"/>
                    <a:t>BMI</a:t>
                  </a:r>
                  <a:endParaRPr lang="en-GB" dirty="0"/>
                </a:p>
              </p:txBody>
            </p:sp>
            <p:sp>
              <p:nvSpPr>
                <p:cNvPr id="68" name="Rectangle 67"/>
                <p:cNvSpPr/>
                <p:nvPr/>
              </p:nvSpPr>
              <p:spPr>
                <a:xfrm>
                  <a:off x="1074550" y="3222115"/>
                  <a:ext cx="663964" cy="523220"/>
                </a:xfrm>
                <a:prstGeom prst="rect">
                  <a:avLst/>
                </a:prstGeom>
              </p:spPr>
              <p:txBody>
                <a:bodyPr wrap="none">
                  <a:spAutoFit/>
                </a:bodyPr>
                <a:lstStyle/>
                <a:p>
                  <a:r>
                    <a:rPr lang="en-GB" sz="2800" dirty="0"/>
                    <a:t>age</a:t>
                  </a:r>
                </a:p>
              </p:txBody>
            </p:sp>
            <p:sp>
              <p:nvSpPr>
                <p:cNvPr id="69" name="Rectangle 68"/>
                <p:cNvSpPr/>
                <p:nvPr/>
              </p:nvSpPr>
              <p:spPr>
                <a:xfrm>
                  <a:off x="234253" y="3701876"/>
                  <a:ext cx="1460849" cy="369332"/>
                </a:xfrm>
                <a:prstGeom prst="rect">
                  <a:avLst/>
                </a:prstGeom>
              </p:spPr>
              <p:txBody>
                <a:bodyPr wrap="none">
                  <a:spAutoFit/>
                </a:bodyPr>
                <a:lstStyle/>
                <a:p>
                  <a:r>
                    <a:rPr lang="en-GB" dirty="0">
                      <a:solidFill>
                        <a:srgbClr val="FF0000"/>
                      </a:solidFill>
                    </a:rPr>
                    <a:t>culture media</a:t>
                  </a:r>
                </a:p>
              </p:txBody>
            </p:sp>
            <p:sp>
              <p:nvSpPr>
                <p:cNvPr id="70" name="Rectangle 69"/>
                <p:cNvSpPr/>
                <p:nvPr/>
              </p:nvSpPr>
              <p:spPr>
                <a:xfrm>
                  <a:off x="2175723" y="2259424"/>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sp>
              <p:nvSpPr>
                <p:cNvPr id="71" name="Rectangle 70"/>
                <p:cNvSpPr/>
                <p:nvPr/>
              </p:nvSpPr>
              <p:spPr>
                <a:xfrm>
                  <a:off x="588247" y="2989944"/>
                  <a:ext cx="399468" cy="769441"/>
                </a:xfrm>
                <a:prstGeom prst="rect">
                  <a:avLst/>
                </a:prstGeom>
              </p:spPr>
              <p:txBody>
                <a:bodyPr wrap="none">
                  <a:spAutoFit/>
                </a:bodyPr>
                <a:lstStyle/>
                <a:p>
                  <a:r>
                    <a:rPr lang="en-GB" sz="4400" dirty="0">
                      <a:solidFill>
                        <a:schemeClr val="accent1">
                          <a:lumMod val="60000"/>
                          <a:lumOff val="40000"/>
                        </a:schemeClr>
                      </a:solidFill>
                      <a:latin typeface="Agency FB" panose="020B0503020202020204" pitchFamily="34" charset="0"/>
                    </a:rPr>
                    <a:t>?</a:t>
                  </a:r>
                </a:p>
              </p:txBody>
            </p:sp>
            <p:sp>
              <p:nvSpPr>
                <p:cNvPr id="72" name="Rectangle 71"/>
                <p:cNvSpPr/>
                <p:nvPr/>
              </p:nvSpPr>
              <p:spPr>
                <a:xfrm>
                  <a:off x="2072532" y="3270775"/>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grpSp>
          <p:sp>
            <p:nvSpPr>
              <p:cNvPr id="65" name="Rectangle 64"/>
              <p:cNvSpPr/>
              <p:nvPr/>
            </p:nvSpPr>
            <p:spPr>
              <a:xfrm>
                <a:off x="843348" y="1313328"/>
                <a:ext cx="420308" cy="830997"/>
              </a:xfrm>
              <a:prstGeom prst="rect">
                <a:avLst/>
              </a:prstGeom>
            </p:spPr>
            <p:txBody>
              <a:bodyPr wrap="none">
                <a:spAutoFit/>
              </a:bodyPr>
              <a:lstStyle/>
              <a:p>
                <a:r>
                  <a:rPr lang="en-GB" sz="4800" dirty="0">
                    <a:solidFill>
                      <a:schemeClr val="accent1">
                        <a:lumMod val="60000"/>
                        <a:lumOff val="40000"/>
                      </a:schemeClr>
                    </a:solidFill>
                    <a:latin typeface="Agency FB" panose="020B0503020202020204" pitchFamily="34" charset="0"/>
                  </a:rPr>
                  <a:t>?</a:t>
                </a:r>
              </a:p>
            </p:txBody>
          </p:sp>
        </p:grpSp>
      </p:grpSp>
      <p:sp>
        <p:nvSpPr>
          <p:cNvPr id="81" name="Down Arrow 80"/>
          <p:cNvSpPr/>
          <p:nvPr/>
        </p:nvSpPr>
        <p:spPr>
          <a:xfrm>
            <a:off x="3402417" y="4520959"/>
            <a:ext cx="317941" cy="554182"/>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Down Arrow 81"/>
          <p:cNvSpPr/>
          <p:nvPr/>
        </p:nvSpPr>
        <p:spPr>
          <a:xfrm>
            <a:off x="8236034" y="4490537"/>
            <a:ext cx="317941" cy="554182"/>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Oval 4"/>
          <p:cNvSpPr/>
          <p:nvPr/>
        </p:nvSpPr>
        <p:spPr>
          <a:xfrm>
            <a:off x="3561388" y="5410552"/>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Oval 83"/>
          <p:cNvSpPr/>
          <p:nvPr/>
        </p:nvSpPr>
        <p:spPr>
          <a:xfrm>
            <a:off x="3633396"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Oval 84"/>
          <p:cNvSpPr/>
          <p:nvPr/>
        </p:nvSpPr>
        <p:spPr>
          <a:xfrm>
            <a:off x="3012653"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Oval 4"/>
          <p:cNvSpPr/>
          <p:nvPr/>
        </p:nvSpPr>
        <p:spPr>
          <a:xfrm>
            <a:off x="2950250" y="5410551"/>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9" name="Group 88"/>
          <p:cNvGrpSpPr/>
          <p:nvPr/>
        </p:nvGrpSpPr>
        <p:grpSpPr>
          <a:xfrm>
            <a:off x="4147524" y="5122520"/>
            <a:ext cx="431428" cy="578897"/>
            <a:chOff x="4147524" y="5122520"/>
            <a:chExt cx="431428" cy="578897"/>
          </a:xfrm>
        </p:grpSpPr>
        <p:sp>
          <p:nvSpPr>
            <p:cNvPr id="87"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Oval 87"/>
            <p:cNvSpPr/>
            <p:nvPr/>
          </p:nvSpPr>
          <p:spPr>
            <a:xfrm>
              <a:off x="4219821"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0" name="Group 89"/>
          <p:cNvGrpSpPr/>
          <p:nvPr/>
        </p:nvGrpSpPr>
        <p:grpSpPr>
          <a:xfrm>
            <a:off x="4347483" y="5454891"/>
            <a:ext cx="272076" cy="376882"/>
            <a:chOff x="4147524" y="5122520"/>
            <a:chExt cx="431428" cy="578897"/>
          </a:xfrm>
          <a:solidFill>
            <a:schemeClr val="bg1">
              <a:lumMod val="95000"/>
            </a:schemeClr>
          </a:solidFill>
        </p:grpSpPr>
        <p:sp>
          <p:nvSpPr>
            <p:cNvPr id="91"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Oval 91"/>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3" name="Group 92"/>
          <p:cNvGrpSpPr/>
          <p:nvPr/>
        </p:nvGrpSpPr>
        <p:grpSpPr>
          <a:xfrm>
            <a:off x="3731422" y="5455814"/>
            <a:ext cx="272076" cy="376882"/>
            <a:chOff x="4147524" y="5122520"/>
            <a:chExt cx="431428" cy="578897"/>
          </a:xfrm>
          <a:solidFill>
            <a:schemeClr val="bg1">
              <a:lumMod val="95000"/>
            </a:schemeClr>
          </a:solidFill>
        </p:grpSpPr>
        <p:sp>
          <p:nvSpPr>
            <p:cNvPr id="94"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Oval 94"/>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6" name="Group 95"/>
          <p:cNvGrpSpPr/>
          <p:nvPr/>
        </p:nvGrpSpPr>
        <p:grpSpPr>
          <a:xfrm>
            <a:off x="3115361" y="5455814"/>
            <a:ext cx="272076" cy="376882"/>
            <a:chOff x="4147524" y="5122520"/>
            <a:chExt cx="431428" cy="578897"/>
          </a:xfrm>
          <a:solidFill>
            <a:schemeClr val="bg1">
              <a:lumMod val="95000"/>
            </a:schemeClr>
          </a:solidFill>
        </p:grpSpPr>
        <p:sp>
          <p:nvSpPr>
            <p:cNvPr id="97"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Oval 97"/>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9" name="Group 98"/>
          <p:cNvGrpSpPr/>
          <p:nvPr/>
        </p:nvGrpSpPr>
        <p:grpSpPr>
          <a:xfrm>
            <a:off x="8204468" y="5121101"/>
            <a:ext cx="431428" cy="578897"/>
            <a:chOff x="4147524" y="5122520"/>
            <a:chExt cx="431428" cy="578897"/>
          </a:xfrm>
        </p:grpSpPr>
        <p:sp>
          <p:nvSpPr>
            <p:cNvPr id="100"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Oval 100"/>
            <p:cNvSpPr/>
            <p:nvPr/>
          </p:nvSpPr>
          <p:spPr>
            <a:xfrm>
              <a:off x="4219821"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2" name="Group 101"/>
          <p:cNvGrpSpPr/>
          <p:nvPr/>
        </p:nvGrpSpPr>
        <p:grpSpPr>
          <a:xfrm>
            <a:off x="8395004" y="5419107"/>
            <a:ext cx="272076" cy="376882"/>
            <a:chOff x="4147524" y="5122520"/>
            <a:chExt cx="431428" cy="578897"/>
          </a:xfrm>
          <a:solidFill>
            <a:schemeClr val="bg1">
              <a:lumMod val="95000"/>
            </a:schemeClr>
          </a:solidFill>
        </p:grpSpPr>
        <p:sp>
          <p:nvSpPr>
            <p:cNvPr id="103"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Oval 103"/>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216343248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109"/>
          <p:cNvSpPr/>
          <p:nvPr/>
        </p:nvSpPr>
        <p:spPr>
          <a:xfrm>
            <a:off x="578678" y="1517539"/>
            <a:ext cx="10852727" cy="6858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Rectangle 79"/>
          <p:cNvSpPr/>
          <p:nvPr/>
        </p:nvSpPr>
        <p:spPr>
          <a:xfrm>
            <a:off x="9497791" y="1438613"/>
            <a:ext cx="2470302" cy="3063734"/>
          </a:xfrm>
          <a:prstGeom prst="rect">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Rectangle 78"/>
          <p:cNvSpPr/>
          <p:nvPr/>
        </p:nvSpPr>
        <p:spPr>
          <a:xfrm>
            <a:off x="41989" y="1388193"/>
            <a:ext cx="2470302" cy="3063734"/>
          </a:xfrm>
          <a:prstGeom prst="rect">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5" name="Group 24"/>
          <p:cNvGrpSpPr/>
          <p:nvPr/>
        </p:nvGrpSpPr>
        <p:grpSpPr>
          <a:xfrm>
            <a:off x="2818152" y="2176341"/>
            <a:ext cx="1584547" cy="2185734"/>
            <a:chOff x="1815829" y="1261360"/>
            <a:chExt cx="1584547" cy="2185734"/>
          </a:xfrm>
        </p:grpSpPr>
        <p:grpSp>
          <p:nvGrpSpPr>
            <p:cNvPr id="6" name="Group 5"/>
            <p:cNvGrpSpPr/>
            <p:nvPr/>
          </p:nvGrpSpPr>
          <p:grpSpPr>
            <a:xfrm>
              <a:off x="2393504" y="2009302"/>
              <a:ext cx="431428" cy="575117"/>
              <a:chOff x="2887410" y="414748"/>
              <a:chExt cx="431428" cy="575117"/>
            </a:xfrm>
          </p:grpSpPr>
          <p:sp>
            <p:nvSpPr>
              <p:cNvPr id="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 name="Group 6"/>
            <p:cNvGrpSpPr/>
            <p:nvPr/>
          </p:nvGrpSpPr>
          <p:grpSpPr>
            <a:xfrm>
              <a:off x="2968948" y="1718435"/>
              <a:ext cx="431428" cy="575117"/>
              <a:chOff x="2887410" y="414748"/>
              <a:chExt cx="431428" cy="575117"/>
            </a:xfrm>
          </p:grpSpPr>
          <p:sp>
            <p:nvSpPr>
              <p:cNvPr id="8"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 name="Group 9"/>
            <p:cNvGrpSpPr/>
            <p:nvPr/>
          </p:nvGrpSpPr>
          <p:grpSpPr>
            <a:xfrm>
              <a:off x="1890068" y="1737899"/>
              <a:ext cx="431428" cy="575117"/>
              <a:chOff x="2887410" y="414748"/>
              <a:chExt cx="431428" cy="575117"/>
            </a:xfrm>
          </p:grpSpPr>
          <p:sp>
            <p:nvSpPr>
              <p:cNvPr id="1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 name="Group 12"/>
            <p:cNvGrpSpPr/>
            <p:nvPr/>
          </p:nvGrpSpPr>
          <p:grpSpPr>
            <a:xfrm>
              <a:off x="2825242" y="2584419"/>
              <a:ext cx="431428" cy="575117"/>
              <a:chOff x="2887410" y="414748"/>
              <a:chExt cx="431428" cy="575117"/>
            </a:xfrm>
          </p:grpSpPr>
          <p:sp>
            <p:nvSpPr>
              <p:cNvPr id="1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6" name="Group 15"/>
            <p:cNvGrpSpPr/>
            <p:nvPr/>
          </p:nvGrpSpPr>
          <p:grpSpPr>
            <a:xfrm>
              <a:off x="2343351" y="2871977"/>
              <a:ext cx="431428" cy="575117"/>
              <a:chOff x="2887410" y="414748"/>
              <a:chExt cx="431428" cy="575117"/>
            </a:xfrm>
          </p:grpSpPr>
          <p:sp>
            <p:nvSpPr>
              <p:cNvPr id="1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 name="Group 18"/>
            <p:cNvGrpSpPr/>
            <p:nvPr/>
          </p:nvGrpSpPr>
          <p:grpSpPr>
            <a:xfrm>
              <a:off x="1815829" y="2440876"/>
              <a:ext cx="431428" cy="575117"/>
              <a:chOff x="2887410" y="414748"/>
              <a:chExt cx="431428" cy="575117"/>
            </a:xfrm>
          </p:grpSpPr>
          <p:sp>
            <p:nvSpPr>
              <p:cNvPr id="20"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 name="Group 21"/>
            <p:cNvGrpSpPr/>
            <p:nvPr/>
          </p:nvGrpSpPr>
          <p:grpSpPr>
            <a:xfrm>
              <a:off x="2434983" y="1261360"/>
              <a:ext cx="431428" cy="575117"/>
              <a:chOff x="2887410" y="414748"/>
              <a:chExt cx="431428" cy="575117"/>
            </a:xfrm>
          </p:grpSpPr>
          <p:sp>
            <p:nvSpPr>
              <p:cNvPr id="2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6" name="Group 25"/>
          <p:cNvGrpSpPr/>
          <p:nvPr/>
        </p:nvGrpSpPr>
        <p:grpSpPr>
          <a:xfrm>
            <a:off x="7560137" y="2083722"/>
            <a:ext cx="1584547" cy="2185734"/>
            <a:chOff x="1815829" y="1261360"/>
            <a:chExt cx="1584547" cy="2185734"/>
          </a:xfrm>
        </p:grpSpPr>
        <p:grpSp>
          <p:nvGrpSpPr>
            <p:cNvPr id="27" name="Group 26"/>
            <p:cNvGrpSpPr/>
            <p:nvPr/>
          </p:nvGrpSpPr>
          <p:grpSpPr>
            <a:xfrm>
              <a:off x="2393504" y="2009302"/>
              <a:ext cx="431428" cy="575117"/>
              <a:chOff x="2887410" y="414748"/>
              <a:chExt cx="431428" cy="575117"/>
            </a:xfrm>
          </p:grpSpPr>
          <p:sp>
            <p:nvSpPr>
              <p:cNvPr id="46"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Oval 46"/>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8" name="Group 27"/>
            <p:cNvGrpSpPr/>
            <p:nvPr/>
          </p:nvGrpSpPr>
          <p:grpSpPr>
            <a:xfrm>
              <a:off x="2968948" y="1718435"/>
              <a:ext cx="431428" cy="575117"/>
              <a:chOff x="2887410" y="414748"/>
              <a:chExt cx="431428" cy="575117"/>
            </a:xfrm>
          </p:grpSpPr>
          <p:sp>
            <p:nvSpPr>
              <p:cNvPr id="4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Oval 4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9" name="Group 28"/>
            <p:cNvGrpSpPr/>
            <p:nvPr/>
          </p:nvGrpSpPr>
          <p:grpSpPr>
            <a:xfrm>
              <a:off x="1890068" y="1737899"/>
              <a:ext cx="431428" cy="575117"/>
              <a:chOff x="2887410" y="414748"/>
              <a:chExt cx="431428" cy="575117"/>
            </a:xfrm>
          </p:grpSpPr>
          <p:sp>
            <p:nvSpPr>
              <p:cNvPr id="42"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Oval 42"/>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0" name="Group 29"/>
            <p:cNvGrpSpPr/>
            <p:nvPr/>
          </p:nvGrpSpPr>
          <p:grpSpPr>
            <a:xfrm>
              <a:off x="2825242" y="2584419"/>
              <a:ext cx="431428" cy="575117"/>
              <a:chOff x="2887410" y="414748"/>
              <a:chExt cx="431428" cy="575117"/>
            </a:xfrm>
          </p:grpSpPr>
          <p:sp>
            <p:nvSpPr>
              <p:cNvPr id="40"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Oval 40"/>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1" name="Group 30"/>
            <p:cNvGrpSpPr/>
            <p:nvPr/>
          </p:nvGrpSpPr>
          <p:grpSpPr>
            <a:xfrm>
              <a:off x="2343351" y="2871977"/>
              <a:ext cx="431428" cy="575117"/>
              <a:chOff x="2887410" y="414748"/>
              <a:chExt cx="431428" cy="575117"/>
            </a:xfrm>
          </p:grpSpPr>
          <p:sp>
            <p:nvSpPr>
              <p:cNvPr id="38"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Oval 38"/>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2" name="Group 31"/>
            <p:cNvGrpSpPr/>
            <p:nvPr/>
          </p:nvGrpSpPr>
          <p:grpSpPr>
            <a:xfrm>
              <a:off x="1815829" y="2440876"/>
              <a:ext cx="431428" cy="575117"/>
              <a:chOff x="2887410" y="414748"/>
              <a:chExt cx="431428" cy="575117"/>
            </a:xfrm>
          </p:grpSpPr>
          <p:sp>
            <p:nvSpPr>
              <p:cNvPr id="36"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Oval 36"/>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3" name="Group 32"/>
            <p:cNvGrpSpPr/>
            <p:nvPr/>
          </p:nvGrpSpPr>
          <p:grpSpPr>
            <a:xfrm>
              <a:off x="2434983" y="1261360"/>
              <a:ext cx="431428" cy="575117"/>
              <a:chOff x="2887410" y="414748"/>
              <a:chExt cx="431428" cy="575117"/>
            </a:xfrm>
          </p:grpSpPr>
          <p:sp>
            <p:nvSpPr>
              <p:cNvPr id="3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Oval 3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48" name="Rectangle 47"/>
          <p:cNvSpPr/>
          <p:nvPr/>
        </p:nvSpPr>
        <p:spPr>
          <a:xfrm>
            <a:off x="112195" y="361178"/>
            <a:ext cx="11707244" cy="707886"/>
          </a:xfrm>
          <a:prstGeom prst="rect">
            <a:avLst/>
          </a:prstGeom>
        </p:spPr>
        <p:txBody>
          <a:bodyPr wrap="square">
            <a:spAutoFit/>
          </a:bodyPr>
          <a:lstStyle/>
          <a:p>
            <a:r>
              <a:rPr lang="en-GB" sz="2000" dirty="0" smtClean="0"/>
              <a:t>In NRSI, we take a group who were treated one way and compare them to a group who were treated a different way</a:t>
            </a:r>
            <a:endParaRPr lang="en-GB" sz="2000" dirty="0"/>
          </a:p>
        </p:txBody>
      </p:sp>
      <p:sp>
        <p:nvSpPr>
          <p:cNvPr id="49" name="TextBox 48"/>
          <p:cNvSpPr txBox="1"/>
          <p:nvPr/>
        </p:nvSpPr>
        <p:spPr>
          <a:xfrm>
            <a:off x="2715849" y="1491402"/>
            <a:ext cx="1791384" cy="523220"/>
          </a:xfrm>
          <a:prstGeom prst="rect">
            <a:avLst/>
          </a:prstGeom>
          <a:noFill/>
        </p:spPr>
        <p:txBody>
          <a:bodyPr wrap="square" rtlCol="0">
            <a:spAutoFit/>
          </a:bodyPr>
          <a:lstStyle/>
          <a:p>
            <a:pPr algn="ctr"/>
            <a:r>
              <a:rPr lang="en-GB" sz="2800" dirty="0" smtClean="0"/>
              <a:t>Group A</a:t>
            </a:r>
            <a:endParaRPr lang="en-GB" sz="2800" dirty="0"/>
          </a:p>
        </p:txBody>
      </p:sp>
      <p:sp>
        <p:nvSpPr>
          <p:cNvPr id="50" name="Rectangle 49"/>
          <p:cNvSpPr/>
          <p:nvPr/>
        </p:nvSpPr>
        <p:spPr>
          <a:xfrm>
            <a:off x="7816846" y="1495318"/>
            <a:ext cx="1443730" cy="523220"/>
          </a:xfrm>
          <a:prstGeom prst="rect">
            <a:avLst/>
          </a:prstGeom>
        </p:spPr>
        <p:txBody>
          <a:bodyPr wrap="none">
            <a:spAutoFit/>
          </a:bodyPr>
          <a:lstStyle/>
          <a:p>
            <a:pPr algn="ctr"/>
            <a:r>
              <a:rPr lang="en-GB" sz="2800" dirty="0"/>
              <a:t>Group </a:t>
            </a:r>
            <a:r>
              <a:rPr lang="en-GB" sz="2800" dirty="0" smtClean="0"/>
              <a:t>B</a:t>
            </a:r>
            <a:endParaRPr lang="en-GB" sz="2800" dirty="0"/>
          </a:p>
        </p:txBody>
      </p:sp>
      <p:grpSp>
        <p:nvGrpSpPr>
          <p:cNvPr id="60" name="Group 59"/>
          <p:cNvGrpSpPr/>
          <p:nvPr/>
        </p:nvGrpSpPr>
        <p:grpSpPr>
          <a:xfrm>
            <a:off x="0" y="1417956"/>
            <a:ext cx="2386864" cy="2757880"/>
            <a:chOff x="0" y="1417956"/>
            <a:chExt cx="2386864" cy="2757880"/>
          </a:xfrm>
        </p:grpSpPr>
        <p:sp>
          <p:nvSpPr>
            <p:cNvPr id="52" name="Rectangle 51"/>
            <p:cNvSpPr/>
            <p:nvPr/>
          </p:nvSpPr>
          <p:spPr>
            <a:xfrm>
              <a:off x="0" y="2498554"/>
              <a:ext cx="2282997" cy="369332"/>
            </a:xfrm>
            <a:prstGeom prst="rect">
              <a:avLst/>
            </a:prstGeom>
          </p:spPr>
          <p:txBody>
            <a:bodyPr wrap="none">
              <a:spAutoFit/>
            </a:bodyPr>
            <a:lstStyle/>
            <a:p>
              <a:r>
                <a:rPr lang="en-GB" dirty="0">
                  <a:solidFill>
                    <a:srgbClr val="00B0F0"/>
                  </a:solidFill>
                </a:rPr>
                <a:t>social economic status</a:t>
              </a:r>
            </a:p>
          </p:txBody>
        </p:sp>
        <p:grpSp>
          <p:nvGrpSpPr>
            <p:cNvPr id="59" name="Group 58"/>
            <p:cNvGrpSpPr/>
            <p:nvPr/>
          </p:nvGrpSpPr>
          <p:grpSpPr>
            <a:xfrm>
              <a:off x="157001" y="1417956"/>
              <a:ext cx="2229863" cy="2757880"/>
              <a:chOff x="218692" y="1313328"/>
              <a:chExt cx="2229863" cy="2757880"/>
            </a:xfrm>
          </p:grpSpPr>
          <p:grpSp>
            <p:nvGrpSpPr>
              <p:cNvPr id="58" name="Group 57"/>
              <p:cNvGrpSpPr/>
              <p:nvPr/>
            </p:nvGrpSpPr>
            <p:grpSpPr>
              <a:xfrm>
                <a:off x="218692" y="1858406"/>
                <a:ext cx="2229863" cy="2212802"/>
                <a:chOff x="218692" y="1858406"/>
                <a:chExt cx="2229863" cy="2212802"/>
              </a:xfrm>
            </p:grpSpPr>
            <p:sp>
              <p:nvSpPr>
                <p:cNvPr id="2" name="Rectangle 1"/>
                <p:cNvSpPr/>
                <p:nvPr/>
              </p:nvSpPr>
              <p:spPr>
                <a:xfrm>
                  <a:off x="218692" y="1858406"/>
                  <a:ext cx="2126672" cy="369332"/>
                </a:xfrm>
                <a:prstGeom prst="rect">
                  <a:avLst/>
                </a:prstGeom>
              </p:spPr>
              <p:txBody>
                <a:bodyPr wrap="none">
                  <a:spAutoFit/>
                </a:bodyPr>
                <a:lstStyle/>
                <a:p>
                  <a:r>
                    <a:rPr lang="en-GB" dirty="0"/>
                    <a:t>duration of infertility</a:t>
                  </a:r>
                </a:p>
              </p:txBody>
            </p:sp>
            <p:sp>
              <p:nvSpPr>
                <p:cNvPr id="3" name="Rectangle 2"/>
                <p:cNvSpPr/>
                <p:nvPr/>
              </p:nvSpPr>
              <p:spPr>
                <a:xfrm>
                  <a:off x="1887022" y="2752464"/>
                  <a:ext cx="551754" cy="369332"/>
                </a:xfrm>
                <a:prstGeom prst="rect">
                  <a:avLst/>
                </a:prstGeom>
              </p:spPr>
              <p:txBody>
                <a:bodyPr wrap="none">
                  <a:spAutoFit/>
                </a:bodyPr>
                <a:lstStyle/>
                <a:p>
                  <a:r>
                    <a:rPr lang="en-GB" dirty="0" smtClean="0"/>
                    <a:t>BMI</a:t>
                  </a:r>
                  <a:endParaRPr lang="en-GB" dirty="0"/>
                </a:p>
              </p:txBody>
            </p:sp>
            <p:sp>
              <p:nvSpPr>
                <p:cNvPr id="51" name="Rectangle 50"/>
                <p:cNvSpPr/>
                <p:nvPr/>
              </p:nvSpPr>
              <p:spPr>
                <a:xfrm>
                  <a:off x="1074550" y="3222115"/>
                  <a:ext cx="663964" cy="523220"/>
                </a:xfrm>
                <a:prstGeom prst="rect">
                  <a:avLst/>
                </a:prstGeom>
              </p:spPr>
              <p:txBody>
                <a:bodyPr wrap="none">
                  <a:spAutoFit/>
                </a:bodyPr>
                <a:lstStyle/>
                <a:p>
                  <a:r>
                    <a:rPr lang="en-GB" sz="2800" dirty="0"/>
                    <a:t>age</a:t>
                  </a:r>
                </a:p>
              </p:txBody>
            </p:sp>
            <p:sp>
              <p:nvSpPr>
                <p:cNvPr id="53" name="Rectangle 52"/>
                <p:cNvSpPr/>
                <p:nvPr/>
              </p:nvSpPr>
              <p:spPr>
                <a:xfrm>
                  <a:off x="234253" y="3701876"/>
                  <a:ext cx="1460849" cy="369332"/>
                </a:xfrm>
                <a:prstGeom prst="rect">
                  <a:avLst/>
                </a:prstGeom>
              </p:spPr>
              <p:txBody>
                <a:bodyPr wrap="none">
                  <a:spAutoFit/>
                </a:bodyPr>
                <a:lstStyle/>
                <a:p>
                  <a:r>
                    <a:rPr lang="en-GB" dirty="0">
                      <a:solidFill>
                        <a:srgbClr val="FF0000"/>
                      </a:solidFill>
                    </a:rPr>
                    <a:t>culture media</a:t>
                  </a:r>
                </a:p>
              </p:txBody>
            </p:sp>
            <p:sp>
              <p:nvSpPr>
                <p:cNvPr id="54" name="Rectangle 53"/>
                <p:cNvSpPr/>
                <p:nvPr/>
              </p:nvSpPr>
              <p:spPr>
                <a:xfrm>
                  <a:off x="2175723" y="2259424"/>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sp>
              <p:nvSpPr>
                <p:cNvPr id="55" name="Rectangle 54"/>
                <p:cNvSpPr/>
                <p:nvPr/>
              </p:nvSpPr>
              <p:spPr>
                <a:xfrm>
                  <a:off x="588247" y="2989944"/>
                  <a:ext cx="399468" cy="769441"/>
                </a:xfrm>
                <a:prstGeom prst="rect">
                  <a:avLst/>
                </a:prstGeom>
              </p:spPr>
              <p:txBody>
                <a:bodyPr wrap="none">
                  <a:spAutoFit/>
                </a:bodyPr>
                <a:lstStyle/>
                <a:p>
                  <a:r>
                    <a:rPr lang="en-GB" sz="4400" dirty="0">
                      <a:solidFill>
                        <a:schemeClr val="accent1">
                          <a:lumMod val="60000"/>
                          <a:lumOff val="40000"/>
                        </a:schemeClr>
                      </a:solidFill>
                      <a:latin typeface="Agency FB" panose="020B0503020202020204" pitchFamily="34" charset="0"/>
                    </a:rPr>
                    <a:t>?</a:t>
                  </a:r>
                </a:p>
              </p:txBody>
            </p:sp>
            <p:sp>
              <p:nvSpPr>
                <p:cNvPr id="56" name="Rectangle 55"/>
                <p:cNvSpPr/>
                <p:nvPr/>
              </p:nvSpPr>
              <p:spPr>
                <a:xfrm>
                  <a:off x="2072532" y="3270775"/>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grpSp>
          <p:sp>
            <p:nvSpPr>
              <p:cNvPr id="57" name="Rectangle 56"/>
              <p:cNvSpPr/>
              <p:nvPr/>
            </p:nvSpPr>
            <p:spPr>
              <a:xfrm>
                <a:off x="843348" y="1313328"/>
                <a:ext cx="420308" cy="830997"/>
              </a:xfrm>
              <a:prstGeom prst="rect">
                <a:avLst/>
              </a:prstGeom>
            </p:spPr>
            <p:txBody>
              <a:bodyPr wrap="none">
                <a:spAutoFit/>
              </a:bodyPr>
              <a:lstStyle/>
              <a:p>
                <a:r>
                  <a:rPr lang="en-GB" sz="4800" dirty="0">
                    <a:solidFill>
                      <a:schemeClr val="accent1">
                        <a:lumMod val="60000"/>
                        <a:lumOff val="40000"/>
                      </a:schemeClr>
                    </a:solidFill>
                    <a:latin typeface="Agency FB" panose="020B0503020202020204" pitchFamily="34" charset="0"/>
                  </a:rPr>
                  <a:t>?</a:t>
                </a:r>
              </a:p>
            </p:txBody>
          </p:sp>
        </p:grpSp>
      </p:grpSp>
      <p:grpSp>
        <p:nvGrpSpPr>
          <p:cNvPr id="61" name="Group 60"/>
          <p:cNvGrpSpPr/>
          <p:nvPr/>
        </p:nvGrpSpPr>
        <p:grpSpPr>
          <a:xfrm>
            <a:off x="9549421" y="1388193"/>
            <a:ext cx="2386864" cy="2757880"/>
            <a:chOff x="0" y="1417956"/>
            <a:chExt cx="2386864" cy="2757880"/>
          </a:xfrm>
        </p:grpSpPr>
        <p:sp>
          <p:nvSpPr>
            <p:cNvPr id="62" name="Rectangle 61"/>
            <p:cNvSpPr/>
            <p:nvPr/>
          </p:nvSpPr>
          <p:spPr>
            <a:xfrm>
              <a:off x="0" y="2498554"/>
              <a:ext cx="2282997" cy="369332"/>
            </a:xfrm>
            <a:prstGeom prst="rect">
              <a:avLst/>
            </a:prstGeom>
          </p:spPr>
          <p:txBody>
            <a:bodyPr wrap="none">
              <a:spAutoFit/>
            </a:bodyPr>
            <a:lstStyle/>
            <a:p>
              <a:r>
                <a:rPr lang="en-GB" dirty="0">
                  <a:solidFill>
                    <a:srgbClr val="00B0F0"/>
                  </a:solidFill>
                </a:rPr>
                <a:t>social economic status</a:t>
              </a:r>
            </a:p>
          </p:txBody>
        </p:sp>
        <p:grpSp>
          <p:nvGrpSpPr>
            <p:cNvPr id="63" name="Group 62"/>
            <p:cNvGrpSpPr/>
            <p:nvPr/>
          </p:nvGrpSpPr>
          <p:grpSpPr>
            <a:xfrm>
              <a:off x="157001" y="1417956"/>
              <a:ext cx="2229863" cy="2757880"/>
              <a:chOff x="218692" y="1313328"/>
              <a:chExt cx="2229863" cy="2757880"/>
            </a:xfrm>
          </p:grpSpPr>
          <p:grpSp>
            <p:nvGrpSpPr>
              <p:cNvPr id="64" name="Group 63"/>
              <p:cNvGrpSpPr/>
              <p:nvPr/>
            </p:nvGrpSpPr>
            <p:grpSpPr>
              <a:xfrm>
                <a:off x="218692" y="1858406"/>
                <a:ext cx="2229863" cy="2212802"/>
                <a:chOff x="218692" y="1858406"/>
                <a:chExt cx="2229863" cy="2212802"/>
              </a:xfrm>
            </p:grpSpPr>
            <p:sp>
              <p:nvSpPr>
                <p:cNvPr id="66" name="Rectangle 65"/>
                <p:cNvSpPr/>
                <p:nvPr/>
              </p:nvSpPr>
              <p:spPr>
                <a:xfrm>
                  <a:off x="218692" y="1858406"/>
                  <a:ext cx="2126672" cy="369332"/>
                </a:xfrm>
                <a:prstGeom prst="rect">
                  <a:avLst/>
                </a:prstGeom>
              </p:spPr>
              <p:txBody>
                <a:bodyPr wrap="none">
                  <a:spAutoFit/>
                </a:bodyPr>
                <a:lstStyle/>
                <a:p>
                  <a:r>
                    <a:rPr lang="en-GB" dirty="0"/>
                    <a:t>duration of infertility</a:t>
                  </a:r>
                </a:p>
              </p:txBody>
            </p:sp>
            <p:sp>
              <p:nvSpPr>
                <p:cNvPr id="67" name="Rectangle 66"/>
                <p:cNvSpPr/>
                <p:nvPr/>
              </p:nvSpPr>
              <p:spPr>
                <a:xfrm>
                  <a:off x="1887022" y="2752464"/>
                  <a:ext cx="551754" cy="369332"/>
                </a:xfrm>
                <a:prstGeom prst="rect">
                  <a:avLst/>
                </a:prstGeom>
              </p:spPr>
              <p:txBody>
                <a:bodyPr wrap="none">
                  <a:spAutoFit/>
                </a:bodyPr>
                <a:lstStyle/>
                <a:p>
                  <a:r>
                    <a:rPr lang="en-GB" dirty="0" smtClean="0"/>
                    <a:t>BMI</a:t>
                  </a:r>
                  <a:endParaRPr lang="en-GB" dirty="0"/>
                </a:p>
              </p:txBody>
            </p:sp>
            <p:sp>
              <p:nvSpPr>
                <p:cNvPr id="68" name="Rectangle 67"/>
                <p:cNvSpPr/>
                <p:nvPr/>
              </p:nvSpPr>
              <p:spPr>
                <a:xfrm>
                  <a:off x="1074550" y="3222115"/>
                  <a:ext cx="663964" cy="523220"/>
                </a:xfrm>
                <a:prstGeom prst="rect">
                  <a:avLst/>
                </a:prstGeom>
              </p:spPr>
              <p:txBody>
                <a:bodyPr wrap="none">
                  <a:spAutoFit/>
                </a:bodyPr>
                <a:lstStyle/>
                <a:p>
                  <a:r>
                    <a:rPr lang="en-GB" sz="2800" dirty="0"/>
                    <a:t>age</a:t>
                  </a:r>
                </a:p>
              </p:txBody>
            </p:sp>
            <p:sp>
              <p:nvSpPr>
                <p:cNvPr id="69" name="Rectangle 68"/>
                <p:cNvSpPr/>
                <p:nvPr/>
              </p:nvSpPr>
              <p:spPr>
                <a:xfrm>
                  <a:off x="234253" y="3701876"/>
                  <a:ext cx="1460849" cy="369332"/>
                </a:xfrm>
                <a:prstGeom prst="rect">
                  <a:avLst/>
                </a:prstGeom>
              </p:spPr>
              <p:txBody>
                <a:bodyPr wrap="none">
                  <a:spAutoFit/>
                </a:bodyPr>
                <a:lstStyle/>
                <a:p>
                  <a:r>
                    <a:rPr lang="en-GB" dirty="0">
                      <a:solidFill>
                        <a:srgbClr val="FF0000"/>
                      </a:solidFill>
                    </a:rPr>
                    <a:t>culture media</a:t>
                  </a:r>
                </a:p>
              </p:txBody>
            </p:sp>
            <p:sp>
              <p:nvSpPr>
                <p:cNvPr id="70" name="Rectangle 69"/>
                <p:cNvSpPr/>
                <p:nvPr/>
              </p:nvSpPr>
              <p:spPr>
                <a:xfrm>
                  <a:off x="2175723" y="2259424"/>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sp>
              <p:nvSpPr>
                <p:cNvPr id="71" name="Rectangle 70"/>
                <p:cNvSpPr/>
                <p:nvPr/>
              </p:nvSpPr>
              <p:spPr>
                <a:xfrm>
                  <a:off x="588247" y="2989944"/>
                  <a:ext cx="399468" cy="769441"/>
                </a:xfrm>
                <a:prstGeom prst="rect">
                  <a:avLst/>
                </a:prstGeom>
              </p:spPr>
              <p:txBody>
                <a:bodyPr wrap="none">
                  <a:spAutoFit/>
                </a:bodyPr>
                <a:lstStyle/>
                <a:p>
                  <a:r>
                    <a:rPr lang="en-GB" sz="4400" dirty="0">
                      <a:solidFill>
                        <a:schemeClr val="accent1">
                          <a:lumMod val="60000"/>
                          <a:lumOff val="40000"/>
                        </a:schemeClr>
                      </a:solidFill>
                      <a:latin typeface="Agency FB" panose="020B0503020202020204" pitchFamily="34" charset="0"/>
                    </a:rPr>
                    <a:t>?</a:t>
                  </a:r>
                </a:p>
              </p:txBody>
            </p:sp>
            <p:sp>
              <p:nvSpPr>
                <p:cNvPr id="72" name="Rectangle 71"/>
                <p:cNvSpPr/>
                <p:nvPr/>
              </p:nvSpPr>
              <p:spPr>
                <a:xfrm>
                  <a:off x="2072532" y="3270775"/>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grpSp>
          <p:sp>
            <p:nvSpPr>
              <p:cNvPr id="65" name="Rectangle 64"/>
              <p:cNvSpPr/>
              <p:nvPr/>
            </p:nvSpPr>
            <p:spPr>
              <a:xfrm>
                <a:off x="843348" y="1313328"/>
                <a:ext cx="420308" cy="830997"/>
              </a:xfrm>
              <a:prstGeom prst="rect">
                <a:avLst/>
              </a:prstGeom>
            </p:spPr>
            <p:txBody>
              <a:bodyPr wrap="none">
                <a:spAutoFit/>
              </a:bodyPr>
              <a:lstStyle/>
              <a:p>
                <a:r>
                  <a:rPr lang="en-GB" sz="4800" dirty="0">
                    <a:solidFill>
                      <a:schemeClr val="accent1">
                        <a:lumMod val="60000"/>
                        <a:lumOff val="40000"/>
                      </a:schemeClr>
                    </a:solidFill>
                    <a:latin typeface="Agency FB" panose="020B0503020202020204" pitchFamily="34" charset="0"/>
                  </a:rPr>
                  <a:t>?</a:t>
                </a:r>
              </a:p>
            </p:txBody>
          </p:sp>
        </p:grpSp>
      </p:grpSp>
      <p:sp>
        <p:nvSpPr>
          <p:cNvPr id="81" name="Down Arrow 80"/>
          <p:cNvSpPr/>
          <p:nvPr/>
        </p:nvSpPr>
        <p:spPr>
          <a:xfrm>
            <a:off x="3402417" y="4520959"/>
            <a:ext cx="317941" cy="554182"/>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Down Arrow 81"/>
          <p:cNvSpPr/>
          <p:nvPr/>
        </p:nvSpPr>
        <p:spPr>
          <a:xfrm>
            <a:off x="8236034" y="4490537"/>
            <a:ext cx="317941" cy="554182"/>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Oval 4"/>
          <p:cNvSpPr/>
          <p:nvPr/>
        </p:nvSpPr>
        <p:spPr>
          <a:xfrm>
            <a:off x="3561388" y="5410552"/>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Oval 83"/>
          <p:cNvSpPr/>
          <p:nvPr/>
        </p:nvSpPr>
        <p:spPr>
          <a:xfrm>
            <a:off x="3633396"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Oval 84"/>
          <p:cNvSpPr/>
          <p:nvPr/>
        </p:nvSpPr>
        <p:spPr>
          <a:xfrm>
            <a:off x="3012653"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Oval 4"/>
          <p:cNvSpPr/>
          <p:nvPr/>
        </p:nvSpPr>
        <p:spPr>
          <a:xfrm>
            <a:off x="2950250" y="5410551"/>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9" name="Group 88"/>
          <p:cNvGrpSpPr/>
          <p:nvPr/>
        </p:nvGrpSpPr>
        <p:grpSpPr>
          <a:xfrm>
            <a:off x="4147524" y="5122520"/>
            <a:ext cx="431428" cy="578897"/>
            <a:chOff x="4147524" y="5122520"/>
            <a:chExt cx="431428" cy="578897"/>
          </a:xfrm>
        </p:grpSpPr>
        <p:sp>
          <p:nvSpPr>
            <p:cNvPr id="87"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Oval 87"/>
            <p:cNvSpPr/>
            <p:nvPr/>
          </p:nvSpPr>
          <p:spPr>
            <a:xfrm>
              <a:off x="4219821"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0" name="Group 89"/>
          <p:cNvGrpSpPr/>
          <p:nvPr/>
        </p:nvGrpSpPr>
        <p:grpSpPr>
          <a:xfrm>
            <a:off x="4347483" y="5454891"/>
            <a:ext cx="272076" cy="376882"/>
            <a:chOff x="4147524" y="5122520"/>
            <a:chExt cx="431428" cy="578897"/>
          </a:xfrm>
          <a:solidFill>
            <a:schemeClr val="bg1">
              <a:lumMod val="95000"/>
            </a:schemeClr>
          </a:solidFill>
        </p:grpSpPr>
        <p:sp>
          <p:nvSpPr>
            <p:cNvPr id="91"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Oval 91"/>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3" name="Group 92"/>
          <p:cNvGrpSpPr/>
          <p:nvPr/>
        </p:nvGrpSpPr>
        <p:grpSpPr>
          <a:xfrm>
            <a:off x="3731422" y="5455814"/>
            <a:ext cx="272076" cy="376882"/>
            <a:chOff x="4147524" y="5122520"/>
            <a:chExt cx="431428" cy="578897"/>
          </a:xfrm>
          <a:solidFill>
            <a:schemeClr val="bg1">
              <a:lumMod val="95000"/>
            </a:schemeClr>
          </a:solidFill>
        </p:grpSpPr>
        <p:sp>
          <p:nvSpPr>
            <p:cNvPr id="94"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Oval 94"/>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6" name="Group 95"/>
          <p:cNvGrpSpPr/>
          <p:nvPr/>
        </p:nvGrpSpPr>
        <p:grpSpPr>
          <a:xfrm>
            <a:off x="3115361" y="5455814"/>
            <a:ext cx="272076" cy="376882"/>
            <a:chOff x="4147524" y="5122520"/>
            <a:chExt cx="431428" cy="578897"/>
          </a:xfrm>
          <a:solidFill>
            <a:schemeClr val="bg1">
              <a:lumMod val="95000"/>
            </a:schemeClr>
          </a:solidFill>
        </p:grpSpPr>
        <p:sp>
          <p:nvSpPr>
            <p:cNvPr id="97"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Oval 97"/>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9" name="Group 98"/>
          <p:cNvGrpSpPr/>
          <p:nvPr/>
        </p:nvGrpSpPr>
        <p:grpSpPr>
          <a:xfrm>
            <a:off x="8204468" y="5121101"/>
            <a:ext cx="431428" cy="578897"/>
            <a:chOff x="4147524" y="5122520"/>
            <a:chExt cx="431428" cy="578897"/>
          </a:xfrm>
        </p:grpSpPr>
        <p:sp>
          <p:nvSpPr>
            <p:cNvPr id="100"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Oval 100"/>
            <p:cNvSpPr/>
            <p:nvPr/>
          </p:nvSpPr>
          <p:spPr>
            <a:xfrm>
              <a:off x="4219821"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2" name="Group 101"/>
          <p:cNvGrpSpPr/>
          <p:nvPr/>
        </p:nvGrpSpPr>
        <p:grpSpPr>
          <a:xfrm>
            <a:off x="8395004" y="5419107"/>
            <a:ext cx="272076" cy="376882"/>
            <a:chOff x="4147524" y="5122520"/>
            <a:chExt cx="431428" cy="578897"/>
          </a:xfrm>
          <a:solidFill>
            <a:schemeClr val="bg1">
              <a:lumMod val="95000"/>
            </a:schemeClr>
          </a:solidFill>
        </p:grpSpPr>
        <p:sp>
          <p:nvSpPr>
            <p:cNvPr id="103"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Oval 103"/>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75" name="Straight Connector 74"/>
          <p:cNvCxnSpPr/>
          <p:nvPr/>
        </p:nvCxnSpPr>
        <p:spPr>
          <a:xfrm flipH="1">
            <a:off x="9721983" y="3978589"/>
            <a:ext cx="146084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0618022" y="3618352"/>
            <a:ext cx="498704" cy="1832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a:xfrm flipH="1">
            <a:off x="11388199" y="3004311"/>
            <a:ext cx="49870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9641497" y="2671086"/>
            <a:ext cx="2145082" cy="1832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flipH="1" flipV="1">
            <a:off x="9833321" y="2142918"/>
            <a:ext cx="1863357" cy="478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flipH="1">
            <a:off x="307986" y="4019898"/>
            <a:ext cx="122900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flipH="1" flipV="1">
            <a:off x="1126325" y="3636569"/>
            <a:ext cx="500560" cy="139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a:xfrm flipH="1" flipV="1">
            <a:off x="1825331" y="3041758"/>
            <a:ext cx="577708" cy="177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a:xfrm flipH="1">
            <a:off x="133621" y="2690166"/>
            <a:ext cx="2075867" cy="1345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a:endCxn id="2" idx="1"/>
          </p:cNvCxnSpPr>
          <p:nvPr/>
        </p:nvCxnSpPr>
        <p:spPr>
          <a:xfrm flipH="1">
            <a:off x="157001" y="2116302"/>
            <a:ext cx="1968588" cy="313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128297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13535" y="1871426"/>
            <a:ext cx="9591410" cy="6201156"/>
          </a:xfrm>
        </p:spPr>
        <p:txBody>
          <a:bodyPr>
            <a:normAutofit/>
          </a:bodyPr>
          <a:lstStyle/>
          <a:p>
            <a:r>
              <a:rPr lang="en-GB" dirty="0"/>
              <a:t>S</a:t>
            </a:r>
            <a:r>
              <a:rPr lang="en-GB" dirty="0" smtClean="0"/>
              <a:t>o how much unmeasured stuff is there? In any individual study, </a:t>
            </a:r>
            <a:r>
              <a:rPr lang="en-GB" b="1" dirty="0" smtClean="0"/>
              <a:t>we cannot know</a:t>
            </a:r>
          </a:p>
          <a:p>
            <a:pPr marL="0" indent="0">
              <a:buNone/>
            </a:pPr>
            <a:endParaRPr lang="en-GB" dirty="0" smtClean="0"/>
          </a:p>
          <a:p>
            <a:r>
              <a:rPr lang="en-GB" dirty="0"/>
              <a:t>Analyses of </a:t>
            </a:r>
            <a:r>
              <a:rPr lang="en-GB" dirty="0" smtClean="0"/>
              <a:t>non-randomised </a:t>
            </a:r>
            <a:r>
              <a:rPr lang="en-GB" dirty="0"/>
              <a:t>studies </a:t>
            </a:r>
            <a:r>
              <a:rPr lang="en-GB" dirty="0" smtClean="0"/>
              <a:t>assume </a:t>
            </a:r>
            <a:r>
              <a:rPr lang="en-GB" b="1" dirty="0" smtClean="0"/>
              <a:t>no unmeasured confounding.</a:t>
            </a:r>
          </a:p>
          <a:p>
            <a:endParaRPr lang="en-GB" b="1" dirty="0"/>
          </a:p>
          <a:p>
            <a:r>
              <a:rPr lang="en-GB" b="1" dirty="0"/>
              <a:t>Unrealistic</a:t>
            </a:r>
            <a:r>
              <a:rPr lang="en-GB" dirty="0"/>
              <a:t> to suppose we have measurements of everything, let alone good </a:t>
            </a:r>
            <a:r>
              <a:rPr lang="en-GB" dirty="0" smtClean="0"/>
              <a:t>measurements (biology is really complex).</a:t>
            </a:r>
            <a:endParaRPr lang="en-GB" dirty="0"/>
          </a:p>
          <a:p>
            <a:pPr marL="0" indent="0">
              <a:buNone/>
            </a:pPr>
            <a:r>
              <a:rPr lang="en-GB" dirty="0"/>
              <a:t> </a:t>
            </a:r>
          </a:p>
          <a:p>
            <a:r>
              <a:rPr lang="en-GB" dirty="0"/>
              <a:t>As such, we are usually left uncertain whether an observed difference between groups in an observational study is due to the treatment or due to unmeasured confounding.</a:t>
            </a:r>
          </a:p>
          <a:p>
            <a:endParaRPr lang="en-GB" i="1" dirty="0"/>
          </a:p>
          <a:p>
            <a:pPr marL="0" indent="0">
              <a:buNone/>
            </a:pPr>
            <a:endParaRPr lang="en-GB" i="1" dirty="0" smtClean="0"/>
          </a:p>
          <a:p>
            <a:endParaRPr lang="en-GB" dirty="0"/>
          </a:p>
          <a:p>
            <a:endParaRPr lang="en-GB" dirty="0"/>
          </a:p>
        </p:txBody>
      </p:sp>
      <p:sp>
        <p:nvSpPr>
          <p:cNvPr id="4" name="TextBox 3"/>
          <p:cNvSpPr txBox="1"/>
          <p:nvPr/>
        </p:nvSpPr>
        <p:spPr>
          <a:xfrm>
            <a:off x="1312451" y="288459"/>
            <a:ext cx="8950037" cy="646331"/>
          </a:xfrm>
          <a:prstGeom prst="rect">
            <a:avLst/>
          </a:prstGeom>
          <a:noFill/>
        </p:spPr>
        <p:txBody>
          <a:bodyPr wrap="square" rtlCol="0">
            <a:spAutoFit/>
          </a:bodyPr>
          <a:lstStyle/>
          <a:p>
            <a:r>
              <a:rPr lang="en-GB" sz="3600" dirty="0" smtClean="0"/>
              <a:t>Unmeasured Confounding</a:t>
            </a:r>
            <a:endParaRPr lang="en-GB" sz="3600" dirty="0"/>
          </a:p>
        </p:txBody>
      </p:sp>
    </p:spTree>
    <p:extLst>
      <p:ext uri="{BB962C8B-B14F-4D97-AF65-F5344CB8AC3E}">
        <p14:creationId xmlns:p14="http://schemas.microsoft.com/office/powerpoint/2010/main" val="371169890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7645" y="2014588"/>
            <a:ext cx="9609882" cy="4843412"/>
          </a:xfrm>
        </p:spPr>
        <p:txBody>
          <a:bodyPr>
            <a:normAutofit/>
          </a:bodyPr>
          <a:lstStyle/>
          <a:p>
            <a:r>
              <a:rPr lang="en-GB" dirty="0"/>
              <a:t>In practice, people adjust for a relatively modest number of </a:t>
            </a:r>
            <a:r>
              <a:rPr lang="en-GB" dirty="0" smtClean="0"/>
              <a:t>variables</a:t>
            </a:r>
          </a:p>
          <a:p>
            <a:pPr marL="0" indent="0">
              <a:buNone/>
            </a:pPr>
            <a:endParaRPr lang="en-GB" dirty="0" smtClean="0"/>
          </a:p>
          <a:p>
            <a:pPr marL="0" indent="0">
              <a:buNone/>
            </a:pPr>
            <a:endParaRPr lang="en-GB" dirty="0"/>
          </a:p>
          <a:p>
            <a:r>
              <a:rPr lang="en-GB" dirty="0"/>
              <a:t>Complexity of </a:t>
            </a:r>
            <a:r>
              <a:rPr lang="en-GB" dirty="0" smtClean="0"/>
              <a:t>the statistical method </a:t>
            </a:r>
            <a:r>
              <a:rPr lang="en-GB" b="1" dirty="0" smtClean="0"/>
              <a:t>does </a:t>
            </a:r>
            <a:r>
              <a:rPr lang="en-GB" b="1" dirty="0"/>
              <a:t>not change </a:t>
            </a:r>
            <a:r>
              <a:rPr lang="en-GB" dirty="0"/>
              <a:t>this – can only include measured variables.</a:t>
            </a:r>
          </a:p>
          <a:p>
            <a:pPr marL="0" indent="0">
              <a:buNone/>
            </a:pPr>
            <a:endParaRPr lang="en-GB" dirty="0" smtClean="0"/>
          </a:p>
          <a:p>
            <a:pPr marL="0" indent="0">
              <a:buNone/>
            </a:pPr>
            <a:endParaRPr lang="en-GB" dirty="0" smtClean="0"/>
          </a:p>
          <a:p>
            <a:pPr marL="0" indent="0">
              <a:buNone/>
            </a:pPr>
            <a:endParaRPr lang="en-GB" dirty="0"/>
          </a:p>
          <a:p>
            <a:r>
              <a:rPr lang="en-GB" b="1" dirty="0"/>
              <a:t>Size of the dataset does not ameliorate this problem in any way</a:t>
            </a:r>
            <a:r>
              <a:rPr lang="en-GB" b="1" dirty="0" smtClean="0"/>
              <a:t>.</a:t>
            </a:r>
          </a:p>
          <a:p>
            <a:pPr marL="0" indent="0">
              <a:buNone/>
            </a:pPr>
            <a:endParaRPr lang="en-GB" b="1" dirty="0" smtClean="0"/>
          </a:p>
          <a:p>
            <a:endParaRPr lang="en-GB" dirty="0"/>
          </a:p>
        </p:txBody>
      </p:sp>
      <p:sp>
        <p:nvSpPr>
          <p:cNvPr id="5" name="Rectangle 4"/>
          <p:cNvSpPr/>
          <p:nvPr/>
        </p:nvSpPr>
        <p:spPr>
          <a:xfrm>
            <a:off x="1898253" y="325642"/>
            <a:ext cx="5746188" cy="646331"/>
          </a:xfrm>
          <a:prstGeom prst="rect">
            <a:avLst/>
          </a:prstGeom>
        </p:spPr>
        <p:txBody>
          <a:bodyPr wrap="none">
            <a:spAutoFit/>
          </a:bodyPr>
          <a:lstStyle/>
          <a:p>
            <a:r>
              <a:rPr lang="en-GB" sz="3600" dirty="0"/>
              <a:t>Unmeasured </a:t>
            </a:r>
            <a:r>
              <a:rPr lang="en-GB" sz="3600" dirty="0" smtClean="0"/>
              <a:t>Confounding (2)</a:t>
            </a:r>
            <a:endParaRPr lang="en-GB" sz="3600" dirty="0"/>
          </a:p>
        </p:txBody>
      </p:sp>
    </p:spTree>
    <p:extLst>
      <p:ext uri="{BB962C8B-B14F-4D97-AF65-F5344CB8AC3E}">
        <p14:creationId xmlns:p14="http://schemas.microsoft.com/office/powerpoint/2010/main" val="179528133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p:cNvSpPr/>
          <p:nvPr/>
        </p:nvSpPr>
        <p:spPr>
          <a:xfrm>
            <a:off x="707535" y="1415493"/>
            <a:ext cx="10852727" cy="6858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Rectangle 79"/>
          <p:cNvSpPr/>
          <p:nvPr/>
        </p:nvSpPr>
        <p:spPr>
          <a:xfrm>
            <a:off x="9497791" y="1438613"/>
            <a:ext cx="2470302" cy="3063734"/>
          </a:xfrm>
          <a:prstGeom prst="rect">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Rectangle 78"/>
          <p:cNvSpPr/>
          <p:nvPr/>
        </p:nvSpPr>
        <p:spPr>
          <a:xfrm>
            <a:off x="41989" y="1388193"/>
            <a:ext cx="2470302" cy="3063734"/>
          </a:xfrm>
          <a:prstGeom prst="rect">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5" name="Group 24"/>
          <p:cNvGrpSpPr/>
          <p:nvPr/>
        </p:nvGrpSpPr>
        <p:grpSpPr>
          <a:xfrm>
            <a:off x="2818152" y="2176341"/>
            <a:ext cx="1584547" cy="2185734"/>
            <a:chOff x="1815829" y="1261360"/>
            <a:chExt cx="1584547" cy="2185734"/>
          </a:xfrm>
        </p:grpSpPr>
        <p:grpSp>
          <p:nvGrpSpPr>
            <p:cNvPr id="6" name="Group 5"/>
            <p:cNvGrpSpPr/>
            <p:nvPr/>
          </p:nvGrpSpPr>
          <p:grpSpPr>
            <a:xfrm>
              <a:off x="2393504" y="2009302"/>
              <a:ext cx="431428" cy="575117"/>
              <a:chOff x="2887410" y="414748"/>
              <a:chExt cx="431428" cy="575117"/>
            </a:xfrm>
          </p:grpSpPr>
          <p:sp>
            <p:nvSpPr>
              <p:cNvPr id="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 name="Group 6"/>
            <p:cNvGrpSpPr/>
            <p:nvPr/>
          </p:nvGrpSpPr>
          <p:grpSpPr>
            <a:xfrm>
              <a:off x="2968948" y="1718435"/>
              <a:ext cx="431428" cy="575117"/>
              <a:chOff x="2887410" y="414748"/>
              <a:chExt cx="431428" cy="575117"/>
            </a:xfrm>
          </p:grpSpPr>
          <p:sp>
            <p:nvSpPr>
              <p:cNvPr id="8"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 name="Group 9"/>
            <p:cNvGrpSpPr/>
            <p:nvPr/>
          </p:nvGrpSpPr>
          <p:grpSpPr>
            <a:xfrm>
              <a:off x="1890068" y="1737899"/>
              <a:ext cx="431428" cy="575117"/>
              <a:chOff x="2887410" y="414748"/>
              <a:chExt cx="431428" cy="575117"/>
            </a:xfrm>
          </p:grpSpPr>
          <p:sp>
            <p:nvSpPr>
              <p:cNvPr id="1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 name="Group 12"/>
            <p:cNvGrpSpPr/>
            <p:nvPr/>
          </p:nvGrpSpPr>
          <p:grpSpPr>
            <a:xfrm>
              <a:off x="2825242" y="2584419"/>
              <a:ext cx="431428" cy="575117"/>
              <a:chOff x="2887410" y="414748"/>
              <a:chExt cx="431428" cy="575117"/>
            </a:xfrm>
          </p:grpSpPr>
          <p:sp>
            <p:nvSpPr>
              <p:cNvPr id="1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6" name="Group 15"/>
            <p:cNvGrpSpPr/>
            <p:nvPr/>
          </p:nvGrpSpPr>
          <p:grpSpPr>
            <a:xfrm>
              <a:off x="2343351" y="2871977"/>
              <a:ext cx="431428" cy="575117"/>
              <a:chOff x="2887410" y="414748"/>
              <a:chExt cx="431428" cy="575117"/>
            </a:xfrm>
          </p:grpSpPr>
          <p:sp>
            <p:nvSpPr>
              <p:cNvPr id="1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 name="Group 18"/>
            <p:cNvGrpSpPr/>
            <p:nvPr/>
          </p:nvGrpSpPr>
          <p:grpSpPr>
            <a:xfrm>
              <a:off x="1815829" y="2440876"/>
              <a:ext cx="431428" cy="575117"/>
              <a:chOff x="2887410" y="414748"/>
              <a:chExt cx="431428" cy="575117"/>
            </a:xfrm>
          </p:grpSpPr>
          <p:sp>
            <p:nvSpPr>
              <p:cNvPr id="20"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 name="Group 21"/>
            <p:cNvGrpSpPr/>
            <p:nvPr/>
          </p:nvGrpSpPr>
          <p:grpSpPr>
            <a:xfrm>
              <a:off x="2434983" y="1261360"/>
              <a:ext cx="431428" cy="575117"/>
              <a:chOff x="2887410" y="414748"/>
              <a:chExt cx="431428" cy="575117"/>
            </a:xfrm>
          </p:grpSpPr>
          <p:sp>
            <p:nvSpPr>
              <p:cNvPr id="2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6" name="Group 25"/>
          <p:cNvGrpSpPr/>
          <p:nvPr/>
        </p:nvGrpSpPr>
        <p:grpSpPr>
          <a:xfrm>
            <a:off x="7560137" y="2083722"/>
            <a:ext cx="1584547" cy="2185734"/>
            <a:chOff x="1815829" y="1261360"/>
            <a:chExt cx="1584547" cy="2185734"/>
          </a:xfrm>
        </p:grpSpPr>
        <p:grpSp>
          <p:nvGrpSpPr>
            <p:cNvPr id="27" name="Group 26"/>
            <p:cNvGrpSpPr/>
            <p:nvPr/>
          </p:nvGrpSpPr>
          <p:grpSpPr>
            <a:xfrm>
              <a:off x="2393504" y="2009302"/>
              <a:ext cx="431428" cy="575117"/>
              <a:chOff x="2887410" y="414748"/>
              <a:chExt cx="431428" cy="575117"/>
            </a:xfrm>
          </p:grpSpPr>
          <p:sp>
            <p:nvSpPr>
              <p:cNvPr id="46"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Oval 46"/>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8" name="Group 27"/>
            <p:cNvGrpSpPr/>
            <p:nvPr/>
          </p:nvGrpSpPr>
          <p:grpSpPr>
            <a:xfrm>
              <a:off x="2968948" y="1718435"/>
              <a:ext cx="431428" cy="575117"/>
              <a:chOff x="2887410" y="414748"/>
              <a:chExt cx="431428" cy="575117"/>
            </a:xfrm>
          </p:grpSpPr>
          <p:sp>
            <p:nvSpPr>
              <p:cNvPr id="4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Oval 4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9" name="Group 28"/>
            <p:cNvGrpSpPr/>
            <p:nvPr/>
          </p:nvGrpSpPr>
          <p:grpSpPr>
            <a:xfrm>
              <a:off x="1890068" y="1737899"/>
              <a:ext cx="431428" cy="575117"/>
              <a:chOff x="2887410" y="414748"/>
              <a:chExt cx="431428" cy="575117"/>
            </a:xfrm>
          </p:grpSpPr>
          <p:sp>
            <p:nvSpPr>
              <p:cNvPr id="42"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Oval 42"/>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0" name="Group 29"/>
            <p:cNvGrpSpPr/>
            <p:nvPr/>
          </p:nvGrpSpPr>
          <p:grpSpPr>
            <a:xfrm>
              <a:off x="2825242" y="2584419"/>
              <a:ext cx="431428" cy="575117"/>
              <a:chOff x="2887410" y="414748"/>
              <a:chExt cx="431428" cy="575117"/>
            </a:xfrm>
          </p:grpSpPr>
          <p:sp>
            <p:nvSpPr>
              <p:cNvPr id="40"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Oval 40"/>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1" name="Group 30"/>
            <p:cNvGrpSpPr/>
            <p:nvPr/>
          </p:nvGrpSpPr>
          <p:grpSpPr>
            <a:xfrm>
              <a:off x="2343351" y="2871977"/>
              <a:ext cx="431428" cy="575117"/>
              <a:chOff x="2887410" y="414748"/>
              <a:chExt cx="431428" cy="575117"/>
            </a:xfrm>
          </p:grpSpPr>
          <p:sp>
            <p:nvSpPr>
              <p:cNvPr id="38"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Oval 38"/>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2" name="Group 31"/>
            <p:cNvGrpSpPr/>
            <p:nvPr/>
          </p:nvGrpSpPr>
          <p:grpSpPr>
            <a:xfrm>
              <a:off x="1815829" y="2440876"/>
              <a:ext cx="431428" cy="575117"/>
              <a:chOff x="2887410" y="414748"/>
              <a:chExt cx="431428" cy="575117"/>
            </a:xfrm>
          </p:grpSpPr>
          <p:sp>
            <p:nvSpPr>
              <p:cNvPr id="36"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Oval 36"/>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3" name="Group 32"/>
            <p:cNvGrpSpPr/>
            <p:nvPr/>
          </p:nvGrpSpPr>
          <p:grpSpPr>
            <a:xfrm>
              <a:off x="2434983" y="1261360"/>
              <a:ext cx="431428" cy="575117"/>
              <a:chOff x="2887410" y="414748"/>
              <a:chExt cx="431428" cy="575117"/>
            </a:xfrm>
          </p:grpSpPr>
          <p:sp>
            <p:nvSpPr>
              <p:cNvPr id="3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Oval 3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48" name="Rectangle 47"/>
          <p:cNvSpPr/>
          <p:nvPr/>
        </p:nvSpPr>
        <p:spPr>
          <a:xfrm>
            <a:off x="172562" y="395454"/>
            <a:ext cx="11707244" cy="584775"/>
          </a:xfrm>
          <a:prstGeom prst="rect">
            <a:avLst/>
          </a:prstGeom>
        </p:spPr>
        <p:txBody>
          <a:bodyPr wrap="square">
            <a:spAutoFit/>
          </a:bodyPr>
          <a:lstStyle/>
          <a:p>
            <a:r>
              <a:rPr lang="en-GB" sz="3200" dirty="0" smtClean="0"/>
              <a:t>Problem is comparing groups that systematically differ</a:t>
            </a:r>
            <a:endParaRPr lang="en-GB" sz="3200" dirty="0"/>
          </a:p>
        </p:txBody>
      </p:sp>
      <p:sp>
        <p:nvSpPr>
          <p:cNvPr id="49" name="TextBox 48"/>
          <p:cNvSpPr txBox="1"/>
          <p:nvPr/>
        </p:nvSpPr>
        <p:spPr>
          <a:xfrm>
            <a:off x="2715849" y="1491402"/>
            <a:ext cx="1791384" cy="523220"/>
          </a:xfrm>
          <a:prstGeom prst="rect">
            <a:avLst/>
          </a:prstGeom>
          <a:noFill/>
        </p:spPr>
        <p:txBody>
          <a:bodyPr wrap="square" rtlCol="0">
            <a:spAutoFit/>
          </a:bodyPr>
          <a:lstStyle/>
          <a:p>
            <a:pPr algn="ctr"/>
            <a:r>
              <a:rPr lang="en-GB" sz="2800" dirty="0" smtClean="0"/>
              <a:t>Group A</a:t>
            </a:r>
            <a:endParaRPr lang="en-GB" sz="2800" dirty="0"/>
          </a:p>
        </p:txBody>
      </p:sp>
      <p:sp>
        <p:nvSpPr>
          <p:cNvPr id="50" name="Rectangle 49"/>
          <p:cNvSpPr/>
          <p:nvPr/>
        </p:nvSpPr>
        <p:spPr>
          <a:xfrm>
            <a:off x="7816846" y="1495318"/>
            <a:ext cx="1443730" cy="523220"/>
          </a:xfrm>
          <a:prstGeom prst="rect">
            <a:avLst/>
          </a:prstGeom>
        </p:spPr>
        <p:txBody>
          <a:bodyPr wrap="none">
            <a:spAutoFit/>
          </a:bodyPr>
          <a:lstStyle/>
          <a:p>
            <a:pPr algn="ctr"/>
            <a:r>
              <a:rPr lang="en-GB" sz="2800" dirty="0"/>
              <a:t>Group </a:t>
            </a:r>
            <a:r>
              <a:rPr lang="en-GB" sz="2800" dirty="0" smtClean="0"/>
              <a:t>B</a:t>
            </a:r>
            <a:endParaRPr lang="en-GB" sz="2800" dirty="0"/>
          </a:p>
        </p:txBody>
      </p:sp>
      <p:grpSp>
        <p:nvGrpSpPr>
          <p:cNvPr id="60" name="Group 59"/>
          <p:cNvGrpSpPr/>
          <p:nvPr/>
        </p:nvGrpSpPr>
        <p:grpSpPr>
          <a:xfrm>
            <a:off x="0" y="1417956"/>
            <a:ext cx="2386864" cy="2757880"/>
            <a:chOff x="0" y="1417956"/>
            <a:chExt cx="2386864" cy="2757880"/>
          </a:xfrm>
        </p:grpSpPr>
        <p:sp>
          <p:nvSpPr>
            <p:cNvPr id="52" name="Rectangle 51"/>
            <p:cNvSpPr/>
            <p:nvPr/>
          </p:nvSpPr>
          <p:spPr>
            <a:xfrm>
              <a:off x="0" y="2498554"/>
              <a:ext cx="2282997" cy="369332"/>
            </a:xfrm>
            <a:prstGeom prst="rect">
              <a:avLst/>
            </a:prstGeom>
          </p:spPr>
          <p:txBody>
            <a:bodyPr wrap="none">
              <a:spAutoFit/>
            </a:bodyPr>
            <a:lstStyle/>
            <a:p>
              <a:r>
                <a:rPr lang="en-GB" dirty="0">
                  <a:solidFill>
                    <a:srgbClr val="00B0F0"/>
                  </a:solidFill>
                </a:rPr>
                <a:t>social economic status</a:t>
              </a:r>
            </a:p>
          </p:txBody>
        </p:sp>
        <p:grpSp>
          <p:nvGrpSpPr>
            <p:cNvPr id="59" name="Group 58"/>
            <p:cNvGrpSpPr/>
            <p:nvPr/>
          </p:nvGrpSpPr>
          <p:grpSpPr>
            <a:xfrm>
              <a:off x="157001" y="1417956"/>
              <a:ext cx="2229863" cy="2757880"/>
              <a:chOff x="218692" y="1313328"/>
              <a:chExt cx="2229863" cy="2757880"/>
            </a:xfrm>
          </p:grpSpPr>
          <p:grpSp>
            <p:nvGrpSpPr>
              <p:cNvPr id="58" name="Group 57"/>
              <p:cNvGrpSpPr/>
              <p:nvPr/>
            </p:nvGrpSpPr>
            <p:grpSpPr>
              <a:xfrm>
                <a:off x="218692" y="1858406"/>
                <a:ext cx="2229863" cy="2212802"/>
                <a:chOff x="218692" y="1858406"/>
                <a:chExt cx="2229863" cy="2212802"/>
              </a:xfrm>
            </p:grpSpPr>
            <p:sp>
              <p:nvSpPr>
                <p:cNvPr id="2" name="Rectangle 1"/>
                <p:cNvSpPr/>
                <p:nvPr/>
              </p:nvSpPr>
              <p:spPr>
                <a:xfrm>
                  <a:off x="218692" y="1858406"/>
                  <a:ext cx="2126672" cy="369332"/>
                </a:xfrm>
                <a:prstGeom prst="rect">
                  <a:avLst/>
                </a:prstGeom>
              </p:spPr>
              <p:txBody>
                <a:bodyPr wrap="none">
                  <a:spAutoFit/>
                </a:bodyPr>
                <a:lstStyle/>
                <a:p>
                  <a:r>
                    <a:rPr lang="en-GB" dirty="0"/>
                    <a:t>duration of infertility</a:t>
                  </a:r>
                </a:p>
              </p:txBody>
            </p:sp>
            <p:sp>
              <p:nvSpPr>
                <p:cNvPr id="3" name="Rectangle 2"/>
                <p:cNvSpPr/>
                <p:nvPr/>
              </p:nvSpPr>
              <p:spPr>
                <a:xfrm>
                  <a:off x="1887022" y="2752464"/>
                  <a:ext cx="551754" cy="369332"/>
                </a:xfrm>
                <a:prstGeom prst="rect">
                  <a:avLst/>
                </a:prstGeom>
              </p:spPr>
              <p:txBody>
                <a:bodyPr wrap="none">
                  <a:spAutoFit/>
                </a:bodyPr>
                <a:lstStyle/>
                <a:p>
                  <a:r>
                    <a:rPr lang="en-GB" dirty="0" smtClean="0"/>
                    <a:t>BMI</a:t>
                  </a:r>
                  <a:endParaRPr lang="en-GB" dirty="0"/>
                </a:p>
              </p:txBody>
            </p:sp>
            <p:sp>
              <p:nvSpPr>
                <p:cNvPr id="51" name="Rectangle 50"/>
                <p:cNvSpPr/>
                <p:nvPr/>
              </p:nvSpPr>
              <p:spPr>
                <a:xfrm>
                  <a:off x="1074550" y="3222115"/>
                  <a:ext cx="663964" cy="523220"/>
                </a:xfrm>
                <a:prstGeom prst="rect">
                  <a:avLst/>
                </a:prstGeom>
              </p:spPr>
              <p:txBody>
                <a:bodyPr wrap="none">
                  <a:spAutoFit/>
                </a:bodyPr>
                <a:lstStyle/>
                <a:p>
                  <a:r>
                    <a:rPr lang="en-GB" sz="2800" dirty="0"/>
                    <a:t>age</a:t>
                  </a:r>
                </a:p>
              </p:txBody>
            </p:sp>
            <p:sp>
              <p:nvSpPr>
                <p:cNvPr id="53" name="Rectangle 52"/>
                <p:cNvSpPr/>
                <p:nvPr/>
              </p:nvSpPr>
              <p:spPr>
                <a:xfrm>
                  <a:off x="234253" y="3701876"/>
                  <a:ext cx="1460849" cy="369332"/>
                </a:xfrm>
                <a:prstGeom prst="rect">
                  <a:avLst/>
                </a:prstGeom>
              </p:spPr>
              <p:txBody>
                <a:bodyPr wrap="none">
                  <a:spAutoFit/>
                </a:bodyPr>
                <a:lstStyle/>
                <a:p>
                  <a:r>
                    <a:rPr lang="en-GB" dirty="0">
                      <a:solidFill>
                        <a:srgbClr val="FF0000"/>
                      </a:solidFill>
                    </a:rPr>
                    <a:t>culture media</a:t>
                  </a:r>
                </a:p>
              </p:txBody>
            </p:sp>
            <p:sp>
              <p:nvSpPr>
                <p:cNvPr id="54" name="Rectangle 53"/>
                <p:cNvSpPr/>
                <p:nvPr/>
              </p:nvSpPr>
              <p:spPr>
                <a:xfrm>
                  <a:off x="2175723" y="2259424"/>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sp>
              <p:nvSpPr>
                <p:cNvPr id="55" name="Rectangle 54"/>
                <p:cNvSpPr/>
                <p:nvPr/>
              </p:nvSpPr>
              <p:spPr>
                <a:xfrm>
                  <a:off x="588247" y="2989944"/>
                  <a:ext cx="399468" cy="769441"/>
                </a:xfrm>
                <a:prstGeom prst="rect">
                  <a:avLst/>
                </a:prstGeom>
              </p:spPr>
              <p:txBody>
                <a:bodyPr wrap="none">
                  <a:spAutoFit/>
                </a:bodyPr>
                <a:lstStyle/>
                <a:p>
                  <a:r>
                    <a:rPr lang="en-GB" sz="4400" dirty="0">
                      <a:solidFill>
                        <a:schemeClr val="accent1">
                          <a:lumMod val="60000"/>
                          <a:lumOff val="40000"/>
                        </a:schemeClr>
                      </a:solidFill>
                      <a:latin typeface="Agency FB" panose="020B0503020202020204" pitchFamily="34" charset="0"/>
                    </a:rPr>
                    <a:t>?</a:t>
                  </a:r>
                </a:p>
              </p:txBody>
            </p:sp>
            <p:sp>
              <p:nvSpPr>
                <p:cNvPr id="56" name="Rectangle 55"/>
                <p:cNvSpPr/>
                <p:nvPr/>
              </p:nvSpPr>
              <p:spPr>
                <a:xfrm>
                  <a:off x="2072532" y="3270775"/>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grpSp>
          <p:sp>
            <p:nvSpPr>
              <p:cNvPr id="57" name="Rectangle 56"/>
              <p:cNvSpPr/>
              <p:nvPr/>
            </p:nvSpPr>
            <p:spPr>
              <a:xfrm>
                <a:off x="843348" y="1313328"/>
                <a:ext cx="420308" cy="830997"/>
              </a:xfrm>
              <a:prstGeom prst="rect">
                <a:avLst/>
              </a:prstGeom>
            </p:spPr>
            <p:txBody>
              <a:bodyPr wrap="none">
                <a:spAutoFit/>
              </a:bodyPr>
              <a:lstStyle/>
              <a:p>
                <a:r>
                  <a:rPr lang="en-GB" sz="4800" dirty="0">
                    <a:solidFill>
                      <a:schemeClr val="accent1">
                        <a:lumMod val="60000"/>
                        <a:lumOff val="40000"/>
                      </a:schemeClr>
                    </a:solidFill>
                    <a:latin typeface="Agency FB" panose="020B0503020202020204" pitchFamily="34" charset="0"/>
                  </a:rPr>
                  <a:t>?</a:t>
                </a:r>
              </a:p>
            </p:txBody>
          </p:sp>
        </p:grpSp>
      </p:grpSp>
      <p:grpSp>
        <p:nvGrpSpPr>
          <p:cNvPr id="61" name="Group 60"/>
          <p:cNvGrpSpPr/>
          <p:nvPr/>
        </p:nvGrpSpPr>
        <p:grpSpPr>
          <a:xfrm>
            <a:off x="9549421" y="1388193"/>
            <a:ext cx="2386864" cy="2757880"/>
            <a:chOff x="0" y="1417956"/>
            <a:chExt cx="2386864" cy="2757880"/>
          </a:xfrm>
        </p:grpSpPr>
        <p:sp>
          <p:nvSpPr>
            <p:cNvPr id="62" name="Rectangle 61"/>
            <p:cNvSpPr/>
            <p:nvPr/>
          </p:nvSpPr>
          <p:spPr>
            <a:xfrm>
              <a:off x="0" y="2498554"/>
              <a:ext cx="2282997" cy="369332"/>
            </a:xfrm>
            <a:prstGeom prst="rect">
              <a:avLst/>
            </a:prstGeom>
          </p:spPr>
          <p:txBody>
            <a:bodyPr wrap="none">
              <a:spAutoFit/>
            </a:bodyPr>
            <a:lstStyle/>
            <a:p>
              <a:r>
                <a:rPr lang="en-GB" dirty="0">
                  <a:solidFill>
                    <a:srgbClr val="00B0F0"/>
                  </a:solidFill>
                </a:rPr>
                <a:t>social economic status</a:t>
              </a:r>
            </a:p>
          </p:txBody>
        </p:sp>
        <p:grpSp>
          <p:nvGrpSpPr>
            <p:cNvPr id="63" name="Group 62"/>
            <p:cNvGrpSpPr/>
            <p:nvPr/>
          </p:nvGrpSpPr>
          <p:grpSpPr>
            <a:xfrm>
              <a:off x="157001" y="1417956"/>
              <a:ext cx="2229863" cy="2757880"/>
              <a:chOff x="218692" y="1313328"/>
              <a:chExt cx="2229863" cy="2757880"/>
            </a:xfrm>
          </p:grpSpPr>
          <p:grpSp>
            <p:nvGrpSpPr>
              <p:cNvPr id="64" name="Group 63"/>
              <p:cNvGrpSpPr/>
              <p:nvPr/>
            </p:nvGrpSpPr>
            <p:grpSpPr>
              <a:xfrm>
                <a:off x="218692" y="1858406"/>
                <a:ext cx="2229863" cy="2212802"/>
                <a:chOff x="218692" y="1858406"/>
                <a:chExt cx="2229863" cy="2212802"/>
              </a:xfrm>
            </p:grpSpPr>
            <p:sp>
              <p:nvSpPr>
                <p:cNvPr id="66" name="Rectangle 65"/>
                <p:cNvSpPr/>
                <p:nvPr/>
              </p:nvSpPr>
              <p:spPr>
                <a:xfrm>
                  <a:off x="218692" y="1858406"/>
                  <a:ext cx="2126672" cy="369332"/>
                </a:xfrm>
                <a:prstGeom prst="rect">
                  <a:avLst/>
                </a:prstGeom>
              </p:spPr>
              <p:txBody>
                <a:bodyPr wrap="none">
                  <a:spAutoFit/>
                </a:bodyPr>
                <a:lstStyle/>
                <a:p>
                  <a:r>
                    <a:rPr lang="en-GB" dirty="0"/>
                    <a:t>duration of infertility</a:t>
                  </a:r>
                </a:p>
              </p:txBody>
            </p:sp>
            <p:sp>
              <p:nvSpPr>
                <p:cNvPr id="67" name="Rectangle 66"/>
                <p:cNvSpPr/>
                <p:nvPr/>
              </p:nvSpPr>
              <p:spPr>
                <a:xfrm>
                  <a:off x="1887022" y="2752464"/>
                  <a:ext cx="551754" cy="369332"/>
                </a:xfrm>
                <a:prstGeom prst="rect">
                  <a:avLst/>
                </a:prstGeom>
              </p:spPr>
              <p:txBody>
                <a:bodyPr wrap="none">
                  <a:spAutoFit/>
                </a:bodyPr>
                <a:lstStyle/>
                <a:p>
                  <a:r>
                    <a:rPr lang="en-GB" dirty="0" smtClean="0"/>
                    <a:t>BMI</a:t>
                  </a:r>
                  <a:endParaRPr lang="en-GB" dirty="0"/>
                </a:p>
              </p:txBody>
            </p:sp>
            <p:sp>
              <p:nvSpPr>
                <p:cNvPr id="68" name="Rectangle 67"/>
                <p:cNvSpPr/>
                <p:nvPr/>
              </p:nvSpPr>
              <p:spPr>
                <a:xfrm>
                  <a:off x="1074550" y="3222115"/>
                  <a:ext cx="663964" cy="523220"/>
                </a:xfrm>
                <a:prstGeom prst="rect">
                  <a:avLst/>
                </a:prstGeom>
              </p:spPr>
              <p:txBody>
                <a:bodyPr wrap="none">
                  <a:spAutoFit/>
                </a:bodyPr>
                <a:lstStyle/>
                <a:p>
                  <a:r>
                    <a:rPr lang="en-GB" sz="2800" dirty="0"/>
                    <a:t>age</a:t>
                  </a:r>
                </a:p>
              </p:txBody>
            </p:sp>
            <p:sp>
              <p:nvSpPr>
                <p:cNvPr id="69" name="Rectangle 68"/>
                <p:cNvSpPr/>
                <p:nvPr/>
              </p:nvSpPr>
              <p:spPr>
                <a:xfrm>
                  <a:off x="234253" y="3701876"/>
                  <a:ext cx="1460849" cy="369332"/>
                </a:xfrm>
                <a:prstGeom prst="rect">
                  <a:avLst/>
                </a:prstGeom>
              </p:spPr>
              <p:txBody>
                <a:bodyPr wrap="none">
                  <a:spAutoFit/>
                </a:bodyPr>
                <a:lstStyle/>
                <a:p>
                  <a:r>
                    <a:rPr lang="en-GB" dirty="0">
                      <a:solidFill>
                        <a:srgbClr val="FF0000"/>
                      </a:solidFill>
                    </a:rPr>
                    <a:t>culture media</a:t>
                  </a:r>
                </a:p>
              </p:txBody>
            </p:sp>
            <p:sp>
              <p:nvSpPr>
                <p:cNvPr id="70" name="Rectangle 69"/>
                <p:cNvSpPr/>
                <p:nvPr/>
              </p:nvSpPr>
              <p:spPr>
                <a:xfrm>
                  <a:off x="2175723" y="2259424"/>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sp>
              <p:nvSpPr>
                <p:cNvPr id="71" name="Rectangle 70"/>
                <p:cNvSpPr/>
                <p:nvPr/>
              </p:nvSpPr>
              <p:spPr>
                <a:xfrm>
                  <a:off x="588247" y="2989944"/>
                  <a:ext cx="399468" cy="769441"/>
                </a:xfrm>
                <a:prstGeom prst="rect">
                  <a:avLst/>
                </a:prstGeom>
              </p:spPr>
              <p:txBody>
                <a:bodyPr wrap="none">
                  <a:spAutoFit/>
                </a:bodyPr>
                <a:lstStyle/>
                <a:p>
                  <a:r>
                    <a:rPr lang="en-GB" sz="4400" dirty="0">
                      <a:solidFill>
                        <a:schemeClr val="accent1">
                          <a:lumMod val="60000"/>
                          <a:lumOff val="40000"/>
                        </a:schemeClr>
                      </a:solidFill>
                      <a:latin typeface="Agency FB" panose="020B0503020202020204" pitchFamily="34" charset="0"/>
                    </a:rPr>
                    <a:t>?</a:t>
                  </a:r>
                </a:p>
              </p:txBody>
            </p:sp>
            <p:sp>
              <p:nvSpPr>
                <p:cNvPr id="72" name="Rectangle 71"/>
                <p:cNvSpPr/>
                <p:nvPr/>
              </p:nvSpPr>
              <p:spPr>
                <a:xfrm>
                  <a:off x="2072532" y="3270775"/>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grpSp>
          <p:sp>
            <p:nvSpPr>
              <p:cNvPr id="65" name="Rectangle 64"/>
              <p:cNvSpPr/>
              <p:nvPr/>
            </p:nvSpPr>
            <p:spPr>
              <a:xfrm>
                <a:off x="843348" y="1313328"/>
                <a:ext cx="420308" cy="830997"/>
              </a:xfrm>
              <a:prstGeom prst="rect">
                <a:avLst/>
              </a:prstGeom>
            </p:spPr>
            <p:txBody>
              <a:bodyPr wrap="none">
                <a:spAutoFit/>
              </a:bodyPr>
              <a:lstStyle/>
              <a:p>
                <a:r>
                  <a:rPr lang="en-GB" sz="4800" dirty="0">
                    <a:solidFill>
                      <a:schemeClr val="accent1">
                        <a:lumMod val="60000"/>
                        <a:lumOff val="40000"/>
                      </a:schemeClr>
                    </a:solidFill>
                    <a:latin typeface="Agency FB" panose="020B0503020202020204" pitchFamily="34" charset="0"/>
                  </a:rPr>
                  <a:t>?</a:t>
                </a:r>
              </a:p>
            </p:txBody>
          </p:sp>
        </p:grpSp>
      </p:grpSp>
    </p:spTree>
    <p:extLst>
      <p:ext uri="{BB962C8B-B14F-4D97-AF65-F5344CB8AC3E}">
        <p14:creationId xmlns:p14="http://schemas.microsoft.com/office/powerpoint/2010/main" val="374454273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 name="Rectangle 743"/>
          <p:cNvSpPr/>
          <p:nvPr/>
        </p:nvSpPr>
        <p:spPr>
          <a:xfrm>
            <a:off x="730566" y="1333472"/>
            <a:ext cx="10852727" cy="6858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3" name="Rectangle 742"/>
          <p:cNvSpPr/>
          <p:nvPr/>
        </p:nvSpPr>
        <p:spPr>
          <a:xfrm>
            <a:off x="702562" y="1018395"/>
            <a:ext cx="10852727" cy="6858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Rectangle 79"/>
          <p:cNvSpPr/>
          <p:nvPr/>
        </p:nvSpPr>
        <p:spPr>
          <a:xfrm>
            <a:off x="9497791" y="1438613"/>
            <a:ext cx="2470302" cy="3063734"/>
          </a:xfrm>
          <a:prstGeom prst="rect">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Rectangle 78"/>
          <p:cNvSpPr/>
          <p:nvPr/>
        </p:nvSpPr>
        <p:spPr>
          <a:xfrm>
            <a:off x="41989" y="1388193"/>
            <a:ext cx="2470302" cy="3063734"/>
          </a:xfrm>
          <a:prstGeom prst="rect">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5" name="Group 24"/>
          <p:cNvGrpSpPr/>
          <p:nvPr/>
        </p:nvGrpSpPr>
        <p:grpSpPr>
          <a:xfrm>
            <a:off x="3142372" y="4246281"/>
            <a:ext cx="815244" cy="779295"/>
            <a:chOff x="1815829" y="1261360"/>
            <a:chExt cx="1584547" cy="2185734"/>
          </a:xfrm>
        </p:grpSpPr>
        <p:grpSp>
          <p:nvGrpSpPr>
            <p:cNvPr id="6" name="Group 5"/>
            <p:cNvGrpSpPr/>
            <p:nvPr/>
          </p:nvGrpSpPr>
          <p:grpSpPr>
            <a:xfrm>
              <a:off x="2393504" y="2009302"/>
              <a:ext cx="431428" cy="575117"/>
              <a:chOff x="2887410" y="414748"/>
              <a:chExt cx="431428" cy="575117"/>
            </a:xfrm>
          </p:grpSpPr>
          <p:sp>
            <p:nvSpPr>
              <p:cNvPr id="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 name="Group 6"/>
            <p:cNvGrpSpPr/>
            <p:nvPr/>
          </p:nvGrpSpPr>
          <p:grpSpPr>
            <a:xfrm>
              <a:off x="2968948" y="1718435"/>
              <a:ext cx="431428" cy="575117"/>
              <a:chOff x="2887410" y="414748"/>
              <a:chExt cx="431428" cy="575117"/>
            </a:xfrm>
          </p:grpSpPr>
          <p:sp>
            <p:nvSpPr>
              <p:cNvPr id="8"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 name="Group 9"/>
            <p:cNvGrpSpPr/>
            <p:nvPr/>
          </p:nvGrpSpPr>
          <p:grpSpPr>
            <a:xfrm>
              <a:off x="1890068" y="1737899"/>
              <a:ext cx="431428" cy="575117"/>
              <a:chOff x="2887410" y="414748"/>
              <a:chExt cx="431428" cy="575117"/>
            </a:xfrm>
          </p:grpSpPr>
          <p:sp>
            <p:nvSpPr>
              <p:cNvPr id="1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 name="Group 12"/>
            <p:cNvGrpSpPr/>
            <p:nvPr/>
          </p:nvGrpSpPr>
          <p:grpSpPr>
            <a:xfrm>
              <a:off x="2825242" y="2584419"/>
              <a:ext cx="431428" cy="575117"/>
              <a:chOff x="2887410" y="414748"/>
              <a:chExt cx="431428" cy="575117"/>
            </a:xfrm>
          </p:grpSpPr>
          <p:sp>
            <p:nvSpPr>
              <p:cNvPr id="1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6" name="Group 15"/>
            <p:cNvGrpSpPr/>
            <p:nvPr/>
          </p:nvGrpSpPr>
          <p:grpSpPr>
            <a:xfrm>
              <a:off x="2343351" y="2871977"/>
              <a:ext cx="431428" cy="575117"/>
              <a:chOff x="2887410" y="414748"/>
              <a:chExt cx="431428" cy="575117"/>
            </a:xfrm>
          </p:grpSpPr>
          <p:sp>
            <p:nvSpPr>
              <p:cNvPr id="1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 name="Group 18"/>
            <p:cNvGrpSpPr/>
            <p:nvPr/>
          </p:nvGrpSpPr>
          <p:grpSpPr>
            <a:xfrm>
              <a:off x="1815829" y="2440876"/>
              <a:ext cx="431428" cy="575117"/>
              <a:chOff x="2887410" y="414748"/>
              <a:chExt cx="431428" cy="575117"/>
            </a:xfrm>
          </p:grpSpPr>
          <p:sp>
            <p:nvSpPr>
              <p:cNvPr id="20"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 name="Group 21"/>
            <p:cNvGrpSpPr/>
            <p:nvPr/>
          </p:nvGrpSpPr>
          <p:grpSpPr>
            <a:xfrm>
              <a:off x="2434983" y="1261360"/>
              <a:ext cx="431428" cy="575117"/>
              <a:chOff x="2887410" y="414748"/>
              <a:chExt cx="431428" cy="575117"/>
            </a:xfrm>
          </p:grpSpPr>
          <p:sp>
            <p:nvSpPr>
              <p:cNvPr id="2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48" name="Rectangle 47"/>
          <p:cNvSpPr/>
          <p:nvPr/>
        </p:nvSpPr>
        <p:spPr>
          <a:xfrm>
            <a:off x="145206" y="362117"/>
            <a:ext cx="11707244" cy="584775"/>
          </a:xfrm>
          <a:prstGeom prst="rect">
            <a:avLst/>
          </a:prstGeom>
        </p:spPr>
        <p:txBody>
          <a:bodyPr wrap="square">
            <a:spAutoFit/>
          </a:bodyPr>
          <a:lstStyle/>
          <a:p>
            <a:r>
              <a:rPr lang="en-GB" sz="3200" dirty="0" smtClean="0"/>
              <a:t>This doesn’t change if you increase sample size</a:t>
            </a:r>
            <a:endParaRPr lang="en-GB" sz="3200" dirty="0"/>
          </a:p>
        </p:txBody>
      </p:sp>
      <p:sp>
        <p:nvSpPr>
          <p:cNvPr id="49" name="TextBox 48"/>
          <p:cNvSpPr txBox="1"/>
          <p:nvPr/>
        </p:nvSpPr>
        <p:spPr>
          <a:xfrm>
            <a:off x="2715849" y="1491402"/>
            <a:ext cx="1791384" cy="523220"/>
          </a:xfrm>
          <a:prstGeom prst="rect">
            <a:avLst/>
          </a:prstGeom>
          <a:noFill/>
        </p:spPr>
        <p:txBody>
          <a:bodyPr wrap="square" rtlCol="0">
            <a:spAutoFit/>
          </a:bodyPr>
          <a:lstStyle/>
          <a:p>
            <a:pPr algn="ctr"/>
            <a:r>
              <a:rPr lang="en-GB" sz="2800" dirty="0" smtClean="0"/>
              <a:t>Group A</a:t>
            </a:r>
            <a:endParaRPr lang="en-GB" sz="2800" dirty="0"/>
          </a:p>
        </p:txBody>
      </p:sp>
      <p:sp>
        <p:nvSpPr>
          <p:cNvPr id="50" name="Rectangle 49"/>
          <p:cNvSpPr/>
          <p:nvPr/>
        </p:nvSpPr>
        <p:spPr>
          <a:xfrm>
            <a:off x="7816846" y="1495318"/>
            <a:ext cx="1443730" cy="523220"/>
          </a:xfrm>
          <a:prstGeom prst="rect">
            <a:avLst/>
          </a:prstGeom>
        </p:spPr>
        <p:txBody>
          <a:bodyPr wrap="none">
            <a:spAutoFit/>
          </a:bodyPr>
          <a:lstStyle/>
          <a:p>
            <a:pPr algn="ctr"/>
            <a:r>
              <a:rPr lang="en-GB" sz="2800" dirty="0"/>
              <a:t>Group </a:t>
            </a:r>
            <a:r>
              <a:rPr lang="en-GB" sz="2800" dirty="0" smtClean="0"/>
              <a:t>B</a:t>
            </a:r>
            <a:endParaRPr lang="en-GB" sz="2800" dirty="0"/>
          </a:p>
        </p:txBody>
      </p:sp>
      <p:grpSp>
        <p:nvGrpSpPr>
          <p:cNvPr id="60" name="Group 59"/>
          <p:cNvGrpSpPr/>
          <p:nvPr/>
        </p:nvGrpSpPr>
        <p:grpSpPr>
          <a:xfrm>
            <a:off x="0" y="1417956"/>
            <a:ext cx="2386864" cy="2757880"/>
            <a:chOff x="0" y="1417956"/>
            <a:chExt cx="2386864" cy="2757880"/>
          </a:xfrm>
        </p:grpSpPr>
        <p:sp>
          <p:nvSpPr>
            <p:cNvPr id="52" name="Rectangle 51"/>
            <p:cNvSpPr/>
            <p:nvPr/>
          </p:nvSpPr>
          <p:spPr>
            <a:xfrm>
              <a:off x="0" y="2498554"/>
              <a:ext cx="2282997" cy="369332"/>
            </a:xfrm>
            <a:prstGeom prst="rect">
              <a:avLst/>
            </a:prstGeom>
          </p:spPr>
          <p:txBody>
            <a:bodyPr wrap="none">
              <a:spAutoFit/>
            </a:bodyPr>
            <a:lstStyle/>
            <a:p>
              <a:r>
                <a:rPr lang="en-GB" dirty="0">
                  <a:solidFill>
                    <a:srgbClr val="00B0F0"/>
                  </a:solidFill>
                </a:rPr>
                <a:t>social economic status</a:t>
              </a:r>
            </a:p>
          </p:txBody>
        </p:sp>
        <p:grpSp>
          <p:nvGrpSpPr>
            <p:cNvPr id="59" name="Group 58"/>
            <p:cNvGrpSpPr/>
            <p:nvPr/>
          </p:nvGrpSpPr>
          <p:grpSpPr>
            <a:xfrm>
              <a:off x="157001" y="1417956"/>
              <a:ext cx="2229863" cy="2757880"/>
              <a:chOff x="218692" y="1313328"/>
              <a:chExt cx="2229863" cy="2757880"/>
            </a:xfrm>
          </p:grpSpPr>
          <p:grpSp>
            <p:nvGrpSpPr>
              <p:cNvPr id="58" name="Group 57"/>
              <p:cNvGrpSpPr/>
              <p:nvPr/>
            </p:nvGrpSpPr>
            <p:grpSpPr>
              <a:xfrm>
                <a:off x="218692" y="1858406"/>
                <a:ext cx="2229863" cy="2212802"/>
                <a:chOff x="218692" y="1858406"/>
                <a:chExt cx="2229863" cy="2212802"/>
              </a:xfrm>
            </p:grpSpPr>
            <p:sp>
              <p:nvSpPr>
                <p:cNvPr id="2" name="Rectangle 1"/>
                <p:cNvSpPr/>
                <p:nvPr/>
              </p:nvSpPr>
              <p:spPr>
                <a:xfrm>
                  <a:off x="218692" y="1858406"/>
                  <a:ext cx="2126672" cy="369332"/>
                </a:xfrm>
                <a:prstGeom prst="rect">
                  <a:avLst/>
                </a:prstGeom>
              </p:spPr>
              <p:txBody>
                <a:bodyPr wrap="none">
                  <a:spAutoFit/>
                </a:bodyPr>
                <a:lstStyle/>
                <a:p>
                  <a:r>
                    <a:rPr lang="en-GB" dirty="0"/>
                    <a:t>duration of infertility</a:t>
                  </a:r>
                </a:p>
              </p:txBody>
            </p:sp>
            <p:sp>
              <p:nvSpPr>
                <p:cNvPr id="3" name="Rectangle 2"/>
                <p:cNvSpPr/>
                <p:nvPr/>
              </p:nvSpPr>
              <p:spPr>
                <a:xfrm>
                  <a:off x="1887022" y="2752464"/>
                  <a:ext cx="551754" cy="369332"/>
                </a:xfrm>
                <a:prstGeom prst="rect">
                  <a:avLst/>
                </a:prstGeom>
              </p:spPr>
              <p:txBody>
                <a:bodyPr wrap="none">
                  <a:spAutoFit/>
                </a:bodyPr>
                <a:lstStyle/>
                <a:p>
                  <a:r>
                    <a:rPr lang="en-GB" dirty="0" smtClean="0"/>
                    <a:t>BMI</a:t>
                  </a:r>
                  <a:endParaRPr lang="en-GB" dirty="0"/>
                </a:p>
              </p:txBody>
            </p:sp>
            <p:sp>
              <p:nvSpPr>
                <p:cNvPr id="51" name="Rectangle 50"/>
                <p:cNvSpPr/>
                <p:nvPr/>
              </p:nvSpPr>
              <p:spPr>
                <a:xfrm>
                  <a:off x="1074550" y="3222115"/>
                  <a:ext cx="663964" cy="523220"/>
                </a:xfrm>
                <a:prstGeom prst="rect">
                  <a:avLst/>
                </a:prstGeom>
              </p:spPr>
              <p:txBody>
                <a:bodyPr wrap="none">
                  <a:spAutoFit/>
                </a:bodyPr>
                <a:lstStyle/>
                <a:p>
                  <a:r>
                    <a:rPr lang="en-GB" sz="2800" dirty="0"/>
                    <a:t>age</a:t>
                  </a:r>
                </a:p>
              </p:txBody>
            </p:sp>
            <p:sp>
              <p:nvSpPr>
                <p:cNvPr id="53" name="Rectangle 52"/>
                <p:cNvSpPr/>
                <p:nvPr/>
              </p:nvSpPr>
              <p:spPr>
                <a:xfrm>
                  <a:off x="234253" y="3701876"/>
                  <a:ext cx="1460849" cy="369332"/>
                </a:xfrm>
                <a:prstGeom prst="rect">
                  <a:avLst/>
                </a:prstGeom>
              </p:spPr>
              <p:txBody>
                <a:bodyPr wrap="none">
                  <a:spAutoFit/>
                </a:bodyPr>
                <a:lstStyle/>
                <a:p>
                  <a:r>
                    <a:rPr lang="en-GB" dirty="0">
                      <a:solidFill>
                        <a:srgbClr val="FF0000"/>
                      </a:solidFill>
                    </a:rPr>
                    <a:t>culture media</a:t>
                  </a:r>
                </a:p>
              </p:txBody>
            </p:sp>
            <p:sp>
              <p:nvSpPr>
                <p:cNvPr id="54" name="Rectangle 53"/>
                <p:cNvSpPr/>
                <p:nvPr/>
              </p:nvSpPr>
              <p:spPr>
                <a:xfrm>
                  <a:off x="2175723" y="2259424"/>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sp>
              <p:nvSpPr>
                <p:cNvPr id="55" name="Rectangle 54"/>
                <p:cNvSpPr/>
                <p:nvPr/>
              </p:nvSpPr>
              <p:spPr>
                <a:xfrm>
                  <a:off x="588247" y="2989944"/>
                  <a:ext cx="399468" cy="769441"/>
                </a:xfrm>
                <a:prstGeom prst="rect">
                  <a:avLst/>
                </a:prstGeom>
              </p:spPr>
              <p:txBody>
                <a:bodyPr wrap="none">
                  <a:spAutoFit/>
                </a:bodyPr>
                <a:lstStyle/>
                <a:p>
                  <a:r>
                    <a:rPr lang="en-GB" sz="4400" dirty="0">
                      <a:solidFill>
                        <a:schemeClr val="accent1">
                          <a:lumMod val="60000"/>
                          <a:lumOff val="40000"/>
                        </a:schemeClr>
                      </a:solidFill>
                      <a:latin typeface="Agency FB" panose="020B0503020202020204" pitchFamily="34" charset="0"/>
                    </a:rPr>
                    <a:t>?</a:t>
                  </a:r>
                </a:p>
              </p:txBody>
            </p:sp>
            <p:sp>
              <p:nvSpPr>
                <p:cNvPr id="56" name="Rectangle 55"/>
                <p:cNvSpPr/>
                <p:nvPr/>
              </p:nvSpPr>
              <p:spPr>
                <a:xfrm>
                  <a:off x="2072532" y="3270775"/>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grpSp>
          <p:sp>
            <p:nvSpPr>
              <p:cNvPr id="57" name="Rectangle 56"/>
              <p:cNvSpPr/>
              <p:nvPr/>
            </p:nvSpPr>
            <p:spPr>
              <a:xfrm>
                <a:off x="843348" y="1313328"/>
                <a:ext cx="420308" cy="830997"/>
              </a:xfrm>
              <a:prstGeom prst="rect">
                <a:avLst/>
              </a:prstGeom>
            </p:spPr>
            <p:txBody>
              <a:bodyPr wrap="none">
                <a:spAutoFit/>
              </a:bodyPr>
              <a:lstStyle/>
              <a:p>
                <a:r>
                  <a:rPr lang="en-GB" sz="4800" dirty="0">
                    <a:solidFill>
                      <a:schemeClr val="accent1">
                        <a:lumMod val="60000"/>
                        <a:lumOff val="40000"/>
                      </a:schemeClr>
                    </a:solidFill>
                    <a:latin typeface="Agency FB" panose="020B0503020202020204" pitchFamily="34" charset="0"/>
                  </a:rPr>
                  <a:t>?</a:t>
                </a:r>
              </a:p>
            </p:txBody>
          </p:sp>
        </p:grpSp>
      </p:grpSp>
      <p:grpSp>
        <p:nvGrpSpPr>
          <p:cNvPr id="61" name="Group 60"/>
          <p:cNvGrpSpPr/>
          <p:nvPr/>
        </p:nvGrpSpPr>
        <p:grpSpPr>
          <a:xfrm>
            <a:off x="9549421" y="1388193"/>
            <a:ext cx="2386864" cy="2757880"/>
            <a:chOff x="0" y="1417956"/>
            <a:chExt cx="2386864" cy="2757880"/>
          </a:xfrm>
        </p:grpSpPr>
        <p:sp>
          <p:nvSpPr>
            <p:cNvPr id="62" name="Rectangle 61"/>
            <p:cNvSpPr/>
            <p:nvPr/>
          </p:nvSpPr>
          <p:spPr>
            <a:xfrm>
              <a:off x="0" y="2498554"/>
              <a:ext cx="2282997" cy="369332"/>
            </a:xfrm>
            <a:prstGeom prst="rect">
              <a:avLst/>
            </a:prstGeom>
          </p:spPr>
          <p:txBody>
            <a:bodyPr wrap="none">
              <a:spAutoFit/>
            </a:bodyPr>
            <a:lstStyle/>
            <a:p>
              <a:r>
                <a:rPr lang="en-GB" dirty="0">
                  <a:solidFill>
                    <a:srgbClr val="00B0F0"/>
                  </a:solidFill>
                </a:rPr>
                <a:t>social economic status</a:t>
              </a:r>
            </a:p>
          </p:txBody>
        </p:sp>
        <p:grpSp>
          <p:nvGrpSpPr>
            <p:cNvPr id="63" name="Group 62"/>
            <p:cNvGrpSpPr/>
            <p:nvPr/>
          </p:nvGrpSpPr>
          <p:grpSpPr>
            <a:xfrm>
              <a:off x="157001" y="1417956"/>
              <a:ext cx="2229863" cy="2757880"/>
              <a:chOff x="218692" y="1313328"/>
              <a:chExt cx="2229863" cy="2757880"/>
            </a:xfrm>
          </p:grpSpPr>
          <p:grpSp>
            <p:nvGrpSpPr>
              <p:cNvPr id="64" name="Group 63"/>
              <p:cNvGrpSpPr/>
              <p:nvPr/>
            </p:nvGrpSpPr>
            <p:grpSpPr>
              <a:xfrm>
                <a:off x="218692" y="1858406"/>
                <a:ext cx="2229863" cy="2212802"/>
                <a:chOff x="218692" y="1858406"/>
                <a:chExt cx="2229863" cy="2212802"/>
              </a:xfrm>
            </p:grpSpPr>
            <p:sp>
              <p:nvSpPr>
                <p:cNvPr id="66" name="Rectangle 65"/>
                <p:cNvSpPr/>
                <p:nvPr/>
              </p:nvSpPr>
              <p:spPr>
                <a:xfrm>
                  <a:off x="218692" y="1858406"/>
                  <a:ext cx="2126672" cy="369332"/>
                </a:xfrm>
                <a:prstGeom prst="rect">
                  <a:avLst/>
                </a:prstGeom>
              </p:spPr>
              <p:txBody>
                <a:bodyPr wrap="none">
                  <a:spAutoFit/>
                </a:bodyPr>
                <a:lstStyle/>
                <a:p>
                  <a:r>
                    <a:rPr lang="en-GB" dirty="0"/>
                    <a:t>duration of infertility</a:t>
                  </a:r>
                </a:p>
              </p:txBody>
            </p:sp>
            <p:sp>
              <p:nvSpPr>
                <p:cNvPr id="67" name="Rectangle 66"/>
                <p:cNvSpPr/>
                <p:nvPr/>
              </p:nvSpPr>
              <p:spPr>
                <a:xfrm>
                  <a:off x="1887022" y="2752464"/>
                  <a:ext cx="551754" cy="369332"/>
                </a:xfrm>
                <a:prstGeom prst="rect">
                  <a:avLst/>
                </a:prstGeom>
              </p:spPr>
              <p:txBody>
                <a:bodyPr wrap="none">
                  <a:spAutoFit/>
                </a:bodyPr>
                <a:lstStyle/>
                <a:p>
                  <a:r>
                    <a:rPr lang="en-GB" dirty="0" smtClean="0"/>
                    <a:t>BMI</a:t>
                  </a:r>
                  <a:endParaRPr lang="en-GB" dirty="0"/>
                </a:p>
              </p:txBody>
            </p:sp>
            <p:sp>
              <p:nvSpPr>
                <p:cNvPr id="68" name="Rectangle 67"/>
                <p:cNvSpPr/>
                <p:nvPr/>
              </p:nvSpPr>
              <p:spPr>
                <a:xfrm>
                  <a:off x="1074550" y="3222115"/>
                  <a:ext cx="663964" cy="523220"/>
                </a:xfrm>
                <a:prstGeom prst="rect">
                  <a:avLst/>
                </a:prstGeom>
              </p:spPr>
              <p:txBody>
                <a:bodyPr wrap="none">
                  <a:spAutoFit/>
                </a:bodyPr>
                <a:lstStyle/>
                <a:p>
                  <a:r>
                    <a:rPr lang="en-GB" sz="2800" dirty="0"/>
                    <a:t>age</a:t>
                  </a:r>
                </a:p>
              </p:txBody>
            </p:sp>
            <p:sp>
              <p:nvSpPr>
                <p:cNvPr id="69" name="Rectangle 68"/>
                <p:cNvSpPr/>
                <p:nvPr/>
              </p:nvSpPr>
              <p:spPr>
                <a:xfrm>
                  <a:off x="234253" y="3701876"/>
                  <a:ext cx="1460849" cy="369332"/>
                </a:xfrm>
                <a:prstGeom prst="rect">
                  <a:avLst/>
                </a:prstGeom>
              </p:spPr>
              <p:txBody>
                <a:bodyPr wrap="none">
                  <a:spAutoFit/>
                </a:bodyPr>
                <a:lstStyle/>
                <a:p>
                  <a:r>
                    <a:rPr lang="en-GB" dirty="0">
                      <a:solidFill>
                        <a:srgbClr val="FF0000"/>
                      </a:solidFill>
                    </a:rPr>
                    <a:t>culture media</a:t>
                  </a:r>
                </a:p>
              </p:txBody>
            </p:sp>
            <p:sp>
              <p:nvSpPr>
                <p:cNvPr id="70" name="Rectangle 69"/>
                <p:cNvSpPr/>
                <p:nvPr/>
              </p:nvSpPr>
              <p:spPr>
                <a:xfrm>
                  <a:off x="2175723" y="2259424"/>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sp>
              <p:nvSpPr>
                <p:cNvPr id="71" name="Rectangle 70"/>
                <p:cNvSpPr/>
                <p:nvPr/>
              </p:nvSpPr>
              <p:spPr>
                <a:xfrm>
                  <a:off x="588247" y="2989944"/>
                  <a:ext cx="399468" cy="769441"/>
                </a:xfrm>
                <a:prstGeom prst="rect">
                  <a:avLst/>
                </a:prstGeom>
              </p:spPr>
              <p:txBody>
                <a:bodyPr wrap="none">
                  <a:spAutoFit/>
                </a:bodyPr>
                <a:lstStyle/>
                <a:p>
                  <a:r>
                    <a:rPr lang="en-GB" sz="4400" dirty="0">
                      <a:solidFill>
                        <a:schemeClr val="accent1">
                          <a:lumMod val="60000"/>
                          <a:lumOff val="40000"/>
                        </a:schemeClr>
                      </a:solidFill>
                      <a:latin typeface="Agency FB" panose="020B0503020202020204" pitchFamily="34" charset="0"/>
                    </a:rPr>
                    <a:t>?</a:t>
                  </a:r>
                </a:p>
              </p:txBody>
            </p:sp>
            <p:sp>
              <p:nvSpPr>
                <p:cNvPr id="72" name="Rectangle 71"/>
                <p:cNvSpPr/>
                <p:nvPr/>
              </p:nvSpPr>
              <p:spPr>
                <a:xfrm>
                  <a:off x="2072532" y="3270775"/>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grpSp>
          <p:sp>
            <p:nvSpPr>
              <p:cNvPr id="65" name="Rectangle 64"/>
              <p:cNvSpPr/>
              <p:nvPr/>
            </p:nvSpPr>
            <p:spPr>
              <a:xfrm>
                <a:off x="843348" y="1313328"/>
                <a:ext cx="420308" cy="830997"/>
              </a:xfrm>
              <a:prstGeom prst="rect">
                <a:avLst/>
              </a:prstGeom>
            </p:spPr>
            <p:txBody>
              <a:bodyPr wrap="none">
                <a:spAutoFit/>
              </a:bodyPr>
              <a:lstStyle/>
              <a:p>
                <a:r>
                  <a:rPr lang="en-GB" sz="4800" dirty="0">
                    <a:solidFill>
                      <a:schemeClr val="accent1">
                        <a:lumMod val="60000"/>
                        <a:lumOff val="40000"/>
                      </a:schemeClr>
                    </a:solidFill>
                    <a:latin typeface="Agency FB" panose="020B0503020202020204" pitchFamily="34" charset="0"/>
                  </a:rPr>
                  <a:t>?</a:t>
                </a:r>
              </a:p>
            </p:txBody>
          </p:sp>
        </p:grpSp>
      </p:grpSp>
      <p:grpSp>
        <p:nvGrpSpPr>
          <p:cNvPr id="105" name="Group 104"/>
          <p:cNvGrpSpPr/>
          <p:nvPr/>
        </p:nvGrpSpPr>
        <p:grpSpPr>
          <a:xfrm>
            <a:off x="7797500" y="3355770"/>
            <a:ext cx="815244" cy="779295"/>
            <a:chOff x="1815829" y="1261360"/>
            <a:chExt cx="1584547" cy="2185734"/>
          </a:xfrm>
        </p:grpSpPr>
        <p:grpSp>
          <p:nvGrpSpPr>
            <p:cNvPr id="106" name="Group 105"/>
            <p:cNvGrpSpPr/>
            <p:nvPr/>
          </p:nvGrpSpPr>
          <p:grpSpPr>
            <a:xfrm>
              <a:off x="2393504" y="2009302"/>
              <a:ext cx="431428" cy="575117"/>
              <a:chOff x="2887410" y="414748"/>
              <a:chExt cx="431428" cy="575117"/>
            </a:xfrm>
          </p:grpSpPr>
          <p:sp>
            <p:nvSpPr>
              <p:cNvPr id="12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6" name="Oval 12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7" name="Group 106"/>
            <p:cNvGrpSpPr/>
            <p:nvPr/>
          </p:nvGrpSpPr>
          <p:grpSpPr>
            <a:xfrm>
              <a:off x="2968948" y="1718435"/>
              <a:ext cx="431428" cy="575117"/>
              <a:chOff x="2887410" y="414748"/>
              <a:chExt cx="431428" cy="575117"/>
            </a:xfrm>
          </p:grpSpPr>
          <p:sp>
            <p:nvSpPr>
              <p:cNvPr id="12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Oval 12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8" name="Group 107"/>
            <p:cNvGrpSpPr/>
            <p:nvPr/>
          </p:nvGrpSpPr>
          <p:grpSpPr>
            <a:xfrm>
              <a:off x="1890068" y="1737899"/>
              <a:ext cx="431428" cy="575117"/>
              <a:chOff x="2887410" y="414748"/>
              <a:chExt cx="431428" cy="575117"/>
            </a:xfrm>
          </p:grpSpPr>
          <p:sp>
            <p:nvSpPr>
              <p:cNvPr id="12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Oval 12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9" name="Group 108"/>
            <p:cNvGrpSpPr/>
            <p:nvPr/>
          </p:nvGrpSpPr>
          <p:grpSpPr>
            <a:xfrm>
              <a:off x="2825242" y="2584419"/>
              <a:ext cx="431428" cy="575117"/>
              <a:chOff x="2887410" y="414748"/>
              <a:chExt cx="431428" cy="575117"/>
            </a:xfrm>
          </p:grpSpPr>
          <p:sp>
            <p:nvSpPr>
              <p:cNvPr id="11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Oval 11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10" name="Group 109"/>
            <p:cNvGrpSpPr/>
            <p:nvPr/>
          </p:nvGrpSpPr>
          <p:grpSpPr>
            <a:xfrm>
              <a:off x="2343351" y="2871977"/>
              <a:ext cx="431428" cy="575117"/>
              <a:chOff x="2887410" y="414748"/>
              <a:chExt cx="431428" cy="575117"/>
            </a:xfrm>
          </p:grpSpPr>
          <p:sp>
            <p:nvSpPr>
              <p:cNvPr id="11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 name="Oval 11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11" name="Group 110"/>
            <p:cNvGrpSpPr/>
            <p:nvPr/>
          </p:nvGrpSpPr>
          <p:grpSpPr>
            <a:xfrm>
              <a:off x="1815829" y="2440876"/>
              <a:ext cx="431428" cy="575117"/>
              <a:chOff x="2887410" y="414748"/>
              <a:chExt cx="431428" cy="575117"/>
            </a:xfrm>
          </p:grpSpPr>
          <p:sp>
            <p:nvSpPr>
              <p:cNvPr id="11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 name="Oval 11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12" name="Group 111"/>
            <p:cNvGrpSpPr/>
            <p:nvPr/>
          </p:nvGrpSpPr>
          <p:grpSpPr>
            <a:xfrm>
              <a:off x="2434983" y="1261360"/>
              <a:ext cx="431428" cy="575117"/>
              <a:chOff x="2887410" y="414748"/>
              <a:chExt cx="431428" cy="575117"/>
            </a:xfrm>
          </p:grpSpPr>
          <p:sp>
            <p:nvSpPr>
              <p:cNvPr id="11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4" name="Oval 11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127" name="Group 126"/>
          <p:cNvGrpSpPr/>
          <p:nvPr/>
        </p:nvGrpSpPr>
        <p:grpSpPr>
          <a:xfrm>
            <a:off x="2899168" y="3388604"/>
            <a:ext cx="815244" cy="779295"/>
            <a:chOff x="1815829" y="1261360"/>
            <a:chExt cx="1584547" cy="2185734"/>
          </a:xfrm>
        </p:grpSpPr>
        <p:grpSp>
          <p:nvGrpSpPr>
            <p:cNvPr id="128" name="Group 127"/>
            <p:cNvGrpSpPr/>
            <p:nvPr/>
          </p:nvGrpSpPr>
          <p:grpSpPr>
            <a:xfrm>
              <a:off x="2393504" y="2009302"/>
              <a:ext cx="431428" cy="575117"/>
              <a:chOff x="2887410" y="414748"/>
              <a:chExt cx="431428" cy="575117"/>
            </a:xfrm>
          </p:grpSpPr>
          <p:sp>
            <p:nvSpPr>
              <p:cNvPr id="14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8" name="Oval 14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29" name="Group 128"/>
            <p:cNvGrpSpPr/>
            <p:nvPr/>
          </p:nvGrpSpPr>
          <p:grpSpPr>
            <a:xfrm>
              <a:off x="2968948" y="1718435"/>
              <a:ext cx="431428" cy="575117"/>
              <a:chOff x="2887410" y="414748"/>
              <a:chExt cx="431428" cy="575117"/>
            </a:xfrm>
          </p:grpSpPr>
          <p:sp>
            <p:nvSpPr>
              <p:cNvPr id="14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Oval 14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0" name="Group 129"/>
            <p:cNvGrpSpPr/>
            <p:nvPr/>
          </p:nvGrpSpPr>
          <p:grpSpPr>
            <a:xfrm>
              <a:off x="1890068" y="1737899"/>
              <a:ext cx="431428" cy="575117"/>
              <a:chOff x="2887410" y="414748"/>
              <a:chExt cx="431428" cy="575117"/>
            </a:xfrm>
          </p:grpSpPr>
          <p:sp>
            <p:nvSpPr>
              <p:cNvPr id="14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4" name="Oval 14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1" name="Group 130"/>
            <p:cNvGrpSpPr/>
            <p:nvPr/>
          </p:nvGrpSpPr>
          <p:grpSpPr>
            <a:xfrm>
              <a:off x="2825242" y="2584419"/>
              <a:ext cx="431428" cy="575117"/>
              <a:chOff x="2887410" y="414748"/>
              <a:chExt cx="431428" cy="575117"/>
            </a:xfrm>
          </p:grpSpPr>
          <p:sp>
            <p:nvSpPr>
              <p:cNvPr id="14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2" name="Oval 14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2" name="Group 131"/>
            <p:cNvGrpSpPr/>
            <p:nvPr/>
          </p:nvGrpSpPr>
          <p:grpSpPr>
            <a:xfrm>
              <a:off x="2343351" y="2871977"/>
              <a:ext cx="431428" cy="575117"/>
              <a:chOff x="2887410" y="414748"/>
              <a:chExt cx="431428" cy="575117"/>
            </a:xfrm>
          </p:grpSpPr>
          <p:sp>
            <p:nvSpPr>
              <p:cNvPr id="13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Oval 13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3" name="Group 132"/>
            <p:cNvGrpSpPr/>
            <p:nvPr/>
          </p:nvGrpSpPr>
          <p:grpSpPr>
            <a:xfrm>
              <a:off x="1815829" y="2440876"/>
              <a:ext cx="431428" cy="575117"/>
              <a:chOff x="2887410" y="414748"/>
              <a:chExt cx="431428" cy="575117"/>
            </a:xfrm>
          </p:grpSpPr>
          <p:sp>
            <p:nvSpPr>
              <p:cNvPr id="13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Oval 13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4" name="Group 133"/>
            <p:cNvGrpSpPr/>
            <p:nvPr/>
          </p:nvGrpSpPr>
          <p:grpSpPr>
            <a:xfrm>
              <a:off x="2434983" y="1261360"/>
              <a:ext cx="431428" cy="575117"/>
              <a:chOff x="2887410" y="414748"/>
              <a:chExt cx="431428" cy="575117"/>
            </a:xfrm>
          </p:grpSpPr>
          <p:sp>
            <p:nvSpPr>
              <p:cNvPr id="13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Oval 13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149" name="Group 148"/>
          <p:cNvGrpSpPr/>
          <p:nvPr/>
        </p:nvGrpSpPr>
        <p:grpSpPr>
          <a:xfrm>
            <a:off x="8402482" y="3596231"/>
            <a:ext cx="815244" cy="779295"/>
            <a:chOff x="1815829" y="1261360"/>
            <a:chExt cx="1584547" cy="2185734"/>
          </a:xfrm>
        </p:grpSpPr>
        <p:grpSp>
          <p:nvGrpSpPr>
            <p:cNvPr id="150" name="Group 149"/>
            <p:cNvGrpSpPr/>
            <p:nvPr/>
          </p:nvGrpSpPr>
          <p:grpSpPr>
            <a:xfrm>
              <a:off x="2393504" y="2009302"/>
              <a:ext cx="431428" cy="575117"/>
              <a:chOff x="2887410" y="414748"/>
              <a:chExt cx="431428" cy="575117"/>
            </a:xfrm>
          </p:grpSpPr>
          <p:sp>
            <p:nvSpPr>
              <p:cNvPr id="16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0" name="Oval 16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1" name="Group 150"/>
            <p:cNvGrpSpPr/>
            <p:nvPr/>
          </p:nvGrpSpPr>
          <p:grpSpPr>
            <a:xfrm>
              <a:off x="2968948" y="1718435"/>
              <a:ext cx="431428" cy="575117"/>
              <a:chOff x="2887410" y="414748"/>
              <a:chExt cx="431428" cy="575117"/>
            </a:xfrm>
          </p:grpSpPr>
          <p:sp>
            <p:nvSpPr>
              <p:cNvPr id="16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8" name="Oval 16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2" name="Group 151"/>
            <p:cNvGrpSpPr/>
            <p:nvPr/>
          </p:nvGrpSpPr>
          <p:grpSpPr>
            <a:xfrm>
              <a:off x="1890068" y="1737899"/>
              <a:ext cx="431428" cy="575117"/>
              <a:chOff x="2887410" y="414748"/>
              <a:chExt cx="431428" cy="575117"/>
            </a:xfrm>
          </p:grpSpPr>
          <p:sp>
            <p:nvSpPr>
              <p:cNvPr id="16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6" name="Oval 16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3" name="Group 152"/>
            <p:cNvGrpSpPr/>
            <p:nvPr/>
          </p:nvGrpSpPr>
          <p:grpSpPr>
            <a:xfrm>
              <a:off x="2825242" y="2584419"/>
              <a:ext cx="431428" cy="575117"/>
              <a:chOff x="2887410" y="414748"/>
              <a:chExt cx="431428" cy="575117"/>
            </a:xfrm>
          </p:grpSpPr>
          <p:sp>
            <p:nvSpPr>
              <p:cNvPr id="16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4" name="Oval 16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4" name="Group 153"/>
            <p:cNvGrpSpPr/>
            <p:nvPr/>
          </p:nvGrpSpPr>
          <p:grpSpPr>
            <a:xfrm>
              <a:off x="2343351" y="2871977"/>
              <a:ext cx="431428" cy="575117"/>
              <a:chOff x="2887410" y="414748"/>
              <a:chExt cx="431428" cy="575117"/>
            </a:xfrm>
          </p:grpSpPr>
          <p:sp>
            <p:nvSpPr>
              <p:cNvPr id="16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2" name="Oval 16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5" name="Group 154"/>
            <p:cNvGrpSpPr/>
            <p:nvPr/>
          </p:nvGrpSpPr>
          <p:grpSpPr>
            <a:xfrm>
              <a:off x="1815829" y="2440876"/>
              <a:ext cx="431428" cy="575117"/>
              <a:chOff x="2887410" y="414748"/>
              <a:chExt cx="431428" cy="575117"/>
            </a:xfrm>
          </p:grpSpPr>
          <p:sp>
            <p:nvSpPr>
              <p:cNvPr id="15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0" name="Oval 15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6" name="Group 155"/>
            <p:cNvGrpSpPr/>
            <p:nvPr/>
          </p:nvGrpSpPr>
          <p:grpSpPr>
            <a:xfrm>
              <a:off x="2434983" y="1261360"/>
              <a:ext cx="431428" cy="575117"/>
              <a:chOff x="2887410" y="414748"/>
              <a:chExt cx="431428" cy="575117"/>
            </a:xfrm>
          </p:grpSpPr>
          <p:sp>
            <p:nvSpPr>
              <p:cNvPr id="15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8" name="Oval 15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171" name="Group 170"/>
          <p:cNvGrpSpPr/>
          <p:nvPr/>
        </p:nvGrpSpPr>
        <p:grpSpPr>
          <a:xfrm>
            <a:off x="3562077" y="2013857"/>
            <a:ext cx="815244" cy="779295"/>
            <a:chOff x="1815829" y="1261360"/>
            <a:chExt cx="1584547" cy="2185734"/>
          </a:xfrm>
        </p:grpSpPr>
        <p:grpSp>
          <p:nvGrpSpPr>
            <p:cNvPr id="172" name="Group 171"/>
            <p:cNvGrpSpPr/>
            <p:nvPr/>
          </p:nvGrpSpPr>
          <p:grpSpPr>
            <a:xfrm>
              <a:off x="2393504" y="2009302"/>
              <a:ext cx="431428" cy="575117"/>
              <a:chOff x="2887410" y="414748"/>
              <a:chExt cx="431428" cy="575117"/>
            </a:xfrm>
          </p:grpSpPr>
          <p:sp>
            <p:nvSpPr>
              <p:cNvPr id="19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2" name="Oval 19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73" name="Group 172"/>
            <p:cNvGrpSpPr/>
            <p:nvPr/>
          </p:nvGrpSpPr>
          <p:grpSpPr>
            <a:xfrm>
              <a:off x="2968948" y="1718435"/>
              <a:ext cx="431428" cy="575117"/>
              <a:chOff x="2887410" y="414748"/>
              <a:chExt cx="431428" cy="575117"/>
            </a:xfrm>
          </p:grpSpPr>
          <p:sp>
            <p:nvSpPr>
              <p:cNvPr id="18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0" name="Oval 18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74" name="Group 173"/>
            <p:cNvGrpSpPr/>
            <p:nvPr/>
          </p:nvGrpSpPr>
          <p:grpSpPr>
            <a:xfrm>
              <a:off x="1890068" y="1737899"/>
              <a:ext cx="431428" cy="575117"/>
              <a:chOff x="2887410" y="414748"/>
              <a:chExt cx="431428" cy="575117"/>
            </a:xfrm>
          </p:grpSpPr>
          <p:sp>
            <p:nvSpPr>
              <p:cNvPr id="18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8" name="Oval 18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75" name="Group 174"/>
            <p:cNvGrpSpPr/>
            <p:nvPr/>
          </p:nvGrpSpPr>
          <p:grpSpPr>
            <a:xfrm>
              <a:off x="2825242" y="2584419"/>
              <a:ext cx="431428" cy="575117"/>
              <a:chOff x="2887410" y="414748"/>
              <a:chExt cx="431428" cy="575117"/>
            </a:xfrm>
          </p:grpSpPr>
          <p:sp>
            <p:nvSpPr>
              <p:cNvPr id="18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6" name="Oval 18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76" name="Group 175"/>
            <p:cNvGrpSpPr/>
            <p:nvPr/>
          </p:nvGrpSpPr>
          <p:grpSpPr>
            <a:xfrm>
              <a:off x="2343351" y="2871977"/>
              <a:ext cx="431428" cy="575117"/>
              <a:chOff x="2887410" y="414748"/>
              <a:chExt cx="431428" cy="575117"/>
            </a:xfrm>
          </p:grpSpPr>
          <p:sp>
            <p:nvSpPr>
              <p:cNvPr id="18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4" name="Oval 18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77" name="Group 176"/>
            <p:cNvGrpSpPr/>
            <p:nvPr/>
          </p:nvGrpSpPr>
          <p:grpSpPr>
            <a:xfrm>
              <a:off x="1815829" y="2440876"/>
              <a:ext cx="431428" cy="575117"/>
              <a:chOff x="2887410" y="414748"/>
              <a:chExt cx="431428" cy="575117"/>
            </a:xfrm>
          </p:grpSpPr>
          <p:sp>
            <p:nvSpPr>
              <p:cNvPr id="18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2" name="Oval 18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78" name="Group 177"/>
            <p:cNvGrpSpPr/>
            <p:nvPr/>
          </p:nvGrpSpPr>
          <p:grpSpPr>
            <a:xfrm>
              <a:off x="2434983" y="1261360"/>
              <a:ext cx="431428" cy="575117"/>
              <a:chOff x="2887410" y="414748"/>
              <a:chExt cx="431428" cy="575117"/>
            </a:xfrm>
          </p:grpSpPr>
          <p:sp>
            <p:nvSpPr>
              <p:cNvPr id="17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0" name="Oval 17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193" name="Group 192"/>
          <p:cNvGrpSpPr/>
          <p:nvPr/>
        </p:nvGrpSpPr>
        <p:grpSpPr>
          <a:xfrm>
            <a:off x="4339324" y="2060209"/>
            <a:ext cx="815244" cy="779295"/>
            <a:chOff x="1815829" y="1261360"/>
            <a:chExt cx="1584547" cy="2185734"/>
          </a:xfrm>
        </p:grpSpPr>
        <p:grpSp>
          <p:nvGrpSpPr>
            <p:cNvPr id="194" name="Group 193"/>
            <p:cNvGrpSpPr/>
            <p:nvPr/>
          </p:nvGrpSpPr>
          <p:grpSpPr>
            <a:xfrm>
              <a:off x="2393504" y="2009302"/>
              <a:ext cx="431428" cy="575117"/>
              <a:chOff x="2887410" y="414748"/>
              <a:chExt cx="431428" cy="575117"/>
            </a:xfrm>
          </p:grpSpPr>
          <p:sp>
            <p:nvSpPr>
              <p:cNvPr id="21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4" name="Oval 21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5" name="Group 194"/>
            <p:cNvGrpSpPr/>
            <p:nvPr/>
          </p:nvGrpSpPr>
          <p:grpSpPr>
            <a:xfrm>
              <a:off x="2968948" y="1718435"/>
              <a:ext cx="431428" cy="575117"/>
              <a:chOff x="2887410" y="414748"/>
              <a:chExt cx="431428" cy="575117"/>
            </a:xfrm>
          </p:grpSpPr>
          <p:sp>
            <p:nvSpPr>
              <p:cNvPr id="21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2" name="Oval 21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6" name="Group 195"/>
            <p:cNvGrpSpPr/>
            <p:nvPr/>
          </p:nvGrpSpPr>
          <p:grpSpPr>
            <a:xfrm>
              <a:off x="1890068" y="1737899"/>
              <a:ext cx="431428" cy="575117"/>
              <a:chOff x="2887410" y="414748"/>
              <a:chExt cx="431428" cy="575117"/>
            </a:xfrm>
          </p:grpSpPr>
          <p:sp>
            <p:nvSpPr>
              <p:cNvPr id="20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0" name="Oval 20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7" name="Group 196"/>
            <p:cNvGrpSpPr/>
            <p:nvPr/>
          </p:nvGrpSpPr>
          <p:grpSpPr>
            <a:xfrm>
              <a:off x="2825242" y="2584419"/>
              <a:ext cx="431428" cy="575117"/>
              <a:chOff x="2887410" y="414748"/>
              <a:chExt cx="431428" cy="575117"/>
            </a:xfrm>
          </p:grpSpPr>
          <p:sp>
            <p:nvSpPr>
              <p:cNvPr id="20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8" name="Oval 20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8" name="Group 197"/>
            <p:cNvGrpSpPr/>
            <p:nvPr/>
          </p:nvGrpSpPr>
          <p:grpSpPr>
            <a:xfrm>
              <a:off x="2343351" y="2871977"/>
              <a:ext cx="431428" cy="575117"/>
              <a:chOff x="2887410" y="414748"/>
              <a:chExt cx="431428" cy="575117"/>
            </a:xfrm>
          </p:grpSpPr>
          <p:sp>
            <p:nvSpPr>
              <p:cNvPr id="20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6" name="Oval 20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9" name="Group 198"/>
            <p:cNvGrpSpPr/>
            <p:nvPr/>
          </p:nvGrpSpPr>
          <p:grpSpPr>
            <a:xfrm>
              <a:off x="1815829" y="2440876"/>
              <a:ext cx="431428" cy="575117"/>
              <a:chOff x="2887410" y="414748"/>
              <a:chExt cx="431428" cy="575117"/>
            </a:xfrm>
          </p:grpSpPr>
          <p:sp>
            <p:nvSpPr>
              <p:cNvPr id="20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4" name="Oval 20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00" name="Group 199"/>
            <p:cNvGrpSpPr/>
            <p:nvPr/>
          </p:nvGrpSpPr>
          <p:grpSpPr>
            <a:xfrm>
              <a:off x="2434983" y="1261360"/>
              <a:ext cx="431428" cy="575117"/>
              <a:chOff x="2887410" y="414748"/>
              <a:chExt cx="431428" cy="575117"/>
            </a:xfrm>
          </p:grpSpPr>
          <p:sp>
            <p:nvSpPr>
              <p:cNvPr id="20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2" name="Oval 20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15" name="Group 214"/>
          <p:cNvGrpSpPr/>
          <p:nvPr/>
        </p:nvGrpSpPr>
        <p:grpSpPr>
          <a:xfrm>
            <a:off x="3746048" y="3483824"/>
            <a:ext cx="815244" cy="779295"/>
            <a:chOff x="1815829" y="1261360"/>
            <a:chExt cx="1584547" cy="2185734"/>
          </a:xfrm>
        </p:grpSpPr>
        <p:grpSp>
          <p:nvGrpSpPr>
            <p:cNvPr id="216" name="Group 215"/>
            <p:cNvGrpSpPr/>
            <p:nvPr/>
          </p:nvGrpSpPr>
          <p:grpSpPr>
            <a:xfrm>
              <a:off x="2393504" y="2009302"/>
              <a:ext cx="431428" cy="575117"/>
              <a:chOff x="2887410" y="414748"/>
              <a:chExt cx="431428" cy="575117"/>
            </a:xfrm>
          </p:grpSpPr>
          <p:sp>
            <p:nvSpPr>
              <p:cNvPr id="23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6" name="Oval 23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17" name="Group 216"/>
            <p:cNvGrpSpPr/>
            <p:nvPr/>
          </p:nvGrpSpPr>
          <p:grpSpPr>
            <a:xfrm>
              <a:off x="2968948" y="1718435"/>
              <a:ext cx="431428" cy="575117"/>
              <a:chOff x="2887410" y="414748"/>
              <a:chExt cx="431428" cy="575117"/>
            </a:xfrm>
          </p:grpSpPr>
          <p:sp>
            <p:nvSpPr>
              <p:cNvPr id="23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4" name="Oval 23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18" name="Group 217"/>
            <p:cNvGrpSpPr/>
            <p:nvPr/>
          </p:nvGrpSpPr>
          <p:grpSpPr>
            <a:xfrm>
              <a:off x="1890068" y="1737899"/>
              <a:ext cx="431428" cy="575117"/>
              <a:chOff x="2887410" y="414748"/>
              <a:chExt cx="431428" cy="575117"/>
            </a:xfrm>
          </p:grpSpPr>
          <p:sp>
            <p:nvSpPr>
              <p:cNvPr id="23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2" name="Oval 23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19" name="Group 218"/>
            <p:cNvGrpSpPr/>
            <p:nvPr/>
          </p:nvGrpSpPr>
          <p:grpSpPr>
            <a:xfrm>
              <a:off x="2825242" y="2584419"/>
              <a:ext cx="431428" cy="575117"/>
              <a:chOff x="2887410" y="414748"/>
              <a:chExt cx="431428" cy="575117"/>
            </a:xfrm>
          </p:grpSpPr>
          <p:sp>
            <p:nvSpPr>
              <p:cNvPr id="22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0" name="Oval 22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0" name="Group 219"/>
            <p:cNvGrpSpPr/>
            <p:nvPr/>
          </p:nvGrpSpPr>
          <p:grpSpPr>
            <a:xfrm>
              <a:off x="2343351" y="2871977"/>
              <a:ext cx="431428" cy="575117"/>
              <a:chOff x="2887410" y="414748"/>
              <a:chExt cx="431428" cy="575117"/>
            </a:xfrm>
          </p:grpSpPr>
          <p:sp>
            <p:nvSpPr>
              <p:cNvPr id="22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8" name="Oval 22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1" name="Group 220"/>
            <p:cNvGrpSpPr/>
            <p:nvPr/>
          </p:nvGrpSpPr>
          <p:grpSpPr>
            <a:xfrm>
              <a:off x="1815829" y="2440876"/>
              <a:ext cx="431428" cy="575117"/>
              <a:chOff x="2887410" y="414748"/>
              <a:chExt cx="431428" cy="575117"/>
            </a:xfrm>
          </p:grpSpPr>
          <p:sp>
            <p:nvSpPr>
              <p:cNvPr id="22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6" name="Oval 22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2" name="Group 221"/>
            <p:cNvGrpSpPr/>
            <p:nvPr/>
          </p:nvGrpSpPr>
          <p:grpSpPr>
            <a:xfrm>
              <a:off x="2434983" y="1261360"/>
              <a:ext cx="431428" cy="575117"/>
              <a:chOff x="2887410" y="414748"/>
              <a:chExt cx="431428" cy="575117"/>
            </a:xfrm>
          </p:grpSpPr>
          <p:sp>
            <p:nvSpPr>
              <p:cNvPr id="22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4" name="Oval 22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37" name="Group 236"/>
          <p:cNvGrpSpPr/>
          <p:nvPr/>
        </p:nvGrpSpPr>
        <p:grpSpPr>
          <a:xfrm>
            <a:off x="8477235" y="2052351"/>
            <a:ext cx="815244" cy="779295"/>
            <a:chOff x="1815829" y="1261360"/>
            <a:chExt cx="1584547" cy="2185734"/>
          </a:xfrm>
        </p:grpSpPr>
        <p:grpSp>
          <p:nvGrpSpPr>
            <p:cNvPr id="238" name="Group 237"/>
            <p:cNvGrpSpPr/>
            <p:nvPr/>
          </p:nvGrpSpPr>
          <p:grpSpPr>
            <a:xfrm>
              <a:off x="2393504" y="2009302"/>
              <a:ext cx="431428" cy="575117"/>
              <a:chOff x="2887410" y="414748"/>
              <a:chExt cx="431428" cy="575117"/>
            </a:xfrm>
          </p:grpSpPr>
          <p:sp>
            <p:nvSpPr>
              <p:cNvPr id="25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8" name="Oval 25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39" name="Group 238"/>
            <p:cNvGrpSpPr/>
            <p:nvPr/>
          </p:nvGrpSpPr>
          <p:grpSpPr>
            <a:xfrm>
              <a:off x="2968948" y="1718435"/>
              <a:ext cx="431428" cy="575117"/>
              <a:chOff x="2887410" y="414748"/>
              <a:chExt cx="431428" cy="575117"/>
            </a:xfrm>
          </p:grpSpPr>
          <p:sp>
            <p:nvSpPr>
              <p:cNvPr id="25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6" name="Oval 25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40" name="Group 239"/>
            <p:cNvGrpSpPr/>
            <p:nvPr/>
          </p:nvGrpSpPr>
          <p:grpSpPr>
            <a:xfrm>
              <a:off x="1890068" y="1737899"/>
              <a:ext cx="431428" cy="575117"/>
              <a:chOff x="2887410" y="414748"/>
              <a:chExt cx="431428" cy="575117"/>
            </a:xfrm>
          </p:grpSpPr>
          <p:sp>
            <p:nvSpPr>
              <p:cNvPr id="25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4" name="Oval 25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41" name="Group 240"/>
            <p:cNvGrpSpPr/>
            <p:nvPr/>
          </p:nvGrpSpPr>
          <p:grpSpPr>
            <a:xfrm>
              <a:off x="2825242" y="2584419"/>
              <a:ext cx="431428" cy="575117"/>
              <a:chOff x="2887410" y="414748"/>
              <a:chExt cx="431428" cy="575117"/>
            </a:xfrm>
          </p:grpSpPr>
          <p:sp>
            <p:nvSpPr>
              <p:cNvPr id="25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2" name="Oval 25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42" name="Group 241"/>
            <p:cNvGrpSpPr/>
            <p:nvPr/>
          </p:nvGrpSpPr>
          <p:grpSpPr>
            <a:xfrm>
              <a:off x="2343351" y="2871977"/>
              <a:ext cx="431428" cy="575117"/>
              <a:chOff x="2887410" y="414748"/>
              <a:chExt cx="431428" cy="575117"/>
            </a:xfrm>
          </p:grpSpPr>
          <p:sp>
            <p:nvSpPr>
              <p:cNvPr id="24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0" name="Oval 24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43" name="Group 242"/>
            <p:cNvGrpSpPr/>
            <p:nvPr/>
          </p:nvGrpSpPr>
          <p:grpSpPr>
            <a:xfrm>
              <a:off x="1815829" y="2440876"/>
              <a:ext cx="431428" cy="575117"/>
              <a:chOff x="2887410" y="414748"/>
              <a:chExt cx="431428" cy="575117"/>
            </a:xfrm>
          </p:grpSpPr>
          <p:sp>
            <p:nvSpPr>
              <p:cNvPr id="24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8" name="Oval 24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44" name="Group 243"/>
            <p:cNvGrpSpPr/>
            <p:nvPr/>
          </p:nvGrpSpPr>
          <p:grpSpPr>
            <a:xfrm>
              <a:off x="2434983" y="1261360"/>
              <a:ext cx="431428" cy="575117"/>
              <a:chOff x="2887410" y="414748"/>
              <a:chExt cx="431428" cy="575117"/>
            </a:xfrm>
          </p:grpSpPr>
          <p:sp>
            <p:nvSpPr>
              <p:cNvPr id="24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6" name="Oval 24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59" name="Group 258"/>
          <p:cNvGrpSpPr/>
          <p:nvPr/>
        </p:nvGrpSpPr>
        <p:grpSpPr>
          <a:xfrm>
            <a:off x="4546893" y="2887906"/>
            <a:ext cx="815244" cy="779295"/>
            <a:chOff x="1815829" y="1261360"/>
            <a:chExt cx="1584547" cy="2185734"/>
          </a:xfrm>
        </p:grpSpPr>
        <p:grpSp>
          <p:nvGrpSpPr>
            <p:cNvPr id="260" name="Group 259"/>
            <p:cNvGrpSpPr/>
            <p:nvPr/>
          </p:nvGrpSpPr>
          <p:grpSpPr>
            <a:xfrm>
              <a:off x="2393504" y="2009302"/>
              <a:ext cx="431428" cy="575117"/>
              <a:chOff x="2887410" y="414748"/>
              <a:chExt cx="431428" cy="575117"/>
            </a:xfrm>
          </p:grpSpPr>
          <p:sp>
            <p:nvSpPr>
              <p:cNvPr id="27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0" name="Oval 27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61" name="Group 260"/>
            <p:cNvGrpSpPr/>
            <p:nvPr/>
          </p:nvGrpSpPr>
          <p:grpSpPr>
            <a:xfrm>
              <a:off x="2968948" y="1718435"/>
              <a:ext cx="431428" cy="575117"/>
              <a:chOff x="2887410" y="414748"/>
              <a:chExt cx="431428" cy="575117"/>
            </a:xfrm>
          </p:grpSpPr>
          <p:sp>
            <p:nvSpPr>
              <p:cNvPr id="27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8" name="Oval 27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62" name="Group 261"/>
            <p:cNvGrpSpPr/>
            <p:nvPr/>
          </p:nvGrpSpPr>
          <p:grpSpPr>
            <a:xfrm>
              <a:off x="1890068" y="1737899"/>
              <a:ext cx="431428" cy="575117"/>
              <a:chOff x="2887410" y="414748"/>
              <a:chExt cx="431428" cy="575117"/>
            </a:xfrm>
          </p:grpSpPr>
          <p:sp>
            <p:nvSpPr>
              <p:cNvPr id="27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6" name="Oval 27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63" name="Group 262"/>
            <p:cNvGrpSpPr/>
            <p:nvPr/>
          </p:nvGrpSpPr>
          <p:grpSpPr>
            <a:xfrm>
              <a:off x="2825242" y="2584419"/>
              <a:ext cx="431428" cy="575117"/>
              <a:chOff x="2887410" y="414748"/>
              <a:chExt cx="431428" cy="575117"/>
            </a:xfrm>
          </p:grpSpPr>
          <p:sp>
            <p:nvSpPr>
              <p:cNvPr id="27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4" name="Oval 27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64" name="Group 263"/>
            <p:cNvGrpSpPr/>
            <p:nvPr/>
          </p:nvGrpSpPr>
          <p:grpSpPr>
            <a:xfrm>
              <a:off x="2343351" y="2871977"/>
              <a:ext cx="431428" cy="575117"/>
              <a:chOff x="2887410" y="414748"/>
              <a:chExt cx="431428" cy="575117"/>
            </a:xfrm>
          </p:grpSpPr>
          <p:sp>
            <p:nvSpPr>
              <p:cNvPr id="27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2" name="Oval 27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65" name="Group 264"/>
            <p:cNvGrpSpPr/>
            <p:nvPr/>
          </p:nvGrpSpPr>
          <p:grpSpPr>
            <a:xfrm>
              <a:off x="1815829" y="2440876"/>
              <a:ext cx="431428" cy="575117"/>
              <a:chOff x="2887410" y="414748"/>
              <a:chExt cx="431428" cy="575117"/>
            </a:xfrm>
          </p:grpSpPr>
          <p:sp>
            <p:nvSpPr>
              <p:cNvPr id="26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0" name="Oval 26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66" name="Group 265"/>
            <p:cNvGrpSpPr/>
            <p:nvPr/>
          </p:nvGrpSpPr>
          <p:grpSpPr>
            <a:xfrm>
              <a:off x="2434983" y="1261360"/>
              <a:ext cx="431428" cy="575117"/>
              <a:chOff x="2887410" y="414748"/>
              <a:chExt cx="431428" cy="575117"/>
            </a:xfrm>
          </p:grpSpPr>
          <p:sp>
            <p:nvSpPr>
              <p:cNvPr id="26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8" name="Oval 26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81" name="Group 280"/>
          <p:cNvGrpSpPr/>
          <p:nvPr/>
        </p:nvGrpSpPr>
        <p:grpSpPr>
          <a:xfrm>
            <a:off x="4009486" y="4198443"/>
            <a:ext cx="815244" cy="779295"/>
            <a:chOff x="1815829" y="1261360"/>
            <a:chExt cx="1584547" cy="2185734"/>
          </a:xfrm>
        </p:grpSpPr>
        <p:grpSp>
          <p:nvGrpSpPr>
            <p:cNvPr id="282" name="Group 281"/>
            <p:cNvGrpSpPr/>
            <p:nvPr/>
          </p:nvGrpSpPr>
          <p:grpSpPr>
            <a:xfrm>
              <a:off x="2393504" y="2009302"/>
              <a:ext cx="431428" cy="575117"/>
              <a:chOff x="2887410" y="414748"/>
              <a:chExt cx="431428" cy="575117"/>
            </a:xfrm>
          </p:grpSpPr>
          <p:sp>
            <p:nvSpPr>
              <p:cNvPr id="30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 name="Oval 30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83" name="Group 282"/>
            <p:cNvGrpSpPr/>
            <p:nvPr/>
          </p:nvGrpSpPr>
          <p:grpSpPr>
            <a:xfrm>
              <a:off x="2968948" y="1718435"/>
              <a:ext cx="431428" cy="575117"/>
              <a:chOff x="2887410" y="414748"/>
              <a:chExt cx="431428" cy="575117"/>
            </a:xfrm>
          </p:grpSpPr>
          <p:sp>
            <p:nvSpPr>
              <p:cNvPr id="29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0" name="Oval 29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84" name="Group 283"/>
            <p:cNvGrpSpPr/>
            <p:nvPr/>
          </p:nvGrpSpPr>
          <p:grpSpPr>
            <a:xfrm>
              <a:off x="1890068" y="1737899"/>
              <a:ext cx="431428" cy="575117"/>
              <a:chOff x="2887410" y="414748"/>
              <a:chExt cx="431428" cy="575117"/>
            </a:xfrm>
          </p:grpSpPr>
          <p:sp>
            <p:nvSpPr>
              <p:cNvPr id="29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8" name="Oval 29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85" name="Group 284"/>
            <p:cNvGrpSpPr/>
            <p:nvPr/>
          </p:nvGrpSpPr>
          <p:grpSpPr>
            <a:xfrm>
              <a:off x="2825242" y="2584419"/>
              <a:ext cx="431428" cy="575117"/>
              <a:chOff x="2887410" y="414748"/>
              <a:chExt cx="431428" cy="575117"/>
            </a:xfrm>
          </p:grpSpPr>
          <p:sp>
            <p:nvSpPr>
              <p:cNvPr id="29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6" name="Oval 29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86" name="Group 285"/>
            <p:cNvGrpSpPr/>
            <p:nvPr/>
          </p:nvGrpSpPr>
          <p:grpSpPr>
            <a:xfrm>
              <a:off x="2343351" y="2871977"/>
              <a:ext cx="431428" cy="575117"/>
              <a:chOff x="2887410" y="414748"/>
              <a:chExt cx="431428" cy="575117"/>
            </a:xfrm>
          </p:grpSpPr>
          <p:sp>
            <p:nvSpPr>
              <p:cNvPr id="29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4" name="Oval 29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87" name="Group 286"/>
            <p:cNvGrpSpPr/>
            <p:nvPr/>
          </p:nvGrpSpPr>
          <p:grpSpPr>
            <a:xfrm>
              <a:off x="1815829" y="2440876"/>
              <a:ext cx="431428" cy="575117"/>
              <a:chOff x="2887410" y="414748"/>
              <a:chExt cx="431428" cy="575117"/>
            </a:xfrm>
          </p:grpSpPr>
          <p:sp>
            <p:nvSpPr>
              <p:cNvPr id="29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2" name="Oval 29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88" name="Group 287"/>
            <p:cNvGrpSpPr/>
            <p:nvPr/>
          </p:nvGrpSpPr>
          <p:grpSpPr>
            <a:xfrm>
              <a:off x="2434983" y="1261360"/>
              <a:ext cx="431428" cy="575117"/>
              <a:chOff x="2887410" y="414748"/>
              <a:chExt cx="431428" cy="575117"/>
            </a:xfrm>
          </p:grpSpPr>
          <p:sp>
            <p:nvSpPr>
              <p:cNvPr id="28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0" name="Oval 28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303" name="Group 302"/>
          <p:cNvGrpSpPr/>
          <p:nvPr/>
        </p:nvGrpSpPr>
        <p:grpSpPr>
          <a:xfrm>
            <a:off x="4618009" y="3562001"/>
            <a:ext cx="815244" cy="779295"/>
            <a:chOff x="1815829" y="1261360"/>
            <a:chExt cx="1584547" cy="2185734"/>
          </a:xfrm>
        </p:grpSpPr>
        <p:grpSp>
          <p:nvGrpSpPr>
            <p:cNvPr id="304" name="Group 303"/>
            <p:cNvGrpSpPr/>
            <p:nvPr/>
          </p:nvGrpSpPr>
          <p:grpSpPr>
            <a:xfrm>
              <a:off x="2393504" y="2009302"/>
              <a:ext cx="431428" cy="575117"/>
              <a:chOff x="2887410" y="414748"/>
              <a:chExt cx="431428" cy="575117"/>
            </a:xfrm>
          </p:grpSpPr>
          <p:sp>
            <p:nvSpPr>
              <p:cNvPr id="32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4" name="Oval 32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05" name="Group 304"/>
            <p:cNvGrpSpPr/>
            <p:nvPr/>
          </p:nvGrpSpPr>
          <p:grpSpPr>
            <a:xfrm>
              <a:off x="2968948" y="1718435"/>
              <a:ext cx="431428" cy="575117"/>
              <a:chOff x="2887410" y="414748"/>
              <a:chExt cx="431428" cy="575117"/>
            </a:xfrm>
          </p:grpSpPr>
          <p:sp>
            <p:nvSpPr>
              <p:cNvPr id="32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2" name="Oval 32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06" name="Group 305"/>
            <p:cNvGrpSpPr/>
            <p:nvPr/>
          </p:nvGrpSpPr>
          <p:grpSpPr>
            <a:xfrm>
              <a:off x="1890068" y="1737899"/>
              <a:ext cx="431428" cy="575117"/>
              <a:chOff x="2887410" y="414748"/>
              <a:chExt cx="431428" cy="575117"/>
            </a:xfrm>
          </p:grpSpPr>
          <p:sp>
            <p:nvSpPr>
              <p:cNvPr id="31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0" name="Oval 31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07" name="Group 306"/>
            <p:cNvGrpSpPr/>
            <p:nvPr/>
          </p:nvGrpSpPr>
          <p:grpSpPr>
            <a:xfrm>
              <a:off x="2825242" y="2584419"/>
              <a:ext cx="431428" cy="575117"/>
              <a:chOff x="2887410" y="414748"/>
              <a:chExt cx="431428" cy="575117"/>
            </a:xfrm>
          </p:grpSpPr>
          <p:sp>
            <p:nvSpPr>
              <p:cNvPr id="31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8" name="Oval 31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08" name="Group 307"/>
            <p:cNvGrpSpPr/>
            <p:nvPr/>
          </p:nvGrpSpPr>
          <p:grpSpPr>
            <a:xfrm>
              <a:off x="2343351" y="2871977"/>
              <a:ext cx="431428" cy="575117"/>
              <a:chOff x="2887410" y="414748"/>
              <a:chExt cx="431428" cy="575117"/>
            </a:xfrm>
          </p:grpSpPr>
          <p:sp>
            <p:nvSpPr>
              <p:cNvPr id="31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6" name="Oval 31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09" name="Group 308"/>
            <p:cNvGrpSpPr/>
            <p:nvPr/>
          </p:nvGrpSpPr>
          <p:grpSpPr>
            <a:xfrm>
              <a:off x="1815829" y="2440876"/>
              <a:ext cx="431428" cy="575117"/>
              <a:chOff x="2887410" y="414748"/>
              <a:chExt cx="431428" cy="575117"/>
            </a:xfrm>
          </p:grpSpPr>
          <p:sp>
            <p:nvSpPr>
              <p:cNvPr id="31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4" name="Oval 31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10" name="Group 309"/>
            <p:cNvGrpSpPr/>
            <p:nvPr/>
          </p:nvGrpSpPr>
          <p:grpSpPr>
            <a:xfrm>
              <a:off x="2434983" y="1261360"/>
              <a:ext cx="431428" cy="575117"/>
              <a:chOff x="2887410" y="414748"/>
              <a:chExt cx="431428" cy="575117"/>
            </a:xfrm>
          </p:grpSpPr>
          <p:sp>
            <p:nvSpPr>
              <p:cNvPr id="31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2" name="Oval 31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325" name="Group 324"/>
          <p:cNvGrpSpPr/>
          <p:nvPr/>
        </p:nvGrpSpPr>
        <p:grpSpPr>
          <a:xfrm>
            <a:off x="2667960" y="3958148"/>
            <a:ext cx="815244" cy="779295"/>
            <a:chOff x="1815829" y="1261360"/>
            <a:chExt cx="1584547" cy="2185734"/>
          </a:xfrm>
        </p:grpSpPr>
        <p:grpSp>
          <p:nvGrpSpPr>
            <p:cNvPr id="326" name="Group 325"/>
            <p:cNvGrpSpPr/>
            <p:nvPr/>
          </p:nvGrpSpPr>
          <p:grpSpPr>
            <a:xfrm>
              <a:off x="2393504" y="2009302"/>
              <a:ext cx="431428" cy="575117"/>
              <a:chOff x="2887410" y="414748"/>
              <a:chExt cx="431428" cy="575117"/>
            </a:xfrm>
          </p:grpSpPr>
          <p:sp>
            <p:nvSpPr>
              <p:cNvPr id="34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6" name="Oval 34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27" name="Group 326"/>
            <p:cNvGrpSpPr/>
            <p:nvPr/>
          </p:nvGrpSpPr>
          <p:grpSpPr>
            <a:xfrm>
              <a:off x="2968948" y="1718435"/>
              <a:ext cx="431428" cy="575117"/>
              <a:chOff x="2887410" y="414748"/>
              <a:chExt cx="431428" cy="575117"/>
            </a:xfrm>
          </p:grpSpPr>
          <p:sp>
            <p:nvSpPr>
              <p:cNvPr id="34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4" name="Oval 34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28" name="Group 327"/>
            <p:cNvGrpSpPr/>
            <p:nvPr/>
          </p:nvGrpSpPr>
          <p:grpSpPr>
            <a:xfrm>
              <a:off x="1890068" y="1737899"/>
              <a:ext cx="431428" cy="575117"/>
              <a:chOff x="2887410" y="414748"/>
              <a:chExt cx="431428" cy="575117"/>
            </a:xfrm>
          </p:grpSpPr>
          <p:sp>
            <p:nvSpPr>
              <p:cNvPr id="34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2" name="Oval 34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29" name="Group 328"/>
            <p:cNvGrpSpPr/>
            <p:nvPr/>
          </p:nvGrpSpPr>
          <p:grpSpPr>
            <a:xfrm>
              <a:off x="2825242" y="2584419"/>
              <a:ext cx="431428" cy="575117"/>
              <a:chOff x="2887410" y="414748"/>
              <a:chExt cx="431428" cy="575117"/>
            </a:xfrm>
          </p:grpSpPr>
          <p:sp>
            <p:nvSpPr>
              <p:cNvPr id="33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0" name="Oval 33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30" name="Group 329"/>
            <p:cNvGrpSpPr/>
            <p:nvPr/>
          </p:nvGrpSpPr>
          <p:grpSpPr>
            <a:xfrm>
              <a:off x="2343351" y="2871977"/>
              <a:ext cx="431428" cy="575117"/>
              <a:chOff x="2887410" y="414748"/>
              <a:chExt cx="431428" cy="575117"/>
            </a:xfrm>
          </p:grpSpPr>
          <p:sp>
            <p:nvSpPr>
              <p:cNvPr id="33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8" name="Oval 33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31" name="Group 330"/>
            <p:cNvGrpSpPr/>
            <p:nvPr/>
          </p:nvGrpSpPr>
          <p:grpSpPr>
            <a:xfrm>
              <a:off x="1815829" y="2440876"/>
              <a:ext cx="431428" cy="575117"/>
              <a:chOff x="2887410" y="414748"/>
              <a:chExt cx="431428" cy="575117"/>
            </a:xfrm>
          </p:grpSpPr>
          <p:sp>
            <p:nvSpPr>
              <p:cNvPr id="33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6" name="Oval 33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32" name="Group 331"/>
            <p:cNvGrpSpPr/>
            <p:nvPr/>
          </p:nvGrpSpPr>
          <p:grpSpPr>
            <a:xfrm>
              <a:off x="2434983" y="1261360"/>
              <a:ext cx="431428" cy="575117"/>
              <a:chOff x="2887410" y="414748"/>
              <a:chExt cx="431428" cy="575117"/>
            </a:xfrm>
          </p:grpSpPr>
          <p:sp>
            <p:nvSpPr>
              <p:cNvPr id="33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4" name="Oval 33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347" name="Group 346"/>
          <p:cNvGrpSpPr/>
          <p:nvPr/>
        </p:nvGrpSpPr>
        <p:grpSpPr>
          <a:xfrm>
            <a:off x="8607877" y="2774984"/>
            <a:ext cx="815244" cy="779295"/>
            <a:chOff x="1815829" y="1261360"/>
            <a:chExt cx="1584547" cy="2185734"/>
          </a:xfrm>
        </p:grpSpPr>
        <p:grpSp>
          <p:nvGrpSpPr>
            <p:cNvPr id="348" name="Group 347"/>
            <p:cNvGrpSpPr/>
            <p:nvPr/>
          </p:nvGrpSpPr>
          <p:grpSpPr>
            <a:xfrm>
              <a:off x="2393504" y="2009302"/>
              <a:ext cx="431428" cy="575117"/>
              <a:chOff x="2887410" y="414748"/>
              <a:chExt cx="431428" cy="575117"/>
            </a:xfrm>
          </p:grpSpPr>
          <p:sp>
            <p:nvSpPr>
              <p:cNvPr id="36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8" name="Oval 36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49" name="Group 348"/>
            <p:cNvGrpSpPr/>
            <p:nvPr/>
          </p:nvGrpSpPr>
          <p:grpSpPr>
            <a:xfrm>
              <a:off x="2968948" y="1718435"/>
              <a:ext cx="431428" cy="575117"/>
              <a:chOff x="2887410" y="414748"/>
              <a:chExt cx="431428" cy="575117"/>
            </a:xfrm>
          </p:grpSpPr>
          <p:sp>
            <p:nvSpPr>
              <p:cNvPr id="36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6" name="Oval 36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50" name="Group 349"/>
            <p:cNvGrpSpPr/>
            <p:nvPr/>
          </p:nvGrpSpPr>
          <p:grpSpPr>
            <a:xfrm>
              <a:off x="1890068" y="1737899"/>
              <a:ext cx="431428" cy="575117"/>
              <a:chOff x="2887410" y="414748"/>
              <a:chExt cx="431428" cy="575117"/>
            </a:xfrm>
          </p:grpSpPr>
          <p:sp>
            <p:nvSpPr>
              <p:cNvPr id="36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4" name="Oval 36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51" name="Group 350"/>
            <p:cNvGrpSpPr/>
            <p:nvPr/>
          </p:nvGrpSpPr>
          <p:grpSpPr>
            <a:xfrm>
              <a:off x="2825242" y="2584419"/>
              <a:ext cx="431428" cy="575117"/>
              <a:chOff x="2887410" y="414748"/>
              <a:chExt cx="431428" cy="575117"/>
            </a:xfrm>
          </p:grpSpPr>
          <p:sp>
            <p:nvSpPr>
              <p:cNvPr id="36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2" name="Oval 36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52" name="Group 351"/>
            <p:cNvGrpSpPr/>
            <p:nvPr/>
          </p:nvGrpSpPr>
          <p:grpSpPr>
            <a:xfrm>
              <a:off x="2343351" y="2871977"/>
              <a:ext cx="431428" cy="575117"/>
              <a:chOff x="2887410" y="414748"/>
              <a:chExt cx="431428" cy="575117"/>
            </a:xfrm>
          </p:grpSpPr>
          <p:sp>
            <p:nvSpPr>
              <p:cNvPr id="35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0" name="Oval 35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53" name="Group 352"/>
            <p:cNvGrpSpPr/>
            <p:nvPr/>
          </p:nvGrpSpPr>
          <p:grpSpPr>
            <a:xfrm>
              <a:off x="1815829" y="2440876"/>
              <a:ext cx="431428" cy="575117"/>
              <a:chOff x="2887410" y="414748"/>
              <a:chExt cx="431428" cy="575117"/>
            </a:xfrm>
          </p:grpSpPr>
          <p:sp>
            <p:nvSpPr>
              <p:cNvPr id="35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8" name="Oval 35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54" name="Group 353"/>
            <p:cNvGrpSpPr/>
            <p:nvPr/>
          </p:nvGrpSpPr>
          <p:grpSpPr>
            <a:xfrm>
              <a:off x="2434983" y="1261360"/>
              <a:ext cx="431428" cy="575117"/>
              <a:chOff x="2887410" y="414748"/>
              <a:chExt cx="431428" cy="575117"/>
            </a:xfrm>
          </p:grpSpPr>
          <p:sp>
            <p:nvSpPr>
              <p:cNvPr id="35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6" name="Oval 35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369" name="Group 368"/>
          <p:cNvGrpSpPr/>
          <p:nvPr/>
        </p:nvGrpSpPr>
        <p:grpSpPr>
          <a:xfrm>
            <a:off x="7784240" y="1960258"/>
            <a:ext cx="815244" cy="779295"/>
            <a:chOff x="1815829" y="1261360"/>
            <a:chExt cx="1584547" cy="2185734"/>
          </a:xfrm>
        </p:grpSpPr>
        <p:grpSp>
          <p:nvGrpSpPr>
            <p:cNvPr id="370" name="Group 369"/>
            <p:cNvGrpSpPr/>
            <p:nvPr/>
          </p:nvGrpSpPr>
          <p:grpSpPr>
            <a:xfrm>
              <a:off x="2393504" y="2009302"/>
              <a:ext cx="431428" cy="575117"/>
              <a:chOff x="2887410" y="414748"/>
              <a:chExt cx="431428" cy="575117"/>
            </a:xfrm>
          </p:grpSpPr>
          <p:sp>
            <p:nvSpPr>
              <p:cNvPr id="38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0" name="Oval 38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71" name="Group 370"/>
            <p:cNvGrpSpPr/>
            <p:nvPr/>
          </p:nvGrpSpPr>
          <p:grpSpPr>
            <a:xfrm>
              <a:off x="2968948" y="1718435"/>
              <a:ext cx="431428" cy="575117"/>
              <a:chOff x="2887410" y="414748"/>
              <a:chExt cx="431428" cy="575117"/>
            </a:xfrm>
          </p:grpSpPr>
          <p:sp>
            <p:nvSpPr>
              <p:cNvPr id="38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8" name="Oval 38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72" name="Group 371"/>
            <p:cNvGrpSpPr/>
            <p:nvPr/>
          </p:nvGrpSpPr>
          <p:grpSpPr>
            <a:xfrm>
              <a:off x="1890068" y="1737899"/>
              <a:ext cx="431428" cy="575117"/>
              <a:chOff x="2887410" y="414748"/>
              <a:chExt cx="431428" cy="575117"/>
            </a:xfrm>
          </p:grpSpPr>
          <p:sp>
            <p:nvSpPr>
              <p:cNvPr id="38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6" name="Oval 38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73" name="Group 372"/>
            <p:cNvGrpSpPr/>
            <p:nvPr/>
          </p:nvGrpSpPr>
          <p:grpSpPr>
            <a:xfrm>
              <a:off x="2825242" y="2584419"/>
              <a:ext cx="431428" cy="575117"/>
              <a:chOff x="2887410" y="414748"/>
              <a:chExt cx="431428" cy="575117"/>
            </a:xfrm>
          </p:grpSpPr>
          <p:sp>
            <p:nvSpPr>
              <p:cNvPr id="38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4" name="Oval 38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74" name="Group 373"/>
            <p:cNvGrpSpPr/>
            <p:nvPr/>
          </p:nvGrpSpPr>
          <p:grpSpPr>
            <a:xfrm>
              <a:off x="2343351" y="2871977"/>
              <a:ext cx="431428" cy="575117"/>
              <a:chOff x="2887410" y="414748"/>
              <a:chExt cx="431428" cy="575117"/>
            </a:xfrm>
          </p:grpSpPr>
          <p:sp>
            <p:nvSpPr>
              <p:cNvPr id="38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2" name="Oval 38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75" name="Group 374"/>
            <p:cNvGrpSpPr/>
            <p:nvPr/>
          </p:nvGrpSpPr>
          <p:grpSpPr>
            <a:xfrm>
              <a:off x="1815829" y="2440876"/>
              <a:ext cx="431428" cy="575117"/>
              <a:chOff x="2887410" y="414748"/>
              <a:chExt cx="431428" cy="575117"/>
            </a:xfrm>
          </p:grpSpPr>
          <p:sp>
            <p:nvSpPr>
              <p:cNvPr id="37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0" name="Oval 37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76" name="Group 375"/>
            <p:cNvGrpSpPr/>
            <p:nvPr/>
          </p:nvGrpSpPr>
          <p:grpSpPr>
            <a:xfrm>
              <a:off x="2434983" y="1261360"/>
              <a:ext cx="431428" cy="575117"/>
              <a:chOff x="2887410" y="414748"/>
              <a:chExt cx="431428" cy="575117"/>
            </a:xfrm>
          </p:grpSpPr>
          <p:sp>
            <p:nvSpPr>
              <p:cNvPr id="37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8" name="Oval 37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391" name="Group 390"/>
          <p:cNvGrpSpPr/>
          <p:nvPr/>
        </p:nvGrpSpPr>
        <p:grpSpPr>
          <a:xfrm>
            <a:off x="2818153" y="2176341"/>
            <a:ext cx="815244" cy="779295"/>
            <a:chOff x="1815829" y="1261360"/>
            <a:chExt cx="1584547" cy="2185734"/>
          </a:xfrm>
        </p:grpSpPr>
        <p:grpSp>
          <p:nvGrpSpPr>
            <p:cNvPr id="392" name="Group 391"/>
            <p:cNvGrpSpPr/>
            <p:nvPr/>
          </p:nvGrpSpPr>
          <p:grpSpPr>
            <a:xfrm>
              <a:off x="2393504" y="2009302"/>
              <a:ext cx="431428" cy="575117"/>
              <a:chOff x="2887410" y="414748"/>
              <a:chExt cx="431428" cy="575117"/>
            </a:xfrm>
          </p:grpSpPr>
          <p:sp>
            <p:nvSpPr>
              <p:cNvPr id="41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2" name="Oval 41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93" name="Group 392"/>
            <p:cNvGrpSpPr/>
            <p:nvPr/>
          </p:nvGrpSpPr>
          <p:grpSpPr>
            <a:xfrm>
              <a:off x="2968948" y="1718435"/>
              <a:ext cx="431428" cy="575117"/>
              <a:chOff x="2887410" y="414748"/>
              <a:chExt cx="431428" cy="575117"/>
            </a:xfrm>
          </p:grpSpPr>
          <p:sp>
            <p:nvSpPr>
              <p:cNvPr id="40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0" name="Oval 40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94" name="Group 393"/>
            <p:cNvGrpSpPr/>
            <p:nvPr/>
          </p:nvGrpSpPr>
          <p:grpSpPr>
            <a:xfrm>
              <a:off x="1890068" y="1737899"/>
              <a:ext cx="431428" cy="575117"/>
              <a:chOff x="2887410" y="414748"/>
              <a:chExt cx="431428" cy="575117"/>
            </a:xfrm>
          </p:grpSpPr>
          <p:sp>
            <p:nvSpPr>
              <p:cNvPr id="40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8" name="Oval 40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95" name="Group 394"/>
            <p:cNvGrpSpPr/>
            <p:nvPr/>
          </p:nvGrpSpPr>
          <p:grpSpPr>
            <a:xfrm>
              <a:off x="2825242" y="2584419"/>
              <a:ext cx="431428" cy="575117"/>
              <a:chOff x="2887410" y="414748"/>
              <a:chExt cx="431428" cy="575117"/>
            </a:xfrm>
          </p:grpSpPr>
          <p:sp>
            <p:nvSpPr>
              <p:cNvPr id="40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6" name="Oval 40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96" name="Group 395"/>
            <p:cNvGrpSpPr/>
            <p:nvPr/>
          </p:nvGrpSpPr>
          <p:grpSpPr>
            <a:xfrm>
              <a:off x="2343351" y="2871977"/>
              <a:ext cx="431428" cy="575117"/>
              <a:chOff x="2887410" y="414748"/>
              <a:chExt cx="431428" cy="575117"/>
            </a:xfrm>
          </p:grpSpPr>
          <p:sp>
            <p:nvSpPr>
              <p:cNvPr id="40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4" name="Oval 40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97" name="Group 396"/>
            <p:cNvGrpSpPr/>
            <p:nvPr/>
          </p:nvGrpSpPr>
          <p:grpSpPr>
            <a:xfrm>
              <a:off x="1815829" y="2440876"/>
              <a:ext cx="431428" cy="575117"/>
              <a:chOff x="2887410" y="414748"/>
              <a:chExt cx="431428" cy="575117"/>
            </a:xfrm>
          </p:grpSpPr>
          <p:sp>
            <p:nvSpPr>
              <p:cNvPr id="40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2" name="Oval 40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98" name="Group 397"/>
            <p:cNvGrpSpPr/>
            <p:nvPr/>
          </p:nvGrpSpPr>
          <p:grpSpPr>
            <a:xfrm>
              <a:off x="2434983" y="1261360"/>
              <a:ext cx="431428" cy="575117"/>
              <a:chOff x="2887410" y="414748"/>
              <a:chExt cx="431428" cy="575117"/>
            </a:xfrm>
          </p:grpSpPr>
          <p:sp>
            <p:nvSpPr>
              <p:cNvPr id="39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0" name="Oval 39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413" name="Group 412"/>
          <p:cNvGrpSpPr/>
          <p:nvPr/>
        </p:nvGrpSpPr>
        <p:grpSpPr>
          <a:xfrm>
            <a:off x="7941239" y="2717508"/>
            <a:ext cx="815244" cy="779295"/>
            <a:chOff x="1815829" y="1261360"/>
            <a:chExt cx="1584547" cy="2185734"/>
          </a:xfrm>
        </p:grpSpPr>
        <p:grpSp>
          <p:nvGrpSpPr>
            <p:cNvPr id="414" name="Group 413"/>
            <p:cNvGrpSpPr/>
            <p:nvPr/>
          </p:nvGrpSpPr>
          <p:grpSpPr>
            <a:xfrm>
              <a:off x="2393504" y="2009302"/>
              <a:ext cx="431428" cy="575117"/>
              <a:chOff x="2887410" y="414748"/>
              <a:chExt cx="431428" cy="575117"/>
            </a:xfrm>
          </p:grpSpPr>
          <p:sp>
            <p:nvSpPr>
              <p:cNvPr id="43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4" name="Oval 43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15" name="Group 414"/>
            <p:cNvGrpSpPr/>
            <p:nvPr/>
          </p:nvGrpSpPr>
          <p:grpSpPr>
            <a:xfrm>
              <a:off x="2968948" y="1718435"/>
              <a:ext cx="431428" cy="575117"/>
              <a:chOff x="2887410" y="414748"/>
              <a:chExt cx="431428" cy="575117"/>
            </a:xfrm>
          </p:grpSpPr>
          <p:sp>
            <p:nvSpPr>
              <p:cNvPr id="43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2" name="Oval 43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16" name="Group 415"/>
            <p:cNvGrpSpPr/>
            <p:nvPr/>
          </p:nvGrpSpPr>
          <p:grpSpPr>
            <a:xfrm>
              <a:off x="1890068" y="1737899"/>
              <a:ext cx="431428" cy="575117"/>
              <a:chOff x="2887410" y="414748"/>
              <a:chExt cx="431428" cy="575117"/>
            </a:xfrm>
          </p:grpSpPr>
          <p:sp>
            <p:nvSpPr>
              <p:cNvPr id="42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0" name="Oval 42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17" name="Group 416"/>
            <p:cNvGrpSpPr/>
            <p:nvPr/>
          </p:nvGrpSpPr>
          <p:grpSpPr>
            <a:xfrm>
              <a:off x="2825242" y="2584419"/>
              <a:ext cx="431428" cy="575117"/>
              <a:chOff x="2887410" y="414748"/>
              <a:chExt cx="431428" cy="575117"/>
            </a:xfrm>
          </p:grpSpPr>
          <p:sp>
            <p:nvSpPr>
              <p:cNvPr id="42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8" name="Oval 42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18" name="Group 417"/>
            <p:cNvGrpSpPr/>
            <p:nvPr/>
          </p:nvGrpSpPr>
          <p:grpSpPr>
            <a:xfrm>
              <a:off x="2343351" y="2871977"/>
              <a:ext cx="431428" cy="575117"/>
              <a:chOff x="2887410" y="414748"/>
              <a:chExt cx="431428" cy="575117"/>
            </a:xfrm>
          </p:grpSpPr>
          <p:sp>
            <p:nvSpPr>
              <p:cNvPr id="42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6" name="Oval 42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19" name="Group 418"/>
            <p:cNvGrpSpPr/>
            <p:nvPr/>
          </p:nvGrpSpPr>
          <p:grpSpPr>
            <a:xfrm>
              <a:off x="1815829" y="2440876"/>
              <a:ext cx="431428" cy="575117"/>
              <a:chOff x="2887410" y="414748"/>
              <a:chExt cx="431428" cy="575117"/>
            </a:xfrm>
          </p:grpSpPr>
          <p:sp>
            <p:nvSpPr>
              <p:cNvPr id="42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4" name="Oval 42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20" name="Group 419"/>
            <p:cNvGrpSpPr/>
            <p:nvPr/>
          </p:nvGrpSpPr>
          <p:grpSpPr>
            <a:xfrm>
              <a:off x="2434983" y="1261360"/>
              <a:ext cx="431428" cy="575117"/>
              <a:chOff x="2887410" y="414748"/>
              <a:chExt cx="431428" cy="575117"/>
            </a:xfrm>
          </p:grpSpPr>
          <p:sp>
            <p:nvSpPr>
              <p:cNvPr id="42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2" name="Oval 42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435" name="Group 434"/>
          <p:cNvGrpSpPr/>
          <p:nvPr/>
        </p:nvGrpSpPr>
        <p:grpSpPr>
          <a:xfrm>
            <a:off x="7265789" y="2514135"/>
            <a:ext cx="815244" cy="779295"/>
            <a:chOff x="1815829" y="1261360"/>
            <a:chExt cx="1584547" cy="2185734"/>
          </a:xfrm>
        </p:grpSpPr>
        <p:grpSp>
          <p:nvGrpSpPr>
            <p:cNvPr id="436" name="Group 435"/>
            <p:cNvGrpSpPr/>
            <p:nvPr/>
          </p:nvGrpSpPr>
          <p:grpSpPr>
            <a:xfrm>
              <a:off x="2393504" y="2009302"/>
              <a:ext cx="431428" cy="575117"/>
              <a:chOff x="2887410" y="414748"/>
              <a:chExt cx="431428" cy="575117"/>
            </a:xfrm>
          </p:grpSpPr>
          <p:sp>
            <p:nvSpPr>
              <p:cNvPr id="45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6" name="Oval 45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37" name="Group 436"/>
            <p:cNvGrpSpPr/>
            <p:nvPr/>
          </p:nvGrpSpPr>
          <p:grpSpPr>
            <a:xfrm>
              <a:off x="2968948" y="1718435"/>
              <a:ext cx="431428" cy="575117"/>
              <a:chOff x="2887410" y="414748"/>
              <a:chExt cx="431428" cy="575117"/>
            </a:xfrm>
          </p:grpSpPr>
          <p:sp>
            <p:nvSpPr>
              <p:cNvPr id="45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4" name="Oval 45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38" name="Group 437"/>
            <p:cNvGrpSpPr/>
            <p:nvPr/>
          </p:nvGrpSpPr>
          <p:grpSpPr>
            <a:xfrm>
              <a:off x="1890068" y="1737899"/>
              <a:ext cx="431428" cy="575117"/>
              <a:chOff x="2887410" y="414748"/>
              <a:chExt cx="431428" cy="575117"/>
            </a:xfrm>
          </p:grpSpPr>
          <p:sp>
            <p:nvSpPr>
              <p:cNvPr id="45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2" name="Oval 45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39" name="Group 438"/>
            <p:cNvGrpSpPr/>
            <p:nvPr/>
          </p:nvGrpSpPr>
          <p:grpSpPr>
            <a:xfrm>
              <a:off x="2825242" y="2584419"/>
              <a:ext cx="431428" cy="575117"/>
              <a:chOff x="2887410" y="414748"/>
              <a:chExt cx="431428" cy="575117"/>
            </a:xfrm>
          </p:grpSpPr>
          <p:sp>
            <p:nvSpPr>
              <p:cNvPr id="44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0" name="Oval 44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40" name="Group 439"/>
            <p:cNvGrpSpPr/>
            <p:nvPr/>
          </p:nvGrpSpPr>
          <p:grpSpPr>
            <a:xfrm>
              <a:off x="2343351" y="2871977"/>
              <a:ext cx="431428" cy="575117"/>
              <a:chOff x="2887410" y="414748"/>
              <a:chExt cx="431428" cy="575117"/>
            </a:xfrm>
          </p:grpSpPr>
          <p:sp>
            <p:nvSpPr>
              <p:cNvPr id="44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8" name="Oval 44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41" name="Group 440"/>
            <p:cNvGrpSpPr/>
            <p:nvPr/>
          </p:nvGrpSpPr>
          <p:grpSpPr>
            <a:xfrm>
              <a:off x="1815829" y="2440876"/>
              <a:ext cx="431428" cy="575117"/>
              <a:chOff x="2887410" y="414748"/>
              <a:chExt cx="431428" cy="575117"/>
            </a:xfrm>
          </p:grpSpPr>
          <p:sp>
            <p:nvSpPr>
              <p:cNvPr id="44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6" name="Oval 44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42" name="Group 441"/>
            <p:cNvGrpSpPr/>
            <p:nvPr/>
          </p:nvGrpSpPr>
          <p:grpSpPr>
            <a:xfrm>
              <a:off x="2434983" y="1261360"/>
              <a:ext cx="431428" cy="575117"/>
              <a:chOff x="2887410" y="414748"/>
              <a:chExt cx="431428" cy="575117"/>
            </a:xfrm>
          </p:grpSpPr>
          <p:sp>
            <p:nvSpPr>
              <p:cNvPr id="44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4" name="Oval 44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457" name="Group 456"/>
          <p:cNvGrpSpPr/>
          <p:nvPr/>
        </p:nvGrpSpPr>
        <p:grpSpPr>
          <a:xfrm>
            <a:off x="2970553" y="2328741"/>
            <a:ext cx="815244" cy="779295"/>
            <a:chOff x="1815829" y="1261360"/>
            <a:chExt cx="1584547" cy="2185734"/>
          </a:xfrm>
        </p:grpSpPr>
        <p:grpSp>
          <p:nvGrpSpPr>
            <p:cNvPr id="458" name="Group 457"/>
            <p:cNvGrpSpPr/>
            <p:nvPr/>
          </p:nvGrpSpPr>
          <p:grpSpPr>
            <a:xfrm>
              <a:off x="2393504" y="2009302"/>
              <a:ext cx="431428" cy="575117"/>
              <a:chOff x="2887410" y="414748"/>
              <a:chExt cx="431428" cy="575117"/>
            </a:xfrm>
          </p:grpSpPr>
          <p:sp>
            <p:nvSpPr>
              <p:cNvPr id="47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8" name="Oval 47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59" name="Group 458"/>
            <p:cNvGrpSpPr/>
            <p:nvPr/>
          </p:nvGrpSpPr>
          <p:grpSpPr>
            <a:xfrm>
              <a:off x="2968948" y="1718435"/>
              <a:ext cx="431428" cy="575117"/>
              <a:chOff x="2887410" y="414748"/>
              <a:chExt cx="431428" cy="575117"/>
            </a:xfrm>
          </p:grpSpPr>
          <p:sp>
            <p:nvSpPr>
              <p:cNvPr id="47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6" name="Oval 47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60" name="Group 459"/>
            <p:cNvGrpSpPr/>
            <p:nvPr/>
          </p:nvGrpSpPr>
          <p:grpSpPr>
            <a:xfrm>
              <a:off x="1890068" y="1737899"/>
              <a:ext cx="431428" cy="575117"/>
              <a:chOff x="2887410" y="414748"/>
              <a:chExt cx="431428" cy="575117"/>
            </a:xfrm>
          </p:grpSpPr>
          <p:sp>
            <p:nvSpPr>
              <p:cNvPr id="47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4" name="Oval 47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61" name="Group 460"/>
            <p:cNvGrpSpPr/>
            <p:nvPr/>
          </p:nvGrpSpPr>
          <p:grpSpPr>
            <a:xfrm>
              <a:off x="2825242" y="2584419"/>
              <a:ext cx="431428" cy="575117"/>
              <a:chOff x="2887410" y="414748"/>
              <a:chExt cx="431428" cy="575117"/>
            </a:xfrm>
          </p:grpSpPr>
          <p:sp>
            <p:nvSpPr>
              <p:cNvPr id="47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2" name="Oval 47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62" name="Group 461"/>
            <p:cNvGrpSpPr/>
            <p:nvPr/>
          </p:nvGrpSpPr>
          <p:grpSpPr>
            <a:xfrm>
              <a:off x="2343351" y="2871977"/>
              <a:ext cx="431428" cy="575117"/>
              <a:chOff x="2887410" y="414748"/>
              <a:chExt cx="431428" cy="575117"/>
            </a:xfrm>
          </p:grpSpPr>
          <p:sp>
            <p:nvSpPr>
              <p:cNvPr id="46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0" name="Oval 46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63" name="Group 462"/>
            <p:cNvGrpSpPr/>
            <p:nvPr/>
          </p:nvGrpSpPr>
          <p:grpSpPr>
            <a:xfrm>
              <a:off x="1815829" y="2440876"/>
              <a:ext cx="431428" cy="575117"/>
              <a:chOff x="2887410" y="414748"/>
              <a:chExt cx="431428" cy="575117"/>
            </a:xfrm>
          </p:grpSpPr>
          <p:sp>
            <p:nvSpPr>
              <p:cNvPr id="46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8" name="Oval 46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64" name="Group 463"/>
            <p:cNvGrpSpPr/>
            <p:nvPr/>
          </p:nvGrpSpPr>
          <p:grpSpPr>
            <a:xfrm>
              <a:off x="2434983" y="1261360"/>
              <a:ext cx="431428" cy="575117"/>
              <a:chOff x="2887410" y="414748"/>
              <a:chExt cx="431428" cy="575117"/>
            </a:xfrm>
          </p:grpSpPr>
          <p:sp>
            <p:nvSpPr>
              <p:cNvPr id="46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6" name="Oval 46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479" name="Group 478"/>
          <p:cNvGrpSpPr/>
          <p:nvPr/>
        </p:nvGrpSpPr>
        <p:grpSpPr>
          <a:xfrm>
            <a:off x="3704571" y="2693001"/>
            <a:ext cx="815244" cy="779295"/>
            <a:chOff x="1815829" y="1261360"/>
            <a:chExt cx="1584547" cy="2185734"/>
          </a:xfrm>
        </p:grpSpPr>
        <p:grpSp>
          <p:nvGrpSpPr>
            <p:cNvPr id="480" name="Group 479"/>
            <p:cNvGrpSpPr/>
            <p:nvPr/>
          </p:nvGrpSpPr>
          <p:grpSpPr>
            <a:xfrm>
              <a:off x="2393504" y="2009302"/>
              <a:ext cx="431428" cy="575117"/>
              <a:chOff x="2887410" y="414748"/>
              <a:chExt cx="431428" cy="575117"/>
            </a:xfrm>
          </p:grpSpPr>
          <p:sp>
            <p:nvSpPr>
              <p:cNvPr id="49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0" name="Oval 49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81" name="Group 480"/>
            <p:cNvGrpSpPr/>
            <p:nvPr/>
          </p:nvGrpSpPr>
          <p:grpSpPr>
            <a:xfrm>
              <a:off x="2968948" y="1718435"/>
              <a:ext cx="431428" cy="575117"/>
              <a:chOff x="2887410" y="414748"/>
              <a:chExt cx="431428" cy="575117"/>
            </a:xfrm>
          </p:grpSpPr>
          <p:sp>
            <p:nvSpPr>
              <p:cNvPr id="49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8" name="Oval 49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82" name="Group 481"/>
            <p:cNvGrpSpPr/>
            <p:nvPr/>
          </p:nvGrpSpPr>
          <p:grpSpPr>
            <a:xfrm>
              <a:off x="1890068" y="1737899"/>
              <a:ext cx="431428" cy="575117"/>
              <a:chOff x="2887410" y="414748"/>
              <a:chExt cx="431428" cy="575117"/>
            </a:xfrm>
          </p:grpSpPr>
          <p:sp>
            <p:nvSpPr>
              <p:cNvPr id="49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6" name="Oval 49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83" name="Group 482"/>
            <p:cNvGrpSpPr/>
            <p:nvPr/>
          </p:nvGrpSpPr>
          <p:grpSpPr>
            <a:xfrm>
              <a:off x="2825242" y="2584419"/>
              <a:ext cx="431428" cy="575117"/>
              <a:chOff x="2887410" y="414748"/>
              <a:chExt cx="431428" cy="575117"/>
            </a:xfrm>
          </p:grpSpPr>
          <p:sp>
            <p:nvSpPr>
              <p:cNvPr id="49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4" name="Oval 49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84" name="Group 483"/>
            <p:cNvGrpSpPr/>
            <p:nvPr/>
          </p:nvGrpSpPr>
          <p:grpSpPr>
            <a:xfrm>
              <a:off x="2343351" y="2871977"/>
              <a:ext cx="431428" cy="575117"/>
              <a:chOff x="2887410" y="414748"/>
              <a:chExt cx="431428" cy="575117"/>
            </a:xfrm>
          </p:grpSpPr>
          <p:sp>
            <p:nvSpPr>
              <p:cNvPr id="49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2" name="Oval 49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85" name="Group 484"/>
            <p:cNvGrpSpPr/>
            <p:nvPr/>
          </p:nvGrpSpPr>
          <p:grpSpPr>
            <a:xfrm>
              <a:off x="1815829" y="2440876"/>
              <a:ext cx="431428" cy="575117"/>
              <a:chOff x="2887410" y="414748"/>
              <a:chExt cx="431428" cy="575117"/>
            </a:xfrm>
          </p:grpSpPr>
          <p:sp>
            <p:nvSpPr>
              <p:cNvPr id="48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0" name="Oval 48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86" name="Group 485"/>
            <p:cNvGrpSpPr/>
            <p:nvPr/>
          </p:nvGrpSpPr>
          <p:grpSpPr>
            <a:xfrm>
              <a:off x="2434983" y="1261360"/>
              <a:ext cx="431428" cy="575117"/>
              <a:chOff x="2887410" y="414748"/>
              <a:chExt cx="431428" cy="575117"/>
            </a:xfrm>
          </p:grpSpPr>
          <p:sp>
            <p:nvSpPr>
              <p:cNvPr id="48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8" name="Oval 48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501" name="Group 500"/>
          <p:cNvGrpSpPr/>
          <p:nvPr/>
        </p:nvGrpSpPr>
        <p:grpSpPr>
          <a:xfrm>
            <a:off x="3122953" y="2481141"/>
            <a:ext cx="815244" cy="779295"/>
            <a:chOff x="1815829" y="1261360"/>
            <a:chExt cx="1584547" cy="2185734"/>
          </a:xfrm>
        </p:grpSpPr>
        <p:grpSp>
          <p:nvGrpSpPr>
            <p:cNvPr id="502" name="Group 501"/>
            <p:cNvGrpSpPr/>
            <p:nvPr/>
          </p:nvGrpSpPr>
          <p:grpSpPr>
            <a:xfrm>
              <a:off x="2393504" y="2009302"/>
              <a:ext cx="431428" cy="575117"/>
              <a:chOff x="2887410" y="414748"/>
              <a:chExt cx="431428" cy="575117"/>
            </a:xfrm>
          </p:grpSpPr>
          <p:sp>
            <p:nvSpPr>
              <p:cNvPr id="52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2" name="Oval 52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03" name="Group 502"/>
            <p:cNvGrpSpPr/>
            <p:nvPr/>
          </p:nvGrpSpPr>
          <p:grpSpPr>
            <a:xfrm>
              <a:off x="2968948" y="1718435"/>
              <a:ext cx="431428" cy="575117"/>
              <a:chOff x="2887410" y="414748"/>
              <a:chExt cx="431428" cy="575117"/>
            </a:xfrm>
          </p:grpSpPr>
          <p:sp>
            <p:nvSpPr>
              <p:cNvPr id="51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0" name="Oval 51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04" name="Group 503"/>
            <p:cNvGrpSpPr/>
            <p:nvPr/>
          </p:nvGrpSpPr>
          <p:grpSpPr>
            <a:xfrm>
              <a:off x="1890068" y="1737899"/>
              <a:ext cx="431428" cy="575117"/>
              <a:chOff x="2887410" y="414748"/>
              <a:chExt cx="431428" cy="575117"/>
            </a:xfrm>
          </p:grpSpPr>
          <p:sp>
            <p:nvSpPr>
              <p:cNvPr id="51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8" name="Oval 51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05" name="Group 504"/>
            <p:cNvGrpSpPr/>
            <p:nvPr/>
          </p:nvGrpSpPr>
          <p:grpSpPr>
            <a:xfrm>
              <a:off x="2825242" y="2584419"/>
              <a:ext cx="431428" cy="575117"/>
              <a:chOff x="2887410" y="414748"/>
              <a:chExt cx="431428" cy="575117"/>
            </a:xfrm>
          </p:grpSpPr>
          <p:sp>
            <p:nvSpPr>
              <p:cNvPr id="51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6" name="Oval 51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06" name="Group 505"/>
            <p:cNvGrpSpPr/>
            <p:nvPr/>
          </p:nvGrpSpPr>
          <p:grpSpPr>
            <a:xfrm>
              <a:off x="2343351" y="2871977"/>
              <a:ext cx="431428" cy="575117"/>
              <a:chOff x="2887410" y="414748"/>
              <a:chExt cx="431428" cy="575117"/>
            </a:xfrm>
          </p:grpSpPr>
          <p:sp>
            <p:nvSpPr>
              <p:cNvPr id="51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4" name="Oval 51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07" name="Group 506"/>
            <p:cNvGrpSpPr/>
            <p:nvPr/>
          </p:nvGrpSpPr>
          <p:grpSpPr>
            <a:xfrm>
              <a:off x="1815829" y="2440876"/>
              <a:ext cx="431428" cy="575117"/>
              <a:chOff x="2887410" y="414748"/>
              <a:chExt cx="431428" cy="575117"/>
            </a:xfrm>
          </p:grpSpPr>
          <p:sp>
            <p:nvSpPr>
              <p:cNvPr id="51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2" name="Oval 51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08" name="Group 507"/>
            <p:cNvGrpSpPr/>
            <p:nvPr/>
          </p:nvGrpSpPr>
          <p:grpSpPr>
            <a:xfrm>
              <a:off x="2434983" y="1261360"/>
              <a:ext cx="431428" cy="575117"/>
              <a:chOff x="2887410" y="414748"/>
              <a:chExt cx="431428" cy="575117"/>
            </a:xfrm>
          </p:grpSpPr>
          <p:sp>
            <p:nvSpPr>
              <p:cNvPr id="50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0" name="Oval 50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523" name="Group 522"/>
          <p:cNvGrpSpPr/>
          <p:nvPr/>
        </p:nvGrpSpPr>
        <p:grpSpPr>
          <a:xfrm>
            <a:off x="7183122" y="3264080"/>
            <a:ext cx="815244" cy="779295"/>
            <a:chOff x="1815829" y="1261360"/>
            <a:chExt cx="1584547" cy="2185734"/>
          </a:xfrm>
        </p:grpSpPr>
        <p:grpSp>
          <p:nvGrpSpPr>
            <p:cNvPr id="524" name="Group 523"/>
            <p:cNvGrpSpPr/>
            <p:nvPr/>
          </p:nvGrpSpPr>
          <p:grpSpPr>
            <a:xfrm>
              <a:off x="2393504" y="2009302"/>
              <a:ext cx="431428" cy="575117"/>
              <a:chOff x="2887410" y="414748"/>
              <a:chExt cx="431428" cy="575117"/>
            </a:xfrm>
          </p:grpSpPr>
          <p:sp>
            <p:nvSpPr>
              <p:cNvPr id="54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4" name="Oval 54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25" name="Group 524"/>
            <p:cNvGrpSpPr/>
            <p:nvPr/>
          </p:nvGrpSpPr>
          <p:grpSpPr>
            <a:xfrm>
              <a:off x="2968948" y="1718435"/>
              <a:ext cx="431428" cy="575117"/>
              <a:chOff x="2887410" y="414748"/>
              <a:chExt cx="431428" cy="575117"/>
            </a:xfrm>
          </p:grpSpPr>
          <p:sp>
            <p:nvSpPr>
              <p:cNvPr id="54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2" name="Oval 54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26" name="Group 525"/>
            <p:cNvGrpSpPr/>
            <p:nvPr/>
          </p:nvGrpSpPr>
          <p:grpSpPr>
            <a:xfrm>
              <a:off x="1890068" y="1737899"/>
              <a:ext cx="431428" cy="575117"/>
              <a:chOff x="2887410" y="414748"/>
              <a:chExt cx="431428" cy="575117"/>
            </a:xfrm>
          </p:grpSpPr>
          <p:sp>
            <p:nvSpPr>
              <p:cNvPr id="53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0" name="Oval 53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27" name="Group 526"/>
            <p:cNvGrpSpPr/>
            <p:nvPr/>
          </p:nvGrpSpPr>
          <p:grpSpPr>
            <a:xfrm>
              <a:off x="2825242" y="2584419"/>
              <a:ext cx="431428" cy="575117"/>
              <a:chOff x="2887410" y="414748"/>
              <a:chExt cx="431428" cy="575117"/>
            </a:xfrm>
          </p:grpSpPr>
          <p:sp>
            <p:nvSpPr>
              <p:cNvPr id="53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8" name="Oval 53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28" name="Group 527"/>
            <p:cNvGrpSpPr/>
            <p:nvPr/>
          </p:nvGrpSpPr>
          <p:grpSpPr>
            <a:xfrm>
              <a:off x="2343351" y="2871977"/>
              <a:ext cx="431428" cy="575117"/>
              <a:chOff x="2887410" y="414748"/>
              <a:chExt cx="431428" cy="575117"/>
            </a:xfrm>
          </p:grpSpPr>
          <p:sp>
            <p:nvSpPr>
              <p:cNvPr id="53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6" name="Oval 53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29" name="Group 528"/>
            <p:cNvGrpSpPr/>
            <p:nvPr/>
          </p:nvGrpSpPr>
          <p:grpSpPr>
            <a:xfrm>
              <a:off x="1815829" y="2440876"/>
              <a:ext cx="431428" cy="575117"/>
              <a:chOff x="2887410" y="414748"/>
              <a:chExt cx="431428" cy="575117"/>
            </a:xfrm>
          </p:grpSpPr>
          <p:sp>
            <p:nvSpPr>
              <p:cNvPr id="53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4" name="Oval 53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30" name="Group 529"/>
            <p:cNvGrpSpPr/>
            <p:nvPr/>
          </p:nvGrpSpPr>
          <p:grpSpPr>
            <a:xfrm>
              <a:off x="2434983" y="1261360"/>
              <a:ext cx="431428" cy="575117"/>
              <a:chOff x="2887410" y="414748"/>
              <a:chExt cx="431428" cy="575117"/>
            </a:xfrm>
          </p:grpSpPr>
          <p:sp>
            <p:nvSpPr>
              <p:cNvPr id="53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2" name="Oval 53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545" name="Group 544"/>
          <p:cNvGrpSpPr/>
          <p:nvPr/>
        </p:nvGrpSpPr>
        <p:grpSpPr>
          <a:xfrm>
            <a:off x="6816020" y="2448469"/>
            <a:ext cx="815244" cy="779295"/>
            <a:chOff x="1815829" y="1261360"/>
            <a:chExt cx="1584547" cy="2185734"/>
          </a:xfrm>
        </p:grpSpPr>
        <p:grpSp>
          <p:nvGrpSpPr>
            <p:cNvPr id="546" name="Group 545"/>
            <p:cNvGrpSpPr/>
            <p:nvPr/>
          </p:nvGrpSpPr>
          <p:grpSpPr>
            <a:xfrm>
              <a:off x="2393504" y="2009302"/>
              <a:ext cx="431428" cy="575117"/>
              <a:chOff x="2887410" y="414748"/>
              <a:chExt cx="431428" cy="575117"/>
            </a:xfrm>
          </p:grpSpPr>
          <p:sp>
            <p:nvSpPr>
              <p:cNvPr id="56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6" name="Oval 56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47" name="Group 546"/>
            <p:cNvGrpSpPr/>
            <p:nvPr/>
          </p:nvGrpSpPr>
          <p:grpSpPr>
            <a:xfrm>
              <a:off x="2968948" y="1718435"/>
              <a:ext cx="431428" cy="575117"/>
              <a:chOff x="2887410" y="414748"/>
              <a:chExt cx="431428" cy="575117"/>
            </a:xfrm>
          </p:grpSpPr>
          <p:sp>
            <p:nvSpPr>
              <p:cNvPr id="56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4" name="Oval 56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48" name="Group 547"/>
            <p:cNvGrpSpPr/>
            <p:nvPr/>
          </p:nvGrpSpPr>
          <p:grpSpPr>
            <a:xfrm>
              <a:off x="1890068" y="1737899"/>
              <a:ext cx="431428" cy="575117"/>
              <a:chOff x="2887410" y="414748"/>
              <a:chExt cx="431428" cy="575117"/>
            </a:xfrm>
          </p:grpSpPr>
          <p:sp>
            <p:nvSpPr>
              <p:cNvPr id="56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2" name="Oval 56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49" name="Group 548"/>
            <p:cNvGrpSpPr/>
            <p:nvPr/>
          </p:nvGrpSpPr>
          <p:grpSpPr>
            <a:xfrm>
              <a:off x="2825242" y="2584419"/>
              <a:ext cx="431428" cy="575117"/>
              <a:chOff x="2887410" y="414748"/>
              <a:chExt cx="431428" cy="575117"/>
            </a:xfrm>
          </p:grpSpPr>
          <p:sp>
            <p:nvSpPr>
              <p:cNvPr id="55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0" name="Oval 55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50" name="Group 549"/>
            <p:cNvGrpSpPr/>
            <p:nvPr/>
          </p:nvGrpSpPr>
          <p:grpSpPr>
            <a:xfrm>
              <a:off x="2343351" y="2871977"/>
              <a:ext cx="431428" cy="575117"/>
              <a:chOff x="2887410" y="414748"/>
              <a:chExt cx="431428" cy="575117"/>
            </a:xfrm>
          </p:grpSpPr>
          <p:sp>
            <p:nvSpPr>
              <p:cNvPr id="55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8" name="Oval 55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51" name="Group 550"/>
            <p:cNvGrpSpPr/>
            <p:nvPr/>
          </p:nvGrpSpPr>
          <p:grpSpPr>
            <a:xfrm>
              <a:off x="1815829" y="2440876"/>
              <a:ext cx="431428" cy="575117"/>
              <a:chOff x="2887410" y="414748"/>
              <a:chExt cx="431428" cy="575117"/>
            </a:xfrm>
          </p:grpSpPr>
          <p:sp>
            <p:nvSpPr>
              <p:cNvPr id="55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6" name="Oval 55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52" name="Group 551"/>
            <p:cNvGrpSpPr/>
            <p:nvPr/>
          </p:nvGrpSpPr>
          <p:grpSpPr>
            <a:xfrm>
              <a:off x="2434983" y="1261360"/>
              <a:ext cx="431428" cy="575117"/>
              <a:chOff x="2887410" y="414748"/>
              <a:chExt cx="431428" cy="575117"/>
            </a:xfrm>
          </p:grpSpPr>
          <p:sp>
            <p:nvSpPr>
              <p:cNvPr id="55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4" name="Oval 55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567" name="Group 566"/>
          <p:cNvGrpSpPr/>
          <p:nvPr/>
        </p:nvGrpSpPr>
        <p:grpSpPr>
          <a:xfrm>
            <a:off x="8709596" y="4255598"/>
            <a:ext cx="815244" cy="779295"/>
            <a:chOff x="1815829" y="1261360"/>
            <a:chExt cx="1584547" cy="2185734"/>
          </a:xfrm>
        </p:grpSpPr>
        <p:grpSp>
          <p:nvGrpSpPr>
            <p:cNvPr id="568" name="Group 567"/>
            <p:cNvGrpSpPr/>
            <p:nvPr/>
          </p:nvGrpSpPr>
          <p:grpSpPr>
            <a:xfrm>
              <a:off x="2393504" y="2009302"/>
              <a:ext cx="431428" cy="575117"/>
              <a:chOff x="2887410" y="414748"/>
              <a:chExt cx="431428" cy="575117"/>
            </a:xfrm>
          </p:grpSpPr>
          <p:sp>
            <p:nvSpPr>
              <p:cNvPr id="58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8" name="Oval 58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69" name="Group 568"/>
            <p:cNvGrpSpPr/>
            <p:nvPr/>
          </p:nvGrpSpPr>
          <p:grpSpPr>
            <a:xfrm>
              <a:off x="2968948" y="1718435"/>
              <a:ext cx="431428" cy="575117"/>
              <a:chOff x="2887410" y="414748"/>
              <a:chExt cx="431428" cy="575117"/>
            </a:xfrm>
          </p:grpSpPr>
          <p:sp>
            <p:nvSpPr>
              <p:cNvPr id="58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6" name="Oval 58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70" name="Group 569"/>
            <p:cNvGrpSpPr/>
            <p:nvPr/>
          </p:nvGrpSpPr>
          <p:grpSpPr>
            <a:xfrm>
              <a:off x="1890068" y="1737899"/>
              <a:ext cx="431428" cy="575117"/>
              <a:chOff x="2887410" y="414748"/>
              <a:chExt cx="431428" cy="575117"/>
            </a:xfrm>
          </p:grpSpPr>
          <p:sp>
            <p:nvSpPr>
              <p:cNvPr id="58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4" name="Oval 58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71" name="Group 570"/>
            <p:cNvGrpSpPr/>
            <p:nvPr/>
          </p:nvGrpSpPr>
          <p:grpSpPr>
            <a:xfrm>
              <a:off x="2825242" y="2584419"/>
              <a:ext cx="431428" cy="575117"/>
              <a:chOff x="2887410" y="414748"/>
              <a:chExt cx="431428" cy="575117"/>
            </a:xfrm>
          </p:grpSpPr>
          <p:sp>
            <p:nvSpPr>
              <p:cNvPr id="58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2" name="Oval 58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72" name="Group 571"/>
            <p:cNvGrpSpPr/>
            <p:nvPr/>
          </p:nvGrpSpPr>
          <p:grpSpPr>
            <a:xfrm>
              <a:off x="2343351" y="2871977"/>
              <a:ext cx="431428" cy="575117"/>
              <a:chOff x="2887410" y="414748"/>
              <a:chExt cx="431428" cy="575117"/>
            </a:xfrm>
          </p:grpSpPr>
          <p:sp>
            <p:nvSpPr>
              <p:cNvPr id="57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0" name="Oval 57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73" name="Group 572"/>
            <p:cNvGrpSpPr/>
            <p:nvPr/>
          </p:nvGrpSpPr>
          <p:grpSpPr>
            <a:xfrm>
              <a:off x="1815829" y="2440876"/>
              <a:ext cx="431428" cy="575117"/>
              <a:chOff x="2887410" y="414748"/>
              <a:chExt cx="431428" cy="575117"/>
            </a:xfrm>
          </p:grpSpPr>
          <p:sp>
            <p:nvSpPr>
              <p:cNvPr id="57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8" name="Oval 57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74" name="Group 573"/>
            <p:cNvGrpSpPr/>
            <p:nvPr/>
          </p:nvGrpSpPr>
          <p:grpSpPr>
            <a:xfrm>
              <a:off x="2434983" y="1261360"/>
              <a:ext cx="431428" cy="575117"/>
              <a:chOff x="2887410" y="414748"/>
              <a:chExt cx="431428" cy="575117"/>
            </a:xfrm>
          </p:grpSpPr>
          <p:sp>
            <p:nvSpPr>
              <p:cNvPr id="57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6" name="Oval 57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589" name="Group 588"/>
          <p:cNvGrpSpPr/>
          <p:nvPr/>
        </p:nvGrpSpPr>
        <p:grpSpPr>
          <a:xfrm>
            <a:off x="7143266" y="1873520"/>
            <a:ext cx="815244" cy="779295"/>
            <a:chOff x="1815829" y="1261360"/>
            <a:chExt cx="1584547" cy="2185734"/>
          </a:xfrm>
        </p:grpSpPr>
        <p:grpSp>
          <p:nvGrpSpPr>
            <p:cNvPr id="590" name="Group 589"/>
            <p:cNvGrpSpPr/>
            <p:nvPr/>
          </p:nvGrpSpPr>
          <p:grpSpPr>
            <a:xfrm>
              <a:off x="2393504" y="2009302"/>
              <a:ext cx="431428" cy="575117"/>
              <a:chOff x="2887410" y="414748"/>
              <a:chExt cx="431428" cy="575117"/>
            </a:xfrm>
          </p:grpSpPr>
          <p:sp>
            <p:nvSpPr>
              <p:cNvPr id="60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0" name="Oval 60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91" name="Group 590"/>
            <p:cNvGrpSpPr/>
            <p:nvPr/>
          </p:nvGrpSpPr>
          <p:grpSpPr>
            <a:xfrm>
              <a:off x="2968948" y="1718435"/>
              <a:ext cx="431428" cy="575117"/>
              <a:chOff x="2887410" y="414748"/>
              <a:chExt cx="431428" cy="575117"/>
            </a:xfrm>
          </p:grpSpPr>
          <p:sp>
            <p:nvSpPr>
              <p:cNvPr id="60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8" name="Oval 60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92" name="Group 591"/>
            <p:cNvGrpSpPr/>
            <p:nvPr/>
          </p:nvGrpSpPr>
          <p:grpSpPr>
            <a:xfrm>
              <a:off x="1890068" y="1737899"/>
              <a:ext cx="431428" cy="575117"/>
              <a:chOff x="2887410" y="414748"/>
              <a:chExt cx="431428" cy="575117"/>
            </a:xfrm>
          </p:grpSpPr>
          <p:sp>
            <p:nvSpPr>
              <p:cNvPr id="60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6" name="Oval 60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93" name="Group 592"/>
            <p:cNvGrpSpPr/>
            <p:nvPr/>
          </p:nvGrpSpPr>
          <p:grpSpPr>
            <a:xfrm>
              <a:off x="2825242" y="2584419"/>
              <a:ext cx="431428" cy="575117"/>
              <a:chOff x="2887410" y="414748"/>
              <a:chExt cx="431428" cy="575117"/>
            </a:xfrm>
          </p:grpSpPr>
          <p:sp>
            <p:nvSpPr>
              <p:cNvPr id="60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4" name="Oval 60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94" name="Group 593"/>
            <p:cNvGrpSpPr/>
            <p:nvPr/>
          </p:nvGrpSpPr>
          <p:grpSpPr>
            <a:xfrm>
              <a:off x="2343351" y="2871977"/>
              <a:ext cx="431428" cy="575117"/>
              <a:chOff x="2887410" y="414748"/>
              <a:chExt cx="431428" cy="575117"/>
            </a:xfrm>
          </p:grpSpPr>
          <p:sp>
            <p:nvSpPr>
              <p:cNvPr id="60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2" name="Oval 60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95" name="Group 594"/>
            <p:cNvGrpSpPr/>
            <p:nvPr/>
          </p:nvGrpSpPr>
          <p:grpSpPr>
            <a:xfrm>
              <a:off x="1815829" y="2440876"/>
              <a:ext cx="431428" cy="575117"/>
              <a:chOff x="2887410" y="414748"/>
              <a:chExt cx="431428" cy="575117"/>
            </a:xfrm>
          </p:grpSpPr>
          <p:sp>
            <p:nvSpPr>
              <p:cNvPr id="59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0" name="Oval 59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96" name="Group 595"/>
            <p:cNvGrpSpPr/>
            <p:nvPr/>
          </p:nvGrpSpPr>
          <p:grpSpPr>
            <a:xfrm>
              <a:off x="2434983" y="1261360"/>
              <a:ext cx="431428" cy="575117"/>
              <a:chOff x="2887410" y="414748"/>
              <a:chExt cx="431428" cy="575117"/>
            </a:xfrm>
          </p:grpSpPr>
          <p:sp>
            <p:nvSpPr>
              <p:cNvPr id="59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8" name="Oval 59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611" name="Group 610"/>
          <p:cNvGrpSpPr/>
          <p:nvPr/>
        </p:nvGrpSpPr>
        <p:grpSpPr>
          <a:xfrm>
            <a:off x="7030647" y="3998189"/>
            <a:ext cx="815244" cy="779295"/>
            <a:chOff x="1815829" y="1261360"/>
            <a:chExt cx="1584547" cy="2185734"/>
          </a:xfrm>
        </p:grpSpPr>
        <p:grpSp>
          <p:nvGrpSpPr>
            <p:cNvPr id="612" name="Group 611"/>
            <p:cNvGrpSpPr/>
            <p:nvPr/>
          </p:nvGrpSpPr>
          <p:grpSpPr>
            <a:xfrm>
              <a:off x="2393504" y="2009302"/>
              <a:ext cx="431428" cy="575117"/>
              <a:chOff x="2887410" y="414748"/>
              <a:chExt cx="431428" cy="575117"/>
            </a:xfrm>
          </p:grpSpPr>
          <p:sp>
            <p:nvSpPr>
              <p:cNvPr id="63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2" name="Oval 63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13" name="Group 612"/>
            <p:cNvGrpSpPr/>
            <p:nvPr/>
          </p:nvGrpSpPr>
          <p:grpSpPr>
            <a:xfrm>
              <a:off x="2968948" y="1718435"/>
              <a:ext cx="431428" cy="575117"/>
              <a:chOff x="2887410" y="414748"/>
              <a:chExt cx="431428" cy="575117"/>
            </a:xfrm>
          </p:grpSpPr>
          <p:sp>
            <p:nvSpPr>
              <p:cNvPr id="62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0" name="Oval 62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14" name="Group 613"/>
            <p:cNvGrpSpPr/>
            <p:nvPr/>
          </p:nvGrpSpPr>
          <p:grpSpPr>
            <a:xfrm>
              <a:off x="1890068" y="1737899"/>
              <a:ext cx="431428" cy="575117"/>
              <a:chOff x="2887410" y="414748"/>
              <a:chExt cx="431428" cy="575117"/>
            </a:xfrm>
          </p:grpSpPr>
          <p:sp>
            <p:nvSpPr>
              <p:cNvPr id="62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8" name="Oval 62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15" name="Group 614"/>
            <p:cNvGrpSpPr/>
            <p:nvPr/>
          </p:nvGrpSpPr>
          <p:grpSpPr>
            <a:xfrm>
              <a:off x="2825242" y="2584419"/>
              <a:ext cx="431428" cy="575117"/>
              <a:chOff x="2887410" y="414748"/>
              <a:chExt cx="431428" cy="575117"/>
            </a:xfrm>
          </p:grpSpPr>
          <p:sp>
            <p:nvSpPr>
              <p:cNvPr id="62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6" name="Oval 62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16" name="Group 615"/>
            <p:cNvGrpSpPr/>
            <p:nvPr/>
          </p:nvGrpSpPr>
          <p:grpSpPr>
            <a:xfrm>
              <a:off x="2343351" y="2871977"/>
              <a:ext cx="431428" cy="575117"/>
              <a:chOff x="2887410" y="414748"/>
              <a:chExt cx="431428" cy="575117"/>
            </a:xfrm>
          </p:grpSpPr>
          <p:sp>
            <p:nvSpPr>
              <p:cNvPr id="62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4" name="Oval 62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17" name="Group 616"/>
            <p:cNvGrpSpPr/>
            <p:nvPr/>
          </p:nvGrpSpPr>
          <p:grpSpPr>
            <a:xfrm>
              <a:off x="1815829" y="2440876"/>
              <a:ext cx="431428" cy="575117"/>
              <a:chOff x="2887410" y="414748"/>
              <a:chExt cx="431428" cy="575117"/>
            </a:xfrm>
          </p:grpSpPr>
          <p:sp>
            <p:nvSpPr>
              <p:cNvPr id="62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2" name="Oval 62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18" name="Group 617"/>
            <p:cNvGrpSpPr/>
            <p:nvPr/>
          </p:nvGrpSpPr>
          <p:grpSpPr>
            <a:xfrm>
              <a:off x="2434983" y="1261360"/>
              <a:ext cx="431428" cy="575117"/>
              <a:chOff x="2887410" y="414748"/>
              <a:chExt cx="431428" cy="575117"/>
            </a:xfrm>
          </p:grpSpPr>
          <p:sp>
            <p:nvSpPr>
              <p:cNvPr id="61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0" name="Oval 61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633" name="Group 632"/>
          <p:cNvGrpSpPr/>
          <p:nvPr/>
        </p:nvGrpSpPr>
        <p:grpSpPr>
          <a:xfrm>
            <a:off x="2688852" y="2935400"/>
            <a:ext cx="815244" cy="779295"/>
            <a:chOff x="1815829" y="1261360"/>
            <a:chExt cx="1584547" cy="2185734"/>
          </a:xfrm>
        </p:grpSpPr>
        <p:grpSp>
          <p:nvGrpSpPr>
            <p:cNvPr id="634" name="Group 633"/>
            <p:cNvGrpSpPr/>
            <p:nvPr/>
          </p:nvGrpSpPr>
          <p:grpSpPr>
            <a:xfrm>
              <a:off x="2393504" y="2009302"/>
              <a:ext cx="431428" cy="575117"/>
              <a:chOff x="2887410" y="414748"/>
              <a:chExt cx="431428" cy="575117"/>
            </a:xfrm>
          </p:grpSpPr>
          <p:sp>
            <p:nvSpPr>
              <p:cNvPr id="65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4" name="Oval 65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35" name="Group 634"/>
            <p:cNvGrpSpPr/>
            <p:nvPr/>
          </p:nvGrpSpPr>
          <p:grpSpPr>
            <a:xfrm>
              <a:off x="2968948" y="1718435"/>
              <a:ext cx="431428" cy="575117"/>
              <a:chOff x="2887410" y="414748"/>
              <a:chExt cx="431428" cy="575117"/>
            </a:xfrm>
          </p:grpSpPr>
          <p:sp>
            <p:nvSpPr>
              <p:cNvPr id="65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2" name="Oval 65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36" name="Group 635"/>
            <p:cNvGrpSpPr/>
            <p:nvPr/>
          </p:nvGrpSpPr>
          <p:grpSpPr>
            <a:xfrm>
              <a:off x="1890068" y="1737899"/>
              <a:ext cx="431428" cy="575117"/>
              <a:chOff x="2887410" y="414748"/>
              <a:chExt cx="431428" cy="575117"/>
            </a:xfrm>
          </p:grpSpPr>
          <p:sp>
            <p:nvSpPr>
              <p:cNvPr id="64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0" name="Oval 64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37" name="Group 636"/>
            <p:cNvGrpSpPr/>
            <p:nvPr/>
          </p:nvGrpSpPr>
          <p:grpSpPr>
            <a:xfrm>
              <a:off x="2825242" y="2584419"/>
              <a:ext cx="431428" cy="575117"/>
              <a:chOff x="2887410" y="414748"/>
              <a:chExt cx="431428" cy="575117"/>
            </a:xfrm>
          </p:grpSpPr>
          <p:sp>
            <p:nvSpPr>
              <p:cNvPr id="64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8" name="Oval 64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38" name="Group 637"/>
            <p:cNvGrpSpPr/>
            <p:nvPr/>
          </p:nvGrpSpPr>
          <p:grpSpPr>
            <a:xfrm>
              <a:off x="2343351" y="2871977"/>
              <a:ext cx="431428" cy="575117"/>
              <a:chOff x="2887410" y="414748"/>
              <a:chExt cx="431428" cy="575117"/>
            </a:xfrm>
          </p:grpSpPr>
          <p:sp>
            <p:nvSpPr>
              <p:cNvPr id="64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6" name="Oval 64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39" name="Group 638"/>
            <p:cNvGrpSpPr/>
            <p:nvPr/>
          </p:nvGrpSpPr>
          <p:grpSpPr>
            <a:xfrm>
              <a:off x="1815829" y="2440876"/>
              <a:ext cx="431428" cy="575117"/>
              <a:chOff x="2887410" y="414748"/>
              <a:chExt cx="431428" cy="575117"/>
            </a:xfrm>
          </p:grpSpPr>
          <p:sp>
            <p:nvSpPr>
              <p:cNvPr id="64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4" name="Oval 64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40" name="Group 639"/>
            <p:cNvGrpSpPr/>
            <p:nvPr/>
          </p:nvGrpSpPr>
          <p:grpSpPr>
            <a:xfrm>
              <a:off x="2434983" y="1261360"/>
              <a:ext cx="431428" cy="575117"/>
              <a:chOff x="2887410" y="414748"/>
              <a:chExt cx="431428" cy="575117"/>
            </a:xfrm>
          </p:grpSpPr>
          <p:sp>
            <p:nvSpPr>
              <p:cNvPr id="64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2" name="Oval 64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655" name="Group 654"/>
          <p:cNvGrpSpPr/>
          <p:nvPr/>
        </p:nvGrpSpPr>
        <p:grpSpPr>
          <a:xfrm>
            <a:off x="3511830" y="3000592"/>
            <a:ext cx="815244" cy="779295"/>
            <a:chOff x="1815829" y="1261360"/>
            <a:chExt cx="1584547" cy="2185734"/>
          </a:xfrm>
        </p:grpSpPr>
        <p:grpSp>
          <p:nvGrpSpPr>
            <p:cNvPr id="656" name="Group 655"/>
            <p:cNvGrpSpPr/>
            <p:nvPr/>
          </p:nvGrpSpPr>
          <p:grpSpPr>
            <a:xfrm>
              <a:off x="2393504" y="2009302"/>
              <a:ext cx="431428" cy="575117"/>
              <a:chOff x="2887410" y="414748"/>
              <a:chExt cx="431428" cy="575117"/>
            </a:xfrm>
          </p:grpSpPr>
          <p:sp>
            <p:nvSpPr>
              <p:cNvPr id="67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6" name="Oval 67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57" name="Group 656"/>
            <p:cNvGrpSpPr/>
            <p:nvPr/>
          </p:nvGrpSpPr>
          <p:grpSpPr>
            <a:xfrm>
              <a:off x="2968948" y="1718435"/>
              <a:ext cx="431428" cy="575117"/>
              <a:chOff x="2887410" y="414748"/>
              <a:chExt cx="431428" cy="575117"/>
            </a:xfrm>
          </p:grpSpPr>
          <p:sp>
            <p:nvSpPr>
              <p:cNvPr id="67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4" name="Oval 67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58" name="Group 657"/>
            <p:cNvGrpSpPr/>
            <p:nvPr/>
          </p:nvGrpSpPr>
          <p:grpSpPr>
            <a:xfrm>
              <a:off x="1890068" y="1737899"/>
              <a:ext cx="431428" cy="575117"/>
              <a:chOff x="2887410" y="414748"/>
              <a:chExt cx="431428" cy="575117"/>
            </a:xfrm>
          </p:grpSpPr>
          <p:sp>
            <p:nvSpPr>
              <p:cNvPr id="67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2" name="Oval 67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59" name="Group 658"/>
            <p:cNvGrpSpPr/>
            <p:nvPr/>
          </p:nvGrpSpPr>
          <p:grpSpPr>
            <a:xfrm>
              <a:off x="2825242" y="2584419"/>
              <a:ext cx="431428" cy="575117"/>
              <a:chOff x="2887410" y="414748"/>
              <a:chExt cx="431428" cy="575117"/>
            </a:xfrm>
          </p:grpSpPr>
          <p:sp>
            <p:nvSpPr>
              <p:cNvPr id="66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0" name="Oval 66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60" name="Group 659"/>
            <p:cNvGrpSpPr/>
            <p:nvPr/>
          </p:nvGrpSpPr>
          <p:grpSpPr>
            <a:xfrm>
              <a:off x="2343351" y="2871977"/>
              <a:ext cx="431428" cy="575117"/>
              <a:chOff x="2887410" y="414748"/>
              <a:chExt cx="431428" cy="575117"/>
            </a:xfrm>
          </p:grpSpPr>
          <p:sp>
            <p:nvSpPr>
              <p:cNvPr id="66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8" name="Oval 66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61" name="Group 660"/>
            <p:cNvGrpSpPr/>
            <p:nvPr/>
          </p:nvGrpSpPr>
          <p:grpSpPr>
            <a:xfrm>
              <a:off x="1815829" y="2440876"/>
              <a:ext cx="431428" cy="575117"/>
              <a:chOff x="2887410" y="414748"/>
              <a:chExt cx="431428" cy="575117"/>
            </a:xfrm>
          </p:grpSpPr>
          <p:sp>
            <p:nvSpPr>
              <p:cNvPr id="66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6" name="Oval 66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62" name="Group 661"/>
            <p:cNvGrpSpPr/>
            <p:nvPr/>
          </p:nvGrpSpPr>
          <p:grpSpPr>
            <a:xfrm>
              <a:off x="2434983" y="1261360"/>
              <a:ext cx="431428" cy="575117"/>
              <a:chOff x="2887410" y="414748"/>
              <a:chExt cx="431428" cy="575117"/>
            </a:xfrm>
          </p:grpSpPr>
          <p:sp>
            <p:nvSpPr>
              <p:cNvPr id="66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4" name="Oval 66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677" name="Group 676"/>
          <p:cNvGrpSpPr/>
          <p:nvPr/>
        </p:nvGrpSpPr>
        <p:grpSpPr>
          <a:xfrm>
            <a:off x="6855592" y="2945697"/>
            <a:ext cx="815244" cy="779295"/>
            <a:chOff x="1815829" y="1261360"/>
            <a:chExt cx="1584547" cy="2185734"/>
          </a:xfrm>
        </p:grpSpPr>
        <p:grpSp>
          <p:nvGrpSpPr>
            <p:cNvPr id="678" name="Group 677"/>
            <p:cNvGrpSpPr/>
            <p:nvPr/>
          </p:nvGrpSpPr>
          <p:grpSpPr>
            <a:xfrm>
              <a:off x="2393504" y="2009302"/>
              <a:ext cx="431428" cy="575117"/>
              <a:chOff x="2887410" y="414748"/>
              <a:chExt cx="431428" cy="575117"/>
            </a:xfrm>
          </p:grpSpPr>
          <p:sp>
            <p:nvSpPr>
              <p:cNvPr id="69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8" name="Oval 69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79" name="Group 678"/>
            <p:cNvGrpSpPr/>
            <p:nvPr/>
          </p:nvGrpSpPr>
          <p:grpSpPr>
            <a:xfrm>
              <a:off x="2968948" y="1718435"/>
              <a:ext cx="431428" cy="575117"/>
              <a:chOff x="2887410" y="414748"/>
              <a:chExt cx="431428" cy="575117"/>
            </a:xfrm>
          </p:grpSpPr>
          <p:sp>
            <p:nvSpPr>
              <p:cNvPr id="69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6" name="Oval 69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80" name="Group 679"/>
            <p:cNvGrpSpPr/>
            <p:nvPr/>
          </p:nvGrpSpPr>
          <p:grpSpPr>
            <a:xfrm>
              <a:off x="1890068" y="1737899"/>
              <a:ext cx="431428" cy="575117"/>
              <a:chOff x="2887410" y="414748"/>
              <a:chExt cx="431428" cy="575117"/>
            </a:xfrm>
          </p:grpSpPr>
          <p:sp>
            <p:nvSpPr>
              <p:cNvPr id="69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4" name="Oval 69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81" name="Group 680"/>
            <p:cNvGrpSpPr/>
            <p:nvPr/>
          </p:nvGrpSpPr>
          <p:grpSpPr>
            <a:xfrm>
              <a:off x="2825242" y="2584419"/>
              <a:ext cx="431428" cy="575117"/>
              <a:chOff x="2887410" y="414748"/>
              <a:chExt cx="431428" cy="575117"/>
            </a:xfrm>
          </p:grpSpPr>
          <p:sp>
            <p:nvSpPr>
              <p:cNvPr id="69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2" name="Oval 69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82" name="Group 681"/>
            <p:cNvGrpSpPr/>
            <p:nvPr/>
          </p:nvGrpSpPr>
          <p:grpSpPr>
            <a:xfrm>
              <a:off x="2343351" y="2871977"/>
              <a:ext cx="431428" cy="575117"/>
              <a:chOff x="2887410" y="414748"/>
              <a:chExt cx="431428" cy="575117"/>
            </a:xfrm>
          </p:grpSpPr>
          <p:sp>
            <p:nvSpPr>
              <p:cNvPr id="68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0" name="Oval 68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83" name="Group 682"/>
            <p:cNvGrpSpPr/>
            <p:nvPr/>
          </p:nvGrpSpPr>
          <p:grpSpPr>
            <a:xfrm>
              <a:off x="1815829" y="2440876"/>
              <a:ext cx="431428" cy="575117"/>
              <a:chOff x="2887410" y="414748"/>
              <a:chExt cx="431428" cy="575117"/>
            </a:xfrm>
          </p:grpSpPr>
          <p:sp>
            <p:nvSpPr>
              <p:cNvPr id="68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8" name="Oval 68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84" name="Group 683"/>
            <p:cNvGrpSpPr/>
            <p:nvPr/>
          </p:nvGrpSpPr>
          <p:grpSpPr>
            <a:xfrm>
              <a:off x="2434983" y="1261360"/>
              <a:ext cx="431428" cy="575117"/>
              <a:chOff x="2887410" y="414748"/>
              <a:chExt cx="431428" cy="575117"/>
            </a:xfrm>
          </p:grpSpPr>
          <p:sp>
            <p:nvSpPr>
              <p:cNvPr id="68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6" name="Oval 68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699" name="Group 698"/>
          <p:cNvGrpSpPr/>
          <p:nvPr/>
        </p:nvGrpSpPr>
        <p:grpSpPr>
          <a:xfrm>
            <a:off x="7335522" y="3416480"/>
            <a:ext cx="815244" cy="779295"/>
            <a:chOff x="1815829" y="1261360"/>
            <a:chExt cx="1584547" cy="2185734"/>
          </a:xfrm>
        </p:grpSpPr>
        <p:grpSp>
          <p:nvGrpSpPr>
            <p:cNvPr id="700" name="Group 699"/>
            <p:cNvGrpSpPr/>
            <p:nvPr/>
          </p:nvGrpSpPr>
          <p:grpSpPr>
            <a:xfrm>
              <a:off x="2393504" y="2009302"/>
              <a:ext cx="431428" cy="575117"/>
              <a:chOff x="2887410" y="414748"/>
              <a:chExt cx="431428" cy="575117"/>
            </a:xfrm>
          </p:grpSpPr>
          <p:sp>
            <p:nvSpPr>
              <p:cNvPr id="71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0" name="Oval 71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01" name="Group 700"/>
            <p:cNvGrpSpPr/>
            <p:nvPr/>
          </p:nvGrpSpPr>
          <p:grpSpPr>
            <a:xfrm>
              <a:off x="2968948" y="1718435"/>
              <a:ext cx="431428" cy="575117"/>
              <a:chOff x="2887410" y="414748"/>
              <a:chExt cx="431428" cy="575117"/>
            </a:xfrm>
          </p:grpSpPr>
          <p:sp>
            <p:nvSpPr>
              <p:cNvPr id="71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8" name="Oval 71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02" name="Group 701"/>
            <p:cNvGrpSpPr/>
            <p:nvPr/>
          </p:nvGrpSpPr>
          <p:grpSpPr>
            <a:xfrm>
              <a:off x="1890068" y="1737899"/>
              <a:ext cx="431428" cy="575117"/>
              <a:chOff x="2887410" y="414748"/>
              <a:chExt cx="431428" cy="575117"/>
            </a:xfrm>
          </p:grpSpPr>
          <p:sp>
            <p:nvSpPr>
              <p:cNvPr id="71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6" name="Oval 71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03" name="Group 702"/>
            <p:cNvGrpSpPr/>
            <p:nvPr/>
          </p:nvGrpSpPr>
          <p:grpSpPr>
            <a:xfrm>
              <a:off x="2825242" y="2584419"/>
              <a:ext cx="431428" cy="575117"/>
              <a:chOff x="2887410" y="414748"/>
              <a:chExt cx="431428" cy="575117"/>
            </a:xfrm>
          </p:grpSpPr>
          <p:sp>
            <p:nvSpPr>
              <p:cNvPr id="71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4" name="Oval 71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04" name="Group 703"/>
            <p:cNvGrpSpPr/>
            <p:nvPr/>
          </p:nvGrpSpPr>
          <p:grpSpPr>
            <a:xfrm>
              <a:off x="2343351" y="2871977"/>
              <a:ext cx="431428" cy="575117"/>
              <a:chOff x="2887410" y="414748"/>
              <a:chExt cx="431428" cy="575117"/>
            </a:xfrm>
          </p:grpSpPr>
          <p:sp>
            <p:nvSpPr>
              <p:cNvPr id="71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2" name="Oval 71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05" name="Group 704"/>
            <p:cNvGrpSpPr/>
            <p:nvPr/>
          </p:nvGrpSpPr>
          <p:grpSpPr>
            <a:xfrm>
              <a:off x="1815829" y="2440876"/>
              <a:ext cx="431428" cy="575117"/>
              <a:chOff x="2887410" y="414748"/>
              <a:chExt cx="431428" cy="575117"/>
            </a:xfrm>
          </p:grpSpPr>
          <p:sp>
            <p:nvSpPr>
              <p:cNvPr id="70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0" name="Oval 70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06" name="Group 705"/>
            <p:cNvGrpSpPr/>
            <p:nvPr/>
          </p:nvGrpSpPr>
          <p:grpSpPr>
            <a:xfrm>
              <a:off x="2434983" y="1261360"/>
              <a:ext cx="431428" cy="575117"/>
              <a:chOff x="2887410" y="414748"/>
              <a:chExt cx="431428" cy="575117"/>
            </a:xfrm>
          </p:grpSpPr>
          <p:sp>
            <p:nvSpPr>
              <p:cNvPr id="70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8" name="Oval 70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721" name="Group 720"/>
          <p:cNvGrpSpPr/>
          <p:nvPr/>
        </p:nvGrpSpPr>
        <p:grpSpPr>
          <a:xfrm>
            <a:off x="7819873" y="4012824"/>
            <a:ext cx="815244" cy="779295"/>
            <a:chOff x="1815829" y="1261360"/>
            <a:chExt cx="1584547" cy="2185734"/>
          </a:xfrm>
        </p:grpSpPr>
        <p:grpSp>
          <p:nvGrpSpPr>
            <p:cNvPr id="722" name="Group 721"/>
            <p:cNvGrpSpPr/>
            <p:nvPr/>
          </p:nvGrpSpPr>
          <p:grpSpPr>
            <a:xfrm>
              <a:off x="2393504" y="2009302"/>
              <a:ext cx="431428" cy="575117"/>
              <a:chOff x="2887410" y="414748"/>
              <a:chExt cx="431428" cy="575117"/>
            </a:xfrm>
          </p:grpSpPr>
          <p:sp>
            <p:nvSpPr>
              <p:cNvPr id="74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2" name="Oval 74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23" name="Group 722"/>
            <p:cNvGrpSpPr/>
            <p:nvPr/>
          </p:nvGrpSpPr>
          <p:grpSpPr>
            <a:xfrm>
              <a:off x="2968948" y="1718435"/>
              <a:ext cx="431428" cy="575117"/>
              <a:chOff x="2887410" y="414748"/>
              <a:chExt cx="431428" cy="575117"/>
            </a:xfrm>
          </p:grpSpPr>
          <p:sp>
            <p:nvSpPr>
              <p:cNvPr id="73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0" name="Oval 73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24" name="Group 723"/>
            <p:cNvGrpSpPr/>
            <p:nvPr/>
          </p:nvGrpSpPr>
          <p:grpSpPr>
            <a:xfrm>
              <a:off x="1890068" y="1737899"/>
              <a:ext cx="431428" cy="575117"/>
              <a:chOff x="2887410" y="414748"/>
              <a:chExt cx="431428" cy="575117"/>
            </a:xfrm>
          </p:grpSpPr>
          <p:sp>
            <p:nvSpPr>
              <p:cNvPr id="73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8" name="Oval 73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25" name="Group 724"/>
            <p:cNvGrpSpPr/>
            <p:nvPr/>
          </p:nvGrpSpPr>
          <p:grpSpPr>
            <a:xfrm>
              <a:off x="2825242" y="2584419"/>
              <a:ext cx="431428" cy="575117"/>
              <a:chOff x="2887410" y="414748"/>
              <a:chExt cx="431428" cy="575117"/>
            </a:xfrm>
          </p:grpSpPr>
          <p:sp>
            <p:nvSpPr>
              <p:cNvPr id="73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6" name="Oval 73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26" name="Group 725"/>
            <p:cNvGrpSpPr/>
            <p:nvPr/>
          </p:nvGrpSpPr>
          <p:grpSpPr>
            <a:xfrm>
              <a:off x="2343351" y="2871977"/>
              <a:ext cx="431428" cy="575117"/>
              <a:chOff x="2887410" y="414748"/>
              <a:chExt cx="431428" cy="575117"/>
            </a:xfrm>
          </p:grpSpPr>
          <p:sp>
            <p:nvSpPr>
              <p:cNvPr id="73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4" name="Oval 73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27" name="Group 726"/>
            <p:cNvGrpSpPr/>
            <p:nvPr/>
          </p:nvGrpSpPr>
          <p:grpSpPr>
            <a:xfrm>
              <a:off x="1815829" y="2440876"/>
              <a:ext cx="431428" cy="575117"/>
              <a:chOff x="2887410" y="414748"/>
              <a:chExt cx="431428" cy="575117"/>
            </a:xfrm>
          </p:grpSpPr>
          <p:sp>
            <p:nvSpPr>
              <p:cNvPr id="73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2" name="Oval 73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28" name="Group 727"/>
            <p:cNvGrpSpPr/>
            <p:nvPr/>
          </p:nvGrpSpPr>
          <p:grpSpPr>
            <a:xfrm>
              <a:off x="2434983" y="1261360"/>
              <a:ext cx="431428" cy="575117"/>
              <a:chOff x="2887410" y="414748"/>
              <a:chExt cx="431428" cy="575117"/>
            </a:xfrm>
          </p:grpSpPr>
          <p:sp>
            <p:nvSpPr>
              <p:cNvPr id="72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0" name="Oval 72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Tree>
    <p:extLst>
      <p:ext uri="{BB962C8B-B14F-4D97-AF65-F5344CB8AC3E}">
        <p14:creationId xmlns:p14="http://schemas.microsoft.com/office/powerpoint/2010/main" val="77643647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3" name="Rectangle 742"/>
          <p:cNvSpPr/>
          <p:nvPr/>
        </p:nvSpPr>
        <p:spPr>
          <a:xfrm>
            <a:off x="843951" y="1249138"/>
            <a:ext cx="10852727" cy="6858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Rectangle 79"/>
          <p:cNvSpPr/>
          <p:nvPr/>
        </p:nvSpPr>
        <p:spPr>
          <a:xfrm>
            <a:off x="9497791" y="1438613"/>
            <a:ext cx="2470302" cy="3063734"/>
          </a:xfrm>
          <a:prstGeom prst="rect">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Rectangle 78"/>
          <p:cNvSpPr/>
          <p:nvPr/>
        </p:nvSpPr>
        <p:spPr>
          <a:xfrm>
            <a:off x="41989" y="1388193"/>
            <a:ext cx="2470302" cy="3063734"/>
          </a:xfrm>
          <a:prstGeom prst="rect">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5" name="Group 24"/>
          <p:cNvGrpSpPr/>
          <p:nvPr/>
        </p:nvGrpSpPr>
        <p:grpSpPr>
          <a:xfrm>
            <a:off x="3142372" y="4246281"/>
            <a:ext cx="815244" cy="779295"/>
            <a:chOff x="1815829" y="1261360"/>
            <a:chExt cx="1584547" cy="2185734"/>
          </a:xfrm>
        </p:grpSpPr>
        <p:grpSp>
          <p:nvGrpSpPr>
            <p:cNvPr id="6" name="Group 5"/>
            <p:cNvGrpSpPr/>
            <p:nvPr/>
          </p:nvGrpSpPr>
          <p:grpSpPr>
            <a:xfrm>
              <a:off x="2393504" y="2009302"/>
              <a:ext cx="431428" cy="575117"/>
              <a:chOff x="2887410" y="414748"/>
              <a:chExt cx="431428" cy="575117"/>
            </a:xfrm>
          </p:grpSpPr>
          <p:sp>
            <p:nvSpPr>
              <p:cNvPr id="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 name="Group 6"/>
            <p:cNvGrpSpPr/>
            <p:nvPr/>
          </p:nvGrpSpPr>
          <p:grpSpPr>
            <a:xfrm>
              <a:off x="2968948" y="1718435"/>
              <a:ext cx="431428" cy="575117"/>
              <a:chOff x="2887410" y="414748"/>
              <a:chExt cx="431428" cy="575117"/>
            </a:xfrm>
          </p:grpSpPr>
          <p:sp>
            <p:nvSpPr>
              <p:cNvPr id="8"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 name="Group 9"/>
            <p:cNvGrpSpPr/>
            <p:nvPr/>
          </p:nvGrpSpPr>
          <p:grpSpPr>
            <a:xfrm>
              <a:off x="1890068" y="1737899"/>
              <a:ext cx="431428" cy="575117"/>
              <a:chOff x="2887410" y="414748"/>
              <a:chExt cx="431428" cy="575117"/>
            </a:xfrm>
          </p:grpSpPr>
          <p:sp>
            <p:nvSpPr>
              <p:cNvPr id="1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 name="Group 12"/>
            <p:cNvGrpSpPr/>
            <p:nvPr/>
          </p:nvGrpSpPr>
          <p:grpSpPr>
            <a:xfrm>
              <a:off x="2825242" y="2584419"/>
              <a:ext cx="431428" cy="575117"/>
              <a:chOff x="2887410" y="414748"/>
              <a:chExt cx="431428" cy="575117"/>
            </a:xfrm>
          </p:grpSpPr>
          <p:sp>
            <p:nvSpPr>
              <p:cNvPr id="1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6" name="Group 15"/>
            <p:cNvGrpSpPr/>
            <p:nvPr/>
          </p:nvGrpSpPr>
          <p:grpSpPr>
            <a:xfrm>
              <a:off x="2343351" y="2871977"/>
              <a:ext cx="431428" cy="575117"/>
              <a:chOff x="2887410" y="414748"/>
              <a:chExt cx="431428" cy="575117"/>
            </a:xfrm>
          </p:grpSpPr>
          <p:sp>
            <p:nvSpPr>
              <p:cNvPr id="1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 name="Group 18"/>
            <p:cNvGrpSpPr/>
            <p:nvPr/>
          </p:nvGrpSpPr>
          <p:grpSpPr>
            <a:xfrm>
              <a:off x="1815829" y="2440876"/>
              <a:ext cx="431428" cy="575117"/>
              <a:chOff x="2887410" y="414748"/>
              <a:chExt cx="431428" cy="575117"/>
            </a:xfrm>
          </p:grpSpPr>
          <p:sp>
            <p:nvSpPr>
              <p:cNvPr id="20"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 name="Group 21"/>
            <p:cNvGrpSpPr/>
            <p:nvPr/>
          </p:nvGrpSpPr>
          <p:grpSpPr>
            <a:xfrm>
              <a:off x="2434983" y="1261360"/>
              <a:ext cx="431428" cy="575117"/>
              <a:chOff x="2887410" y="414748"/>
              <a:chExt cx="431428" cy="575117"/>
            </a:xfrm>
          </p:grpSpPr>
          <p:sp>
            <p:nvSpPr>
              <p:cNvPr id="2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48" name="Rectangle 47"/>
          <p:cNvSpPr/>
          <p:nvPr/>
        </p:nvSpPr>
        <p:spPr>
          <a:xfrm>
            <a:off x="145206" y="362117"/>
            <a:ext cx="11707244" cy="584775"/>
          </a:xfrm>
          <a:prstGeom prst="rect">
            <a:avLst/>
          </a:prstGeom>
        </p:spPr>
        <p:txBody>
          <a:bodyPr wrap="square">
            <a:spAutoFit/>
          </a:bodyPr>
          <a:lstStyle/>
          <a:p>
            <a:r>
              <a:rPr lang="en-GB" sz="3200" dirty="0" smtClean="0"/>
              <a:t>This doesn’t change if you increase sample size</a:t>
            </a:r>
            <a:endParaRPr lang="en-GB" sz="3200" dirty="0"/>
          </a:p>
        </p:txBody>
      </p:sp>
      <p:sp>
        <p:nvSpPr>
          <p:cNvPr id="49" name="TextBox 48"/>
          <p:cNvSpPr txBox="1"/>
          <p:nvPr/>
        </p:nvSpPr>
        <p:spPr>
          <a:xfrm>
            <a:off x="2715849" y="1491402"/>
            <a:ext cx="1791384" cy="523220"/>
          </a:xfrm>
          <a:prstGeom prst="rect">
            <a:avLst/>
          </a:prstGeom>
          <a:noFill/>
        </p:spPr>
        <p:txBody>
          <a:bodyPr wrap="square" rtlCol="0">
            <a:spAutoFit/>
          </a:bodyPr>
          <a:lstStyle/>
          <a:p>
            <a:pPr algn="ctr"/>
            <a:r>
              <a:rPr lang="en-GB" sz="2800" dirty="0" smtClean="0"/>
              <a:t>Group A</a:t>
            </a:r>
            <a:endParaRPr lang="en-GB" sz="2800" dirty="0"/>
          </a:p>
        </p:txBody>
      </p:sp>
      <p:sp>
        <p:nvSpPr>
          <p:cNvPr id="50" name="Rectangle 49"/>
          <p:cNvSpPr/>
          <p:nvPr/>
        </p:nvSpPr>
        <p:spPr>
          <a:xfrm>
            <a:off x="7816846" y="1495318"/>
            <a:ext cx="1443730" cy="523220"/>
          </a:xfrm>
          <a:prstGeom prst="rect">
            <a:avLst/>
          </a:prstGeom>
        </p:spPr>
        <p:txBody>
          <a:bodyPr wrap="none">
            <a:spAutoFit/>
          </a:bodyPr>
          <a:lstStyle/>
          <a:p>
            <a:pPr algn="ctr"/>
            <a:r>
              <a:rPr lang="en-GB" sz="2800" dirty="0"/>
              <a:t>Group </a:t>
            </a:r>
            <a:r>
              <a:rPr lang="en-GB" sz="2800" dirty="0" smtClean="0"/>
              <a:t>B</a:t>
            </a:r>
            <a:endParaRPr lang="en-GB" sz="2800" dirty="0"/>
          </a:p>
        </p:txBody>
      </p:sp>
      <p:grpSp>
        <p:nvGrpSpPr>
          <p:cNvPr id="60" name="Group 59"/>
          <p:cNvGrpSpPr/>
          <p:nvPr/>
        </p:nvGrpSpPr>
        <p:grpSpPr>
          <a:xfrm>
            <a:off x="0" y="1417956"/>
            <a:ext cx="2386864" cy="2757880"/>
            <a:chOff x="0" y="1417956"/>
            <a:chExt cx="2386864" cy="2757880"/>
          </a:xfrm>
        </p:grpSpPr>
        <p:sp>
          <p:nvSpPr>
            <p:cNvPr id="52" name="Rectangle 51"/>
            <p:cNvSpPr/>
            <p:nvPr/>
          </p:nvSpPr>
          <p:spPr>
            <a:xfrm>
              <a:off x="0" y="2498554"/>
              <a:ext cx="2282997" cy="369332"/>
            </a:xfrm>
            <a:prstGeom prst="rect">
              <a:avLst/>
            </a:prstGeom>
          </p:spPr>
          <p:txBody>
            <a:bodyPr wrap="none">
              <a:spAutoFit/>
            </a:bodyPr>
            <a:lstStyle/>
            <a:p>
              <a:r>
                <a:rPr lang="en-GB" dirty="0">
                  <a:solidFill>
                    <a:srgbClr val="00B0F0"/>
                  </a:solidFill>
                </a:rPr>
                <a:t>social economic status</a:t>
              </a:r>
            </a:p>
          </p:txBody>
        </p:sp>
        <p:grpSp>
          <p:nvGrpSpPr>
            <p:cNvPr id="59" name="Group 58"/>
            <p:cNvGrpSpPr/>
            <p:nvPr/>
          </p:nvGrpSpPr>
          <p:grpSpPr>
            <a:xfrm>
              <a:off x="157001" y="1417956"/>
              <a:ext cx="2229863" cy="2757880"/>
              <a:chOff x="218692" y="1313328"/>
              <a:chExt cx="2229863" cy="2757880"/>
            </a:xfrm>
          </p:grpSpPr>
          <p:grpSp>
            <p:nvGrpSpPr>
              <p:cNvPr id="58" name="Group 57"/>
              <p:cNvGrpSpPr/>
              <p:nvPr/>
            </p:nvGrpSpPr>
            <p:grpSpPr>
              <a:xfrm>
                <a:off x="218692" y="1858406"/>
                <a:ext cx="2229863" cy="2212802"/>
                <a:chOff x="218692" y="1858406"/>
                <a:chExt cx="2229863" cy="2212802"/>
              </a:xfrm>
            </p:grpSpPr>
            <p:sp>
              <p:nvSpPr>
                <p:cNvPr id="2" name="Rectangle 1"/>
                <p:cNvSpPr/>
                <p:nvPr/>
              </p:nvSpPr>
              <p:spPr>
                <a:xfrm>
                  <a:off x="218692" y="1858406"/>
                  <a:ext cx="2126672" cy="369332"/>
                </a:xfrm>
                <a:prstGeom prst="rect">
                  <a:avLst/>
                </a:prstGeom>
              </p:spPr>
              <p:txBody>
                <a:bodyPr wrap="none">
                  <a:spAutoFit/>
                </a:bodyPr>
                <a:lstStyle/>
                <a:p>
                  <a:r>
                    <a:rPr lang="en-GB" dirty="0"/>
                    <a:t>duration of infertility</a:t>
                  </a:r>
                </a:p>
              </p:txBody>
            </p:sp>
            <p:sp>
              <p:nvSpPr>
                <p:cNvPr id="3" name="Rectangle 2"/>
                <p:cNvSpPr/>
                <p:nvPr/>
              </p:nvSpPr>
              <p:spPr>
                <a:xfrm>
                  <a:off x="1887022" y="2752464"/>
                  <a:ext cx="551754" cy="369332"/>
                </a:xfrm>
                <a:prstGeom prst="rect">
                  <a:avLst/>
                </a:prstGeom>
              </p:spPr>
              <p:txBody>
                <a:bodyPr wrap="none">
                  <a:spAutoFit/>
                </a:bodyPr>
                <a:lstStyle/>
                <a:p>
                  <a:r>
                    <a:rPr lang="en-GB" dirty="0" smtClean="0"/>
                    <a:t>BMI</a:t>
                  </a:r>
                  <a:endParaRPr lang="en-GB" dirty="0"/>
                </a:p>
              </p:txBody>
            </p:sp>
            <p:sp>
              <p:nvSpPr>
                <p:cNvPr id="51" name="Rectangle 50"/>
                <p:cNvSpPr/>
                <p:nvPr/>
              </p:nvSpPr>
              <p:spPr>
                <a:xfrm>
                  <a:off x="1074550" y="3222115"/>
                  <a:ext cx="663964" cy="523220"/>
                </a:xfrm>
                <a:prstGeom prst="rect">
                  <a:avLst/>
                </a:prstGeom>
              </p:spPr>
              <p:txBody>
                <a:bodyPr wrap="none">
                  <a:spAutoFit/>
                </a:bodyPr>
                <a:lstStyle/>
                <a:p>
                  <a:r>
                    <a:rPr lang="en-GB" sz="2800" dirty="0"/>
                    <a:t>age</a:t>
                  </a:r>
                </a:p>
              </p:txBody>
            </p:sp>
            <p:sp>
              <p:nvSpPr>
                <p:cNvPr id="53" name="Rectangle 52"/>
                <p:cNvSpPr/>
                <p:nvPr/>
              </p:nvSpPr>
              <p:spPr>
                <a:xfrm>
                  <a:off x="234253" y="3701876"/>
                  <a:ext cx="1460849" cy="369332"/>
                </a:xfrm>
                <a:prstGeom prst="rect">
                  <a:avLst/>
                </a:prstGeom>
              </p:spPr>
              <p:txBody>
                <a:bodyPr wrap="none">
                  <a:spAutoFit/>
                </a:bodyPr>
                <a:lstStyle/>
                <a:p>
                  <a:r>
                    <a:rPr lang="en-GB" dirty="0">
                      <a:solidFill>
                        <a:srgbClr val="FF0000"/>
                      </a:solidFill>
                    </a:rPr>
                    <a:t>culture media</a:t>
                  </a:r>
                </a:p>
              </p:txBody>
            </p:sp>
            <p:sp>
              <p:nvSpPr>
                <p:cNvPr id="54" name="Rectangle 53"/>
                <p:cNvSpPr/>
                <p:nvPr/>
              </p:nvSpPr>
              <p:spPr>
                <a:xfrm>
                  <a:off x="2175723" y="2259424"/>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sp>
              <p:nvSpPr>
                <p:cNvPr id="55" name="Rectangle 54"/>
                <p:cNvSpPr/>
                <p:nvPr/>
              </p:nvSpPr>
              <p:spPr>
                <a:xfrm>
                  <a:off x="588247" y="2989944"/>
                  <a:ext cx="399468" cy="769441"/>
                </a:xfrm>
                <a:prstGeom prst="rect">
                  <a:avLst/>
                </a:prstGeom>
              </p:spPr>
              <p:txBody>
                <a:bodyPr wrap="none">
                  <a:spAutoFit/>
                </a:bodyPr>
                <a:lstStyle/>
                <a:p>
                  <a:r>
                    <a:rPr lang="en-GB" sz="4400" dirty="0">
                      <a:solidFill>
                        <a:schemeClr val="accent1">
                          <a:lumMod val="60000"/>
                          <a:lumOff val="40000"/>
                        </a:schemeClr>
                      </a:solidFill>
                      <a:latin typeface="Agency FB" panose="020B0503020202020204" pitchFamily="34" charset="0"/>
                    </a:rPr>
                    <a:t>?</a:t>
                  </a:r>
                </a:p>
              </p:txBody>
            </p:sp>
            <p:sp>
              <p:nvSpPr>
                <p:cNvPr id="56" name="Rectangle 55"/>
                <p:cNvSpPr/>
                <p:nvPr/>
              </p:nvSpPr>
              <p:spPr>
                <a:xfrm>
                  <a:off x="2072532" y="3270775"/>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grpSp>
          <p:sp>
            <p:nvSpPr>
              <p:cNvPr id="57" name="Rectangle 56"/>
              <p:cNvSpPr/>
              <p:nvPr/>
            </p:nvSpPr>
            <p:spPr>
              <a:xfrm>
                <a:off x="843348" y="1313328"/>
                <a:ext cx="420308" cy="830997"/>
              </a:xfrm>
              <a:prstGeom prst="rect">
                <a:avLst/>
              </a:prstGeom>
            </p:spPr>
            <p:txBody>
              <a:bodyPr wrap="none">
                <a:spAutoFit/>
              </a:bodyPr>
              <a:lstStyle/>
              <a:p>
                <a:r>
                  <a:rPr lang="en-GB" sz="4800" dirty="0">
                    <a:solidFill>
                      <a:schemeClr val="accent1">
                        <a:lumMod val="60000"/>
                        <a:lumOff val="40000"/>
                      </a:schemeClr>
                    </a:solidFill>
                    <a:latin typeface="Agency FB" panose="020B0503020202020204" pitchFamily="34" charset="0"/>
                  </a:rPr>
                  <a:t>?</a:t>
                </a:r>
              </a:p>
            </p:txBody>
          </p:sp>
        </p:grpSp>
      </p:grpSp>
      <p:grpSp>
        <p:nvGrpSpPr>
          <p:cNvPr id="61" name="Group 60"/>
          <p:cNvGrpSpPr/>
          <p:nvPr/>
        </p:nvGrpSpPr>
        <p:grpSpPr>
          <a:xfrm>
            <a:off x="9549421" y="1388193"/>
            <a:ext cx="2386864" cy="2757880"/>
            <a:chOff x="0" y="1417956"/>
            <a:chExt cx="2386864" cy="2757880"/>
          </a:xfrm>
        </p:grpSpPr>
        <p:sp>
          <p:nvSpPr>
            <p:cNvPr id="62" name="Rectangle 61"/>
            <p:cNvSpPr/>
            <p:nvPr/>
          </p:nvSpPr>
          <p:spPr>
            <a:xfrm>
              <a:off x="0" y="2498554"/>
              <a:ext cx="2282997" cy="369332"/>
            </a:xfrm>
            <a:prstGeom prst="rect">
              <a:avLst/>
            </a:prstGeom>
          </p:spPr>
          <p:txBody>
            <a:bodyPr wrap="none">
              <a:spAutoFit/>
            </a:bodyPr>
            <a:lstStyle/>
            <a:p>
              <a:r>
                <a:rPr lang="en-GB" dirty="0">
                  <a:solidFill>
                    <a:srgbClr val="00B0F0"/>
                  </a:solidFill>
                </a:rPr>
                <a:t>social economic status</a:t>
              </a:r>
            </a:p>
          </p:txBody>
        </p:sp>
        <p:grpSp>
          <p:nvGrpSpPr>
            <p:cNvPr id="63" name="Group 62"/>
            <p:cNvGrpSpPr/>
            <p:nvPr/>
          </p:nvGrpSpPr>
          <p:grpSpPr>
            <a:xfrm>
              <a:off x="157001" y="1417956"/>
              <a:ext cx="2229863" cy="2757880"/>
              <a:chOff x="218692" y="1313328"/>
              <a:chExt cx="2229863" cy="2757880"/>
            </a:xfrm>
          </p:grpSpPr>
          <p:grpSp>
            <p:nvGrpSpPr>
              <p:cNvPr id="64" name="Group 63"/>
              <p:cNvGrpSpPr/>
              <p:nvPr/>
            </p:nvGrpSpPr>
            <p:grpSpPr>
              <a:xfrm>
                <a:off x="218692" y="1858406"/>
                <a:ext cx="2229863" cy="2212802"/>
                <a:chOff x="218692" y="1858406"/>
                <a:chExt cx="2229863" cy="2212802"/>
              </a:xfrm>
            </p:grpSpPr>
            <p:sp>
              <p:nvSpPr>
                <p:cNvPr id="66" name="Rectangle 65"/>
                <p:cNvSpPr/>
                <p:nvPr/>
              </p:nvSpPr>
              <p:spPr>
                <a:xfrm>
                  <a:off x="218692" y="1858406"/>
                  <a:ext cx="2126672" cy="369332"/>
                </a:xfrm>
                <a:prstGeom prst="rect">
                  <a:avLst/>
                </a:prstGeom>
              </p:spPr>
              <p:txBody>
                <a:bodyPr wrap="none">
                  <a:spAutoFit/>
                </a:bodyPr>
                <a:lstStyle/>
                <a:p>
                  <a:r>
                    <a:rPr lang="en-GB" dirty="0"/>
                    <a:t>duration of infertility</a:t>
                  </a:r>
                </a:p>
              </p:txBody>
            </p:sp>
            <p:sp>
              <p:nvSpPr>
                <p:cNvPr id="67" name="Rectangle 66"/>
                <p:cNvSpPr/>
                <p:nvPr/>
              </p:nvSpPr>
              <p:spPr>
                <a:xfrm>
                  <a:off x="1887022" y="2752464"/>
                  <a:ext cx="551754" cy="369332"/>
                </a:xfrm>
                <a:prstGeom prst="rect">
                  <a:avLst/>
                </a:prstGeom>
              </p:spPr>
              <p:txBody>
                <a:bodyPr wrap="none">
                  <a:spAutoFit/>
                </a:bodyPr>
                <a:lstStyle/>
                <a:p>
                  <a:r>
                    <a:rPr lang="en-GB" dirty="0" smtClean="0"/>
                    <a:t>BMI</a:t>
                  </a:r>
                  <a:endParaRPr lang="en-GB" dirty="0"/>
                </a:p>
              </p:txBody>
            </p:sp>
            <p:sp>
              <p:nvSpPr>
                <p:cNvPr id="68" name="Rectangle 67"/>
                <p:cNvSpPr/>
                <p:nvPr/>
              </p:nvSpPr>
              <p:spPr>
                <a:xfrm>
                  <a:off x="1074550" y="3222115"/>
                  <a:ext cx="663964" cy="523220"/>
                </a:xfrm>
                <a:prstGeom prst="rect">
                  <a:avLst/>
                </a:prstGeom>
              </p:spPr>
              <p:txBody>
                <a:bodyPr wrap="none">
                  <a:spAutoFit/>
                </a:bodyPr>
                <a:lstStyle/>
                <a:p>
                  <a:r>
                    <a:rPr lang="en-GB" sz="2800" dirty="0"/>
                    <a:t>age</a:t>
                  </a:r>
                </a:p>
              </p:txBody>
            </p:sp>
            <p:sp>
              <p:nvSpPr>
                <p:cNvPr id="69" name="Rectangle 68"/>
                <p:cNvSpPr/>
                <p:nvPr/>
              </p:nvSpPr>
              <p:spPr>
                <a:xfrm>
                  <a:off x="234253" y="3701876"/>
                  <a:ext cx="1460849" cy="369332"/>
                </a:xfrm>
                <a:prstGeom prst="rect">
                  <a:avLst/>
                </a:prstGeom>
              </p:spPr>
              <p:txBody>
                <a:bodyPr wrap="none">
                  <a:spAutoFit/>
                </a:bodyPr>
                <a:lstStyle/>
                <a:p>
                  <a:r>
                    <a:rPr lang="en-GB" dirty="0">
                      <a:solidFill>
                        <a:srgbClr val="FF0000"/>
                      </a:solidFill>
                    </a:rPr>
                    <a:t>culture media</a:t>
                  </a:r>
                </a:p>
              </p:txBody>
            </p:sp>
            <p:sp>
              <p:nvSpPr>
                <p:cNvPr id="70" name="Rectangle 69"/>
                <p:cNvSpPr/>
                <p:nvPr/>
              </p:nvSpPr>
              <p:spPr>
                <a:xfrm>
                  <a:off x="2175723" y="2259424"/>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sp>
              <p:nvSpPr>
                <p:cNvPr id="71" name="Rectangle 70"/>
                <p:cNvSpPr/>
                <p:nvPr/>
              </p:nvSpPr>
              <p:spPr>
                <a:xfrm>
                  <a:off x="588247" y="2989944"/>
                  <a:ext cx="399468" cy="769441"/>
                </a:xfrm>
                <a:prstGeom prst="rect">
                  <a:avLst/>
                </a:prstGeom>
              </p:spPr>
              <p:txBody>
                <a:bodyPr wrap="none">
                  <a:spAutoFit/>
                </a:bodyPr>
                <a:lstStyle/>
                <a:p>
                  <a:r>
                    <a:rPr lang="en-GB" sz="4400" dirty="0">
                      <a:solidFill>
                        <a:schemeClr val="accent1">
                          <a:lumMod val="60000"/>
                          <a:lumOff val="40000"/>
                        </a:schemeClr>
                      </a:solidFill>
                      <a:latin typeface="Agency FB" panose="020B0503020202020204" pitchFamily="34" charset="0"/>
                    </a:rPr>
                    <a:t>?</a:t>
                  </a:r>
                </a:p>
              </p:txBody>
            </p:sp>
            <p:sp>
              <p:nvSpPr>
                <p:cNvPr id="72" name="Rectangle 71"/>
                <p:cNvSpPr/>
                <p:nvPr/>
              </p:nvSpPr>
              <p:spPr>
                <a:xfrm>
                  <a:off x="2072532" y="3270775"/>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grpSp>
          <p:sp>
            <p:nvSpPr>
              <p:cNvPr id="65" name="Rectangle 64"/>
              <p:cNvSpPr/>
              <p:nvPr/>
            </p:nvSpPr>
            <p:spPr>
              <a:xfrm>
                <a:off x="843348" y="1313328"/>
                <a:ext cx="420308" cy="830997"/>
              </a:xfrm>
              <a:prstGeom prst="rect">
                <a:avLst/>
              </a:prstGeom>
            </p:spPr>
            <p:txBody>
              <a:bodyPr wrap="none">
                <a:spAutoFit/>
              </a:bodyPr>
              <a:lstStyle/>
              <a:p>
                <a:r>
                  <a:rPr lang="en-GB" sz="4800" dirty="0">
                    <a:solidFill>
                      <a:schemeClr val="accent1">
                        <a:lumMod val="60000"/>
                        <a:lumOff val="40000"/>
                      </a:schemeClr>
                    </a:solidFill>
                    <a:latin typeface="Agency FB" panose="020B0503020202020204" pitchFamily="34" charset="0"/>
                  </a:rPr>
                  <a:t>?</a:t>
                </a:r>
              </a:p>
            </p:txBody>
          </p:sp>
        </p:grpSp>
      </p:grpSp>
      <p:grpSp>
        <p:nvGrpSpPr>
          <p:cNvPr id="105" name="Group 104"/>
          <p:cNvGrpSpPr/>
          <p:nvPr/>
        </p:nvGrpSpPr>
        <p:grpSpPr>
          <a:xfrm>
            <a:off x="7797500" y="3355770"/>
            <a:ext cx="815244" cy="779295"/>
            <a:chOff x="1815829" y="1261360"/>
            <a:chExt cx="1584547" cy="2185734"/>
          </a:xfrm>
        </p:grpSpPr>
        <p:grpSp>
          <p:nvGrpSpPr>
            <p:cNvPr id="106" name="Group 105"/>
            <p:cNvGrpSpPr/>
            <p:nvPr/>
          </p:nvGrpSpPr>
          <p:grpSpPr>
            <a:xfrm>
              <a:off x="2393504" y="2009302"/>
              <a:ext cx="431428" cy="575117"/>
              <a:chOff x="2887410" y="414748"/>
              <a:chExt cx="431428" cy="575117"/>
            </a:xfrm>
          </p:grpSpPr>
          <p:sp>
            <p:nvSpPr>
              <p:cNvPr id="12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6" name="Oval 12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7" name="Group 106"/>
            <p:cNvGrpSpPr/>
            <p:nvPr/>
          </p:nvGrpSpPr>
          <p:grpSpPr>
            <a:xfrm>
              <a:off x="2968948" y="1718435"/>
              <a:ext cx="431428" cy="575117"/>
              <a:chOff x="2887410" y="414748"/>
              <a:chExt cx="431428" cy="575117"/>
            </a:xfrm>
          </p:grpSpPr>
          <p:sp>
            <p:nvSpPr>
              <p:cNvPr id="12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Oval 12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8" name="Group 107"/>
            <p:cNvGrpSpPr/>
            <p:nvPr/>
          </p:nvGrpSpPr>
          <p:grpSpPr>
            <a:xfrm>
              <a:off x="1890068" y="1737899"/>
              <a:ext cx="431428" cy="575117"/>
              <a:chOff x="2887410" y="414748"/>
              <a:chExt cx="431428" cy="575117"/>
            </a:xfrm>
          </p:grpSpPr>
          <p:sp>
            <p:nvSpPr>
              <p:cNvPr id="12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Oval 12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9" name="Group 108"/>
            <p:cNvGrpSpPr/>
            <p:nvPr/>
          </p:nvGrpSpPr>
          <p:grpSpPr>
            <a:xfrm>
              <a:off x="2825242" y="2584419"/>
              <a:ext cx="431428" cy="575117"/>
              <a:chOff x="2887410" y="414748"/>
              <a:chExt cx="431428" cy="575117"/>
            </a:xfrm>
          </p:grpSpPr>
          <p:sp>
            <p:nvSpPr>
              <p:cNvPr id="11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Oval 11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10" name="Group 109"/>
            <p:cNvGrpSpPr/>
            <p:nvPr/>
          </p:nvGrpSpPr>
          <p:grpSpPr>
            <a:xfrm>
              <a:off x="2343351" y="2871977"/>
              <a:ext cx="431428" cy="575117"/>
              <a:chOff x="2887410" y="414748"/>
              <a:chExt cx="431428" cy="575117"/>
            </a:xfrm>
          </p:grpSpPr>
          <p:sp>
            <p:nvSpPr>
              <p:cNvPr id="11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8" name="Oval 11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11" name="Group 110"/>
            <p:cNvGrpSpPr/>
            <p:nvPr/>
          </p:nvGrpSpPr>
          <p:grpSpPr>
            <a:xfrm>
              <a:off x="1815829" y="2440876"/>
              <a:ext cx="431428" cy="575117"/>
              <a:chOff x="2887410" y="414748"/>
              <a:chExt cx="431428" cy="575117"/>
            </a:xfrm>
          </p:grpSpPr>
          <p:sp>
            <p:nvSpPr>
              <p:cNvPr id="11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 name="Oval 11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12" name="Group 111"/>
            <p:cNvGrpSpPr/>
            <p:nvPr/>
          </p:nvGrpSpPr>
          <p:grpSpPr>
            <a:xfrm>
              <a:off x="2434983" y="1261360"/>
              <a:ext cx="431428" cy="575117"/>
              <a:chOff x="2887410" y="414748"/>
              <a:chExt cx="431428" cy="575117"/>
            </a:xfrm>
          </p:grpSpPr>
          <p:sp>
            <p:nvSpPr>
              <p:cNvPr id="11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4" name="Oval 11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127" name="Group 126"/>
          <p:cNvGrpSpPr/>
          <p:nvPr/>
        </p:nvGrpSpPr>
        <p:grpSpPr>
          <a:xfrm>
            <a:off x="2899168" y="3388604"/>
            <a:ext cx="815244" cy="779295"/>
            <a:chOff x="1815829" y="1261360"/>
            <a:chExt cx="1584547" cy="2185734"/>
          </a:xfrm>
        </p:grpSpPr>
        <p:grpSp>
          <p:nvGrpSpPr>
            <p:cNvPr id="128" name="Group 127"/>
            <p:cNvGrpSpPr/>
            <p:nvPr/>
          </p:nvGrpSpPr>
          <p:grpSpPr>
            <a:xfrm>
              <a:off x="2393504" y="2009302"/>
              <a:ext cx="431428" cy="575117"/>
              <a:chOff x="2887410" y="414748"/>
              <a:chExt cx="431428" cy="575117"/>
            </a:xfrm>
          </p:grpSpPr>
          <p:sp>
            <p:nvSpPr>
              <p:cNvPr id="14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8" name="Oval 14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29" name="Group 128"/>
            <p:cNvGrpSpPr/>
            <p:nvPr/>
          </p:nvGrpSpPr>
          <p:grpSpPr>
            <a:xfrm>
              <a:off x="2968948" y="1718435"/>
              <a:ext cx="431428" cy="575117"/>
              <a:chOff x="2887410" y="414748"/>
              <a:chExt cx="431428" cy="575117"/>
            </a:xfrm>
          </p:grpSpPr>
          <p:sp>
            <p:nvSpPr>
              <p:cNvPr id="14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6" name="Oval 14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0" name="Group 129"/>
            <p:cNvGrpSpPr/>
            <p:nvPr/>
          </p:nvGrpSpPr>
          <p:grpSpPr>
            <a:xfrm>
              <a:off x="1890068" y="1737899"/>
              <a:ext cx="431428" cy="575117"/>
              <a:chOff x="2887410" y="414748"/>
              <a:chExt cx="431428" cy="575117"/>
            </a:xfrm>
          </p:grpSpPr>
          <p:sp>
            <p:nvSpPr>
              <p:cNvPr id="14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4" name="Oval 14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1" name="Group 130"/>
            <p:cNvGrpSpPr/>
            <p:nvPr/>
          </p:nvGrpSpPr>
          <p:grpSpPr>
            <a:xfrm>
              <a:off x="2825242" y="2584419"/>
              <a:ext cx="431428" cy="575117"/>
              <a:chOff x="2887410" y="414748"/>
              <a:chExt cx="431428" cy="575117"/>
            </a:xfrm>
          </p:grpSpPr>
          <p:sp>
            <p:nvSpPr>
              <p:cNvPr id="14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2" name="Oval 14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2" name="Group 131"/>
            <p:cNvGrpSpPr/>
            <p:nvPr/>
          </p:nvGrpSpPr>
          <p:grpSpPr>
            <a:xfrm>
              <a:off x="2343351" y="2871977"/>
              <a:ext cx="431428" cy="575117"/>
              <a:chOff x="2887410" y="414748"/>
              <a:chExt cx="431428" cy="575117"/>
            </a:xfrm>
          </p:grpSpPr>
          <p:sp>
            <p:nvSpPr>
              <p:cNvPr id="13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Oval 13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3" name="Group 132"/>
            <p:cNvGrpSpPr/>
            <p:nvPr/>
          </p:nvGrpSpPr>
          <p:grpSpPr>
            <a:xfrm>
              <a:off x="1815829" y="2440876"/>
              <a:ext cx="431428" cy="575117"/>
              <a:chOff x="2887410" y="414748"/>
              <a:chExt cx="431428" cy="575117"/>
            </a:xfrm>
          </p:grpSpPr>
          <p:sp>
            <p:nvSpPr>
              <p:cNvPr id="13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Oval 13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4" name="Group 133"/>
            <p:cNvGrpSpPr/>
            <p:nvPr/>
          </p:nvGrpSpPr>
          <p:grpSpPr>
            <a:xfrm>
              <a:off x="2434983" y="1261360"/>
              <a:ext cx="431428" cy="575117"/>
              <a:chOff x="2887410" y="414748"/>
              <a:chExt cx="431428" cy="575117"/>
            </a:xfrm>
          </p:grpSpPr>
          <p:sp>
            <p:nvSpPr>
              <p:cNvPr id="13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Oval 13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149" name="Group 148"/>
          <p:cNvGrpSpPr/>
          <p:nvPr/>
        </p:nvGrpSpPr>
        <p:grpSpPr>
          <a:xfrm>
            <a:off x="8402482" y="3596231"/>
            <a:ext cx="815244" cy="779295"/>
            <a:chOff x="1815829" y="1261360"/>
            <a:chExt cx="1584547" cy="2185734"/>
          </a:xfrm>
        </p:grpSpPr>
        <p:grpSp>
          <p:nvGrpSpPr>
            <p:cNvPr id="150" name="Group 149"/>
            <p:cNvGrpSpPr/>
            <p:nvPr/>
          </p:nvGrpSpPr>
          <p:grpSpPr>
            <a:xfrm>
              <a:off x="2393504" y="2009302"/>
              <a:ext cx="431428" cy="575117"/>
              <a:chOff x="2887410" y="414748"/>
              <a:chExt cx="431428" cy="575117"/>
            </a:xfrm>
          </p:grpSpPr>
          <p:sp>
            <p:nvSpPr>
              <p:cNvPr id="16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0" name="Oval 16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1" name="Group 150"/>
            <p:cNvGrpSpPr/>
            <p:nvPr/>
          </p:nvGrpSpPr>
          <p:grpSpPr>
            <a:xfrm>
              <a:off x="2968948" y="1718435"/>
              <a:ext cx="431428" cy="575117"/>
              <a:chOff x="2887410" y="414748"/>
              <a:chExt cx="431428" cy="575117"/>
            </a:xfrm>
          </p:grpSpPr>
          <p:sp>
            <p:nvSpPr>
              <p:cNvPr id="16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8" name="Oval 16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2" name="Group 151"/>
            <p:cNvGrpSpPr/>
            <p:nvPr/>
          </p:nvGrpSpPr>
          <p:grpSpPr>
            <a:xfrm>
              <a:off x="1890068" y="1737899"/>
              <a:ext cx="431428" cy="575117"/>
              <a:chOff x="2887410" y="414748"/>
              <a:chExt cx="431428" cy="575117"/>
            </a:xfrm>
          </p:grpSpPr>
          <p:sp>
            <p:nvSpPr>
              <p:cNvPr id="16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6" name="Oval 16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3" name="Group 152"/>
            <p:cNvGrpSpPr/>
            <p:nvPr/>
          </p:nvGrpSpPr>
          <p:grpSpPr>
            <a:xfrm>
              <a:off x="2825242" y="2584419"/>
              <a:ext cx="431428" cy="575117"/>
              <a:chOff x="2887410" y="414748"/>
              <a:chExt cx="431428" cy="575117"/>
            </a:xfrm>
          </p:grpSpPr>
          <p:sp>
            <p:nvSpPr>
              <p:cNvPr id="16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4" name="Oval 16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4" name="Group 153"/>
            <p:cNvGrpSpPr/>
            <p:nvPr/>
          </p:nvGrpSpPr>
          <p:grpSpPr>
            <a:xfrm>
              <a:off x="2343351" y="2871977"/>
              <a:ext cx="431428" cy="575117"/>
              <a:chOff x="2887410" y="414748"/>
              <a:chExt cx="431428" cy="575117"/>
            </a:xfrm>
          </p:grpSpPr>
          <p:sp>
            <p:nvSpPr>
              <p:cNvPr id="16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2" name="Oval 16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5" name="Group 154"/>
            <p:cNvGrpSpPr/>
            <p:nvPr/>
          </p:nvGrpSpPr>
          <p:grpSpPr>
            <a:xfrm>
              <a:off x="1815829" y="2440876"/>
              <a:ext cx="431428" cy="575117"/>
              <a:chOff x="2887410" y="414748"/>
              <a:chExt cx="431428" cy="575117"/>
            </a:xfrm>
          </p:grpSpPr>
          <p:sp>
            <p:nvSpPr>
              <p:cNvPr id="15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0" name="Oval 15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6" name="Group 155"/>
            <p:cNvGrpSpPr/>
            <p:nvPr/>
          </p:nvGrpSpPr>
          <p:grpSpPr>
            <a:xfrm>
              <a:off x="2434983" y="1261360"/>
              <a:ext cx="431428" cy="575117"/>
              <a:chOff x="2887410" y="414748"/>
              <a:chExt cx="431428" cy="575117"/>
            </a:xfrm>
          </p:grpSpPr>
          <p:sp>
            <p:nvSpPr>
              <p:cNvPr id="15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8" name="Oval 15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171" name="Group 170"/>
          <p:cNvGrpSpPr/>
          <p:nvPr/>
        </p:nvGrpSpPr>
        <p:grpSpPr>
          <a:xfrm>
            <a:off x="3562077" y="2013857"/>
            <a:ext cx="815244" cy="779295"/>
            <a:chOff x="1815829" y="1261360"/>
            <a:chExt cx="1584547" cy="2185734"/>
          </a:xfrm>
        </p:grpSpPr>
        <p:grpSp>
          <p:nvGrpSpPr>
            <p:cNvPr id="172" name="Group 171"/>
            <p:cNvGrpSpPr/>
            <p:nvPr/>
          </p:nvGrpSpPr>
          <p:grpSpPr>
            <a:xfrm>
              <a:off x="2393504" y="2009302"/>
              <a:ext cx="431428" cy="575117"/>
              <a:chOff x="2887410" y="414748"/>
              <a:chExt cx="431428" cy="575117"/>
            </a:xfrm>
          </p:grpSpPr>
          <p:sp>
            <p:nvSpPr>
              <p:cNvPr id="19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2" name="Oval 19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73" name="Group 172"/>
            <p:cNvGrpSpPr/>
            <p:nvPr/>
          </p:nvGrpSpPr>
          <p:grpSpPr>
            <a:xfrm>
              <a:off x="2968948" y="1718435"/>
              <a:ext cx="431428" cy="575117"/>
              <a:chOff x="2887410" y="414748"/>
              <a:chExt cx="431428" cy="575117"/>
            </a:xfrm>
          </p:grpSpPr>
          <p:sp>
            <p:nvSpPr>
              <p:cNvPr id="18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0" name="Oval 18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74" name="Group 173"/>
            <p:cNvGrpSpPr/>
            <p:nvPr/>
          </p:nvGrpSpPr>
          <p:grpSpPr>
            <a:xfrm>
              <a:off x="1890068" y="1737899"/>
              <a:ext cx="431428" cy="575117"/>
              <a:chOff x="2887410" y="414748"/>
              <a:chExt cx="431428" cy="575117"/>
            </a:xfrm>
          </p:grpSpPr>
          <p:sp>
            <p:nvSpPr>
              <p:cNvPr id="18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8" name="Oval 18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75" name="Group 174"/>
            <p:cNvGrpSpPr/>
            <p:nvPr/>
          </p:nvGrpSpPr>
          <p:grpSpPr>
            <a:xfrm>
              <a:off x="2825242" y="2584419"/>
              <a:ext cx="431428" cy="575117"/>
              <a:chOff x="2887410" y="414748"/>
              <a:chExt cx="431428" cy="575117"/>
            </a:xfrm>
          </p:grpSpPr>
          <p:sp>
            <p:nvSpPr>
              <p:cNvPr id="18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6" name="Oval 18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76" name="Group 175"/>
            <p:cNvGrpSpPr/>
            <p:nvPr/>
          </p:nvGrpSpPr>
          <p:grpSpPr>
            <a:xfrm>
              <a:off x="2343351" y="2871977"/>
              <a:ext cx="431428" cy="575117"/>
              <a:chOff x="2887410" y="414748"/>
              <a:chExt cx="431428" cy="575117"/>
            </a:xfrm>
          </p:grpSpPr>
          <p:sp>
            <p:nvSpPr>
              <p:cNvPr id="18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4" name="Oval 18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77" name="Group 176"/>
            <p:cNvGrpSpPr/>
            <p:nvPr/>
          </p:nvGrpSpPr>
          <p:grpSpPr>
            <a:xfrm>
              <a:off x="1815829" y="2440876"/>
              <a:ext cx="431428" cy="575117"/>
              <a:chOff x="2887410" y="414748"/>
              <a:chExt cx="431428" cy="575117"/>
            </a:xfrm>
          </p:grpSpPr>
          <p:sp>
            <p:nvSpPr>
              <p:cNvPr id="18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2" name="Oval 18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78" name="Group 177"/>
            <p:cNvGrpSpPr/>
            <p:nvPr/>
          </p:nvGrpSpPr>
          <p:grpSpPr>
            <a:xfrm>
              <a:off x="2434983" y="1261360"/>
              <a:ext cx="431428" cy="575117"/>
              <a:chOff x="2887410" y="414748"/>
              <a:chExt cx="431428" cy="575117"/>
            </a:xfrm>
          </p:grpSpPr>
          <p:sp>
            <p:nvSpPr>
              <p:cNvPr id="17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0" name="Oval 17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193" name="Group 192"/>
          <p:cNvGrpSpPr/>
          <p:nvPr/>
        </p:nvGrpSpPr>
        <p:grpSpPr>
          <a:xfrm>
            <a:off x="4339324" y="2060209"/>
            <a:ext cx="815244" cy="779295"/>
            <a:chOff x="1815829" y="1261360"/>
            <a:chExt cx="1584547" cy="2185734"/>
          </a:xfrm>
        </p:grpSpPr>
        <p:grpSp>
          <p:nvGrpSpPr>
            <p:cNvPr id="194" name="Group 193"/>
            <p:cNvGrpSpPr/>
            <p:nvPr/>
          </p:nvGrpSpPr>
          <p:grpSpPr>
            <a:xfrm>
              <a:off x="2393504" y="2009302"/>
              <a:ext cx="431428" cy="575117"/>
              <a:chOff x="2887410" y="414748"/>
              <a:chExt cx="431428" cy="575117"/>
            </a:xfrm>
          </p:grpSpPr>
          <p:sp>
            <p:nvSpPr>
              <p:cNvPr id="21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4" name="Oval 21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5" name="Group 194"/>
            <p:cNvGrpSpPr/>
            <p:nvPr/>
          </p:nvGrpSpPr>
          <p:grpSpPr>
            <a:xfrm>
              <a:off x="2968948" y="1718435"/>
              <a:ext cx="431428" cy="575117"/>
              <a:chOff x="2887410" y="414748"/>
              <a:chExt cx="431428" cy="575117"/>
            </a:xfrm>
          </p:grpSpPr>
          <p:sp>
            <p:nvSpPr>
              <p:cNvPr id="21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2" name="Oval 21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6" name="Group 195"/>
            <p:cNvGrpSpPr/>
            <p:nvPr/>
          </p:nvGrpSpPr>
          <p:grpSpPr>
            <a:xfrm>
              <a:off x="1890068" y="1737899"/>
              <a:ext cx="431428" cy="575117"/>
              <a:chOff x="2887410" y="414748"/>
              <a:chExt cx="431428" cy="575117"/>
            </a:xfrm>
          </p:grpSpPr>
          <p:sp>
            <p:nvSpPr>
              <p:cNvPr id="20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0" name="Oval 20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7" name="Group 196"/>
            <p:cNvGrpSpPr/>
            <p:nvPr/>
          </p:nvGrpSpPr>
          <p:grpSpPr>
            <a:xfrm>
              <a:off x="2825242" y="2584419"/>
              <a:ext cx="431428" cy="575117"/>
              <a:chOff x="2887410" y="414748"/>
              <a:chExt cx="431428" cy="575117"/>
            </a:xfrm>
          </p:grpSpPr>
          <p:sp>
            <p:nvSpPr>
              <p:cNvPr id="20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8" name="Oval 20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8" name="Group 197"/>
            <p:cNvGrpSpPr/>
            <p:nvPr/>
          </p:nvGrpSpPr>
          <p:grpSpPr>
            <a:xfrm>
              <a:off x="2343351" y="2871977"/>
              <a:ext cx="431428" cy="575117"/>
              <a:chOff x="2887410" y="414748"/>
              <a:chExt cx="431428" cy="575117"/>
            </a:xfrm>
          </p:grpSpPr>
          <p:sp>
            <p:nvSpPr>
              <p:cNvPr id="20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6" name="Oval 20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9" name="Group 198"/>
            <p:cNvGrpSpPr/>
            <p:nvPr/>
          </p:nvGrpSpPr>
          <p:grpSpPr>
            <a:xfrm>
              <a:off x="1815829" y="2440876"/>
              <a:ext cx="431428" cy="575117"/>
              <a:chOff x="2887410" y="414748"/>
              <a:chExt cx="431428" cy="575117"/>
            </a:xfrm>
          </p:grpSpPr>
          <p:sp>
            <p:nvSpPr>
              <p:cNvPr id="20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4" name="Oval 20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00" name="Group 199"/>
            <p:cNvGrpSpPr/>
            <p:nvPr/>
          </p:nvGrpSpPr>
          <p:grpSpPr>
            <a:xfrm>
              <a:off x="2434983" y="1261360"/>
              <a:ext cx="431428" cy="575117"/>
              <a:chOff x="2887410" y="414748"/>
              <a:chExt cx="431428" cy="575117"/>
            </a:xfrm>
          </p:grpSpPr>
          <p:sp>
            <p:nvSpPr>
              <p:cNvPr id="20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2" name="Oval 20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15" name="Group 214"/>
          <p:cNvGrpSpPr/>
          <p:nvPr/>
        </p:nvGrpSpPr>
        <p:grpSpPr>
          <a:xfrm>
            <a:off x="3746048" y="3483824"/>
            <a:ext cx="815244" cy="779295"/>
            <a:chOff x="1815829" y="1261360"/>
            <a:chExt cx="1584547" cy="2185734"/>
          </a:xfrm>
        </p:grpSpPr>
        <p:grpSp>
          <p:nvGrpSpPr>
            <p:cNvPr id="216" name="Group 215"/>
            <p:cNvGrpSpPr/>
            <p:nvPr/>
          </p:nvGrpSpPr>
          <p:grpSpPr>
            <a:xfrm>
              <a:off x="2393504" y="2009302"/>
              <a:ext cx="431428" cy="575117"/>
              <a:chOff x="2887410" y="414748"/>
              <a:chExt cx="431428" cy="575117"/>
            </a:xfrm>
          </p:grpSpPr>
          <p:sp>
            <p:nvSpPr>
              <p:cNvPr id="23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6" name="Oval 23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17" name="Group 216"/>
            <p:cNvGrpSpPr/>
            <p:nvPr/>
          </p:nvGrpSpPr>
          <p:grpSpPr>
            <a:xfrm>
              <a:off x="2968948" y="1718435"/>
              <a:ext cx="431428" cy="575117"/>
              <a:chOff x="2887410" y="414748"/>
              <a:chExt cx="431428" cy="575117"/>
            </a:xfrm>
          </p:grpSpPr>
          <p:sp>
            <p:nvSpPr>
              <p:cNvPr id="23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4" name="Oval 23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18" name="Group 217"/>
            <p:cNvGrpSpPr/>
            <p:nvPr/>
          </p:nvGrpSpPr>
          <p:grpSpPr>
            <a:xfrm>
              <a:off x="1890068" y="1737899"/>
              <a:ext cx="431428" cy="575117"/>
              <a:chOff x="2887410" y="414748"/>
              <a:chExt cx="431428" cy="575117"/>
            </a:xfrm>
          </p:grpSpPr>
          <p:sp>
            <p:nvSpPr>
              <p:cNvPr id="23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2" name="Oval 23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19" name="Group 218"/>
            <p:cNvGrpSpPr/>
            <p:nvPr/>
          </p:nvGrpSpPr>
          <p:grpSpPr>
            <a:xfrm>
              <a:off x="2825242" y="2584419"/>
              <a:ext cx="431428" cy="575117"/>
              <a:chOff x="2887410" y="414748"/>
              <a:chExt cx="431428" cy="575117"/>
            </a:xfrm>
          </p:grpSpPr>
          <p:sp>
            <p:nvSpPr>
              <p:cNvPr id="22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0" name="Oval 22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0" name="Group 219"/>
            <p:cNvGrpSpPr/>
            <p:nvPr/>
          </p:nvGrpSpPr>
          <p:grpSpPr>
            <a:xfrm>
              <a:off x="2343351" y="2871977"/>
              <a:ext cx="431428" cy="575117"/>
              <a:chOff x="2887410" y="414748"/>
              <a:chExt cx="431428" cy="575117"/>
            </a:xfrm>
          </p:grpSpPr>
          <p:sp>
            <p:nvSpPr>
              <p:cNvPr id="22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8" name="Oval 22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1" name="Group 220"/>
            <p:cNvGrpSpPr/>
            <p:nvPr/>
          </p:nvGrpSpPr>
          <p:grpSpPr>
            <a:xfrm>
              <a:off x="1815829" y="2440876"/>
              <a:ext cx="431428" cy="575117"/>
              <a:chOff x="2887410" y="414748"/>
              <a:chExt cx="431428" cy="575117"/>
            </a:xfrm>
          </p:grpSpPr>
          <p:sp>
            <p:nvSpPr>
              <p:cNvPr id="22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6" name="Oval 22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2" name="Group 221"/>
            <p:cNvGrpSpPr/>
            <p:nvPr/>
          </p:nvGrpSpPr>
          <p:grpSpPr>
            <a:xfrm>
              <a:off x="2434983" y="1261360"/>
              <a:ext cx="431428" cy="575117"/>
              <a:chOff x="2887410" y="414748"/>
              <a:chExt cx="431428" cy="575117"/>
            </a:xfrm>
          </p:grpSpPr>
          <p:sp>
            <p:nvSpPr>
              <p:cNvPr id="22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4" name="Oval 22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37" name="Group 236"/>
          <p:cNvGrpSpPr/>
          <p:nvPr/>
        </p:nvGrpSpPr>
        <p:grpSpPr>
          <a:xfrm>
            <a:off x="8477235" y="2052351"/>
            <a:ext cx="815244" cy="779295"/>
            <a:chOff x="1815829" y="1261360"/>
            <a:chExt cx="1584547" cy="2185734"/>
          </a:xfrm>
        </p:grpSpPr>
        <p:grpSp>
          <p:nvGrpSpPr>
            <p:cNvPr id="238" name="Group 237"/>
            <p:cNvGrpSpPr/>
            <p:nvPr/>
          </p:nvGrpSpPr>
          <p:grpSpPr>
            <a:xfrm>
              <a:off x="2393504" y="2009302"/>
              <a:ext cx="431428" cy="575117"/>
              <a:chOff x="2887410" y="414748"/>
              <a:chExt cx="431428" cy="575117"/>
            </a:xfrm>
          </p:grpSpPr>
          <p:sp>
            <p:nvSpPr>
              <p:cNvPr id="25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8" name="Oval 25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39" name="Group 238"/>
            <p:cNvGrpSpPr/>
            <p:nvPr/>
          </p:nvGrpSpPr>
          <p:grpSpPr>
            <a:xfrm>
              <a:off x="2968948" y="1718435"/>
              <a:ext cx="431428" cy="575117"/>
              <a:chOff x="2887410" y="414748"/>
              <a:chExt cx="431428" cy="575117"/>
            </a:xfrm>
          </p:grpSpPr>
          <p:sp>
            <p:nvSpPr>
              <p:cNvPr id="25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6" name="Oval 25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40" name="Group 239"/>
            <p:cNvGrpSpPr/>
            <p:nvPr/>
          </p:nvGrpSpPr>
          <p:grpSpPr>
            <a:xfrm>
              <a:off x="1890068" y="1737899"/>
              <a:ext cx="431428" cy="575117"/>
              <a:chOff x="2887410" y="414748"/>
              <a:chExt cx="431428" cy="575117"/>
            </a:xfrm>
          </p:grpSpPr>
          <p:sp>
            <p:nvSpPr>
              <p:cNvPr id="25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4" name="Oval 25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41" name="Group 240"/>
            <p:cNvGrpSpPr/>
            <p:nvPr/>
          </p:nvGrpSpPr>
          <p:grpSpPr>
            <a:xfrm>
              <a:off x="2825242" y="2584419"/>
              <a:ext cx="431428" cy="575117"/>
              <a:chOff x="2887410" y="414748"/>
              <a:chExt cx="431428" cy="575117"/>
            </a:xfrm>
          </p:grpSpPr>
          <p:sp>
            <p:nvSpPr>
              <p:cNvPr id="25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2" name="Oval 25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42" name="Group 241"/>
            <p:cNvGrpSpPr/>
            <p:nvPr/>
          </p:nvGrpSpPr>
          <p:grpSpPr>
            <a:xfrm>
              <a:off x="2343351" y="2871977"/>
              <a:ext cx="431428" cy="575117"/>
              <a:chOff x="2887410" y="414748"/>
              <a:chExt cx="431428" cy="575117"/>
            </a:xfrm>
          </p:grpSpPr>
          <p:sp>
            <p:nvSpPr>
              <p:cNvPr id="24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0" name="Oval 24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43" name="Group 242"/>
            <p:cNvGrpSpPr/>
            <p:nvPr/>
          </p:nvGrpSpPr>
          <p:grpSpPr>
            <a:xfrm>
              <a:off x="1815829" y="2440876"/>
              <a:ext cx="431428" cy="575117"/>
              <a:chOff x="2887410" y="414748"/>
              <a:chExt cx="431428" cy="575117"/>
            </a:xfrm>
          </p:grpSpPr>
          <p:sp>
            <p:nvSpPr>
              <p:cNvPr id="24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8" name="Oval 24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44" name="Group 243"/>
            <p:cNvGrpSpPr/>
            <p:nvPr/>
          </p:nvGrpSpPr>
          <p:grpSpPr>
            <a:xfrm>
              <a:off x="2434983" y="1261360"/>
              <a:ext cx="431428" cy="575117"/>
              <a:chOff x="2887410" y="414748"/>
              <a:chExt cx="431428" cy="575117"/>
            </a:xfrm>
          </p:grpSpPr>
          <p:sp>
            <p:nvSpPr>
              <p:cNvPr id="24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6" name="Oval 24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59" name="Group 258"/>
          <p:cNvGrpSpPr/>
          <p:nvPr/>
        </p:nvGrpSpPr>
        <p:grpSpPr>
          <a:xfrm>
            <a:off x="4546893" y="2887906"/>
            <a:ext cx="815244" cy="779295"/>
            <a:chOff x="1815829" y="1261360"/>
            <a:chExt cx="1584547" cy="2185734"/>
          </a:xfrm>
        </p:grpSpPr>
        <p:grpSp>
          <p:nvGrpSpPr>
            <p:cNvPr id="260" name="Group 259"/>
            <p:cNvGrpSpPr/>
            <p:nvPr/>
          </p:nvGrpSpPr>
          <p:grpSpPr>
            <a:xfrm>
              <a:off x="2393504" y="2009302"/>
              <a:ext cx="431428" cy="575117"/>
              <a:chOff x="2887410" y="414748"/>
              <a:chExt cx="431428" cy="575117"/>
            </a:xfrm>
          </p:grpSpPr>
          <p:sp>
            <p:nvSpPr>
              <p:cNvPr id="27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0" name="Oval 27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61" name="Group 260"/>
            <p:cNvGrpSpPr/>
            <p:nvPr/>
          </p:nvGrpSpPr>
          <p:grpSpPr>
            <a:xfrm>
              <a:off x="2968948" y="1718435"/>
              <a:ext cx="431428" cy="575117"/>
              <a:chOff x="2887410" y="414748"/>
              <a:chExt cx="431428" cy="575117"/>
            </a:xfrm>
          </p:grpSpPr>
          <p:sp>
            <p:nvSpPr>
              <p:cNvPr id="27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8" name="Oval 27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62" name="Group 261"/>
            <p:cNvGrpSpPr/>
            <p:nvPr/>
          </p:nvGrpSpPr>
          <p:grpSpPr>
            <a:xfrm>
              <a:off x="1890068" y="1737899"/>
              <a:ext cx="431428" cy="575117"/>
              <a:chOff x="2887410" y="414748"/>
              <a:chExt cx="431428" cy="575117"/>
            </a:xfrm>
          </p:grpSpPr>
          <p:sp>
            <p:nvSpPr>
              <p:cNvPr id="27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6" name="Oval 27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63" name="Group 262"/>
            <p:cNvGrpSpPr/>
            <p:nvPr/>
          </p:nvGrpSpPr>
          <p:grpSpPr>
            <a:xfrm>
              <a:off x="2825242" y="2584419"/>
              <a:ext cx="431428" cy="575117"/>
              <a:chOff x="2887410" y="414748"/>
              <a:chExt cx="431428" cy="575117"/>
            </a:xfrm>
          </p:grpSpPr>
          <p:sp>
            <p:nvSpPr>
              <p:cNvPr id="27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4" name="Oval 27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64" name="Group 263"/>
            <p:cNvGrpSpPr/>
            <p:nvPr/>
          </p:nvGrpSpPr>
          <p:grpSpPr>
            <a:xfrm>
              <a:off x="2343351" y="2871977"/>
              <a:ext cx="431428" cy="575117"/>
              <a:chOff x="2887410" y="414748"/>
              <a:chExt cx="431428" cy="575117"/>
            </a:xfrm>
          </p:grpSpPr>
          <p:sp>
            <p:nvSpPr>
              <p:cNvPr id="27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2" name="Oval 27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65" name="Group 264"/>
            <p:cNvGrpSpPr/>
            <p:nvPr/>
          </p:nvGrpSpPr>
          <p:grpSpPr>
            <a:xfrm>
              <a:off x="1815829" y="2440876"/>
              <a:ext cx="431428" cy="575117"/>
              <a:chOff x="2887410" y="414748"/>
              <a:chExt cx="431428" cy="575117"/>
            </a:xfrm>
          </p:grpSpPr>
          <p:sp>
            <p:nvSpPr>
              <p:cNvPr id="26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0" name="Oval 26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66" name="Group 265"/>
            <p:cNvGrpSpPr/>
            <p:nvPr/>
          </p:nvGrpSpPr>
          <p:grpSpPr>
            <a:xfrm>
              <a:off x="2434983" y="1261360"/>
              <a:ext cx="431428" cy="575117"/>
              <a:chOff x="2887410" y="414748"/>
              <a:chExt cx="431428" cy="575117"/>
            </a:xfrm>
          </p:grpSpPr>
          <p:sp>
            <p:nvSpPr>
              <p:cNvPr id="26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8" name="Oval 26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81" name="Group 280"/>
          <p:cNvGrpSpPr/>
          <p:nvPr/>
        </p:nvGrpSpPr>
        <p:grpSpPr>
          <a:xfrm>
            <a:off x="4009486" y="4198443"/>
            <a:ext cx="815244" cy="779295"/>
            <a:chOff x="1815829" y="1261360"/>
            <a:chExt cx="1584547" cy="2185734"/>
          </a:xfrm>
        </p:grpSpPr>
        <p:grpSp>
          <p:nvGrpSpPr>
            <p:cNvPr id="282" name="Group 281"/>
            <p:cNvGrpSpPr/>
            <p:nvPr/>
          </p:nvGrpSpPr>
          <p:grpSpPr>
            <a:xfrm>
              <a:off x="2393504" y="2009302"/>
              <a:ext cx="431428" cy="575117"/>
              <a:chOff x="2887410" y="414748"/>
              <a:chExt cx="431428" cy="575117"/>
            </a:xfrm>
          </p:grpSpPr>
          <p:sp>
            <p:nvSpPr>
              <p:cNvPr id="30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2" name="Oval 30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83" name="Group 282"/>
            <p:cNvGrpSpPr/>
            <p:nvPr/>
          </p:nvGrpSpPr>
          <p:grpSpPr>
            <a:xfrm>
              <a:off x="2968948" y="1718435"/>
              <a:ext cx="431428" cy="575117"/>
              <a:chOff x="2887410" y="414748"/>
              <a:chExt cx="431428" cy="575117"/>
            </a:xfrm>
          </p:grpSpPr>
          <p:sp>
            <p:nvSpPr>
              <p:cNvPr id="29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0" name="Oval 29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84" name="Group 283"/>
            <p:cNvGrpSpPr/>
            <p:nvPr/>
          </p:nvGrpSpPr>
          <p:grpSpPr>
            <a:xfrm>
              <a:off x="1890068" y="1737899"/>
              <a:ext cx="431428" cy="575117"/>
              <a:chOff x="2887410" y="414748"/>
              <a:chExt cx="431428" cy="575117"/>
            </a:xfrm>
          </p:grpSpPr>
          <p:sp>
            <p:nvSpPr>
              <p:cNvPr id="29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8" name="Oval 29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85" name="Group 284"/>
            <p:cNvGrpSpPr/>
            <p:nvPr/>
          </p:nvGrpSpPr>
          <p:grpSpPr>
            <a:xfrm>
              <a:off x="2825242" y="2584419"/>
              <a:ext cx="431428" cy="575117"/>
              <a:chOff x="2887410" y="414748"/>
              <a:chExt cx="431428" cy="575117"/>
            </a:xfrm>
          </p:grpSpPr>
          <p:sp>
            <p:nvSpPr>
              <p:cNvPr id="29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6" name="Oval 29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86" name="Group 285"/>
            <p:cNvGrpSpPr/>
            <p:nvPr/>
          </p:nvGrpSpPr>
          <p:grpSpPr>
            <a:xfrm>
              <a:off x="2343351" y="2871977"/>
              <a:ext cx="431428" cy="575117"/>
              <a:chOff x="2887410" y="414748"/>
              <a:chExt cx="431428" cy="575117"/>
            </a:xfrm>
          </p:grpSpPr>
          <p:sp>
            <p:nvSpPr>
              <p:cNvPr id="29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4" name="Oval 29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87" name="Group 286"/>
            <p:cNvGrpSpPr/>
            <p:nvPr/>
          </p:nvGrpSpPr>
          <p:grpSpPr>
            <a:xfrm>
              <a:off x="1815829" y="2440876"/>
              <a:ext cx="431428" cy="575117"/>
              <a:chOff x="2887410" y="414748"/>
              <a:chExt cx="431428" cy="575117"/>
            </a:xfrm>
          </p:grpSpPr>
          <p:sp>
            <p:nvSpPr>
              <p:cNvPr id="29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2" name="Oval 29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88" name="Group 287"/>
            <p:cNvGrpSpPr/>
            <p:nvPr/>
          </p:nvGrpSpPr>
          <p:grpSpPr>
            <a:xfrm>
              <a:off x="2434983" y="1261360"/>
              <a:ext cx="431428" cy="575117"/>
              <a:chOff x="2887410" y="414748"/>
              <a:chExt cx="431428" cy="575117"/>
            </a:xfrm>
          </p:grpSpPr>
          <p:sp>
            <p:nvSpPr>
              <p:cNvPr id="28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0" name="Oval 28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303" name="Group 302"/>
          <p:cNvGrpSpPr/>
          <p:nvPr/>
        </p:nvGrpSpPr>
        <p:grpSpPr>
          <a:xfrm>
            <a:off x="4618009" y="3562001"/>
            <a:ext cx="815244" cy="779295"/>
            <a:chOff x="1815829" y="1261360"/>
            <a:chExt cx="1584547" cy="2185734"/>
          </a:xfrm>
        </p:grpSpPr>
        <p:grpSp>
          <p:nvGrpSpPr>
            <p:cNvPr id="304" name="Group 303"/>
            <p:cNvGrpSpPr/>
            <p:nvPr/>
          </p:nvGrpSpPr>
          <p:grpSpPr>
            <a:xfrm>
              <a:off x="2393504" y="2009302"/>
              <a:ext cx="431428" cy="575117"/>
              <a:chOff x="2887410" y="414748"/>
              <a:chExt cx="431428" cy="575117"/>
            </a:xfrm>
          </p:grpSpPr>
          <p:sp>
            <p:nvSpPr>
              <p:cNvPr id="32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4" name="Oval 32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05" name="Group 304"/>
            <p:cNvGrpSpPr/>
            <p:nvPr/>
          </p:nvGrpSpPr>
          <p:grpSpPr>
            <a:xfrm>
              <a:off x="2968948" y="1718435"/>
              <a:ext cx="431428" cy="575117"/>
              <a:chOff x="2887410" y="414748"/>
              <a:chExt cx="431428" cy="575117"/>
            </a:xfrm>
          </p:grpSpPr>
          <p:sp>
            <p:nvSpPr>
              <p:cNvPr id="32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2" name="Oval 32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06" name="Group 305"/>
            <p:cNvGrpSpPr/>
            <p:nvPr/>
          </p:nvGrpSpPr>
          <p:grpSpPr>
            <a:xfrm>
              <a:off x="1890068" y="1737899"/>
              <a:ext cx="431428" cy="575117"/>
              <a:chOff x="2887410" y="414748"/>
              <a:chExt cx="431428" cy="575117"/>
            </a:xfrm>
          </p:grpSpPr>
          <p:sp>
            <p:nvSpPr>
              <p:cNvPr id="31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0" name="Oval 31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07" name="Group 306"/>
            <p:cNvGrpSpPr/>
            <p:nvPr/>
          </p:nvGrpSpPr>
          <p:grpSpPr>
            <a:xfrm>
              <a:off x="2825242" y="2584419"/>
              <a:ext cx="431428" cy="575117"/>
              <a:chOff x="2887410" y="414748"/>
              <a:chExt cx="431428" cy="575117"/>
            </a:xfrm>
          </p:grpSpPr>
          <p:sp>
            <p:nvSpPr>
              <p:cNvPr id="31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8" name="Oval 31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08" name="Group 307"/>
            <p:cNvGrpSpPr/>
            <p:nvPr/>
          </p:nvGrpSpPr>
          <p:grpSpPr>
            <a:xfrm>
              <a:off x="2343351" y="2871977"/>
              <a:ext cx="431428" cy="575117"/>
              <a:chOff x="2887410" y="414748"/>
              <a:chExt cx="431428" cy="575117"/>
            </a:xfrm>
          </p:grpSpPr>
          <p:sp>
            <p:nvSpPr>
              <p:cNvPr id="31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6" name="Oval 31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09" name="Group 308"/>
            <p:cNvGrpSpPr/>
            <p:nvPr/>
          </p:nvGrpSpPr>
          <p:grpSpPr>
            <a:xfrm>
              <a:off x="1815829" y="2440876"/>
              <a:ext cx="431428" cy="575117"/>
              <a:chOff x="2887410" y="414748"/>
              <a:chExt cx="431428" cy="575117"/>
            </a:xfrm>
          </p:grpSpPr>
          <p:sp>
            <p:nvSpPr>
              <p:cNvPr id="31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4" name="Oval 31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10" name="Group 309"/>
            <p:cNvGrpSpPr/>
            <p:nvPr/>
          </p:nvGrpSpPr>
          <p:grpSpPr>
            <a:xfrm>
              <a:off x="2434983" y="1261360"/>
              <a:ext cx="431428" cy="575117"/>
              <a:chOff x="2887410" y="414748"/>
              <a:chExt cx="431428" cy="575117"/>
            </a:xfrm>
          </p:grpSpPr>
          <p:sp>
            <p:nvSpPr>
              <p:cNvPr id="31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2" name="Oval 31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325" name="Group 324"/>
          <p:cNvGrpSpPr/>
          <p:nvPr/>
        </p:nvGrpSpPr>
        <p:grpSpPr>
          <a:xfrm>
            <a:off x="2667960" y="3958148"/>
            <a:ext cx="815244" cy="779295"/>
            <a:chOff x="1815829" y="1261360"/>
            <a:chExt cx="1584547" cy="2185734"/>
          </a:xfrm>
        </p:grpSpPr>
        <p:grpSp>
          <p:nvGrpSpPr>
            <p:cNvPr id="326" name="Group 325"/>
            <p:cNvGrpSpPr/>
            <p:nvPr/>
          </p:nvGrpSpPr>
          <p:grpSpPr>
            <a:xfrm>
              <a:off x="2393504" y="2009302"/>
              <a:ext cx="431428" cy="575117"/>
              <a:chOff x="2887410" y="414748"/>
              <a:chExt cx="431428" cy="575117"/>
            </a:xfrm>
          </p:grpSpPr>
          <p:sp>
            <p:nvSpPr>
              <p:cNvPr id="34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6" name="Oval 34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27" name="Group 326"/>
            <p:cNvGrpSpPr/>
            <p:nvPr/>
          </p:nvGrpSpPr>
          <p:grpSpPr>
            <a:xfrm>
              <a:off x="2968948" y="1718435"/>
              <a:ext cx="431428" cy="575117"/>
              <a:chOff x="2887410" y="414748"/>
              <a:chExt cx="431428" cy="575117"/>
            </a:xfrm>
          </p:grpSpPr>
          <p:sp>
            <p:nvSpPr>
              <p:cNvPr id="34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4" name="Oval 34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28" name="Group 327"/>
            <p:cNvGrpSpPr/>
            <p:nvPr/>
          </p:nvGrpSpPr>
          <p:grpSpPr>
            <a:xfrm>
              <a:off x="1890068" y="1737899"/>
              <a:ext cx="431428" cy="575117"/>
              <a:chOff x="2887410" y="414748"/>
              <a:chExt cx="431428" cy="575117"/>
            </a:xfrm>
          </p:grpSpPr>
          <p:sp>
            <p:nvSpPr>
              <p:cNvPr id="34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2" name="Oval 34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29" name="Group 328"/>
            <p:cNvGrpSpPr/>
            <p:nvPr/>
          </p:nvGrpSpPr>
          <p:grpSpPr>
            <a:xfrm>
              <a:off x="2825242" y="2584419"/>
              <a:ext cx="431428" cy="575117"/>
              <a:chOff x="2887410" y="414748"/>
              <a:chExt cx="431428" cy="575117"/>
            </a:xfrm>
          </p:grpSpPr>
          <p:sp>
            <p:nvSpPr>
              <p:cNvPr id="33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0" name="Oval 33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30" name="Group 329"/>
            <p:cNvGrpSpPr/>
            <p:nvPr/>
          </p:nvGrpSpPr>
          <p:grpSpPr>
            <a:xfrm>
              <a:off x="2343351" y="2871977"/>
              <a:ext cx="431428" cy="575117"/>
              <a:chOff x="2887410" y="414748"/>
              <a:chExt cx="431428" cy="575117"/>
            </a:xfrm>
          </p:grpSpPr>
          <p:sp>
            <p:nvSpPr>
              <p:cNvPr id="33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8" name="Oval 33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31" name="Group 330"/>
            <p:cNvGrpSpPr/>
            <p:nvPr/>
          </p:nvGrpSpPr>
          <p:grpSpPr>
            <a:xfrm>
              <a:off x="1815829" y="2440876"/>
              <a:ext cx="431428" cy="575117"/>
              <a:chOff x="2887410" y="414748"/>
              <a:chExt cx="431428" cy="575117"/>
            </a:xfrm>
          </p:grpSpPr>
          <p:sp>
            <p:nvSpPr>
              <p:cNvPr id="33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6" name="Oval 33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32" name="Group 331"/>
            <p:cNvGrpSpPr/>
            <p:nvPr/>
          </p:nvGrpSpPr>
          <p:grpSpPr>
            <a:xfrm>
              <a:off x="2434983" y="1261360"/>
              <a:ext cx="431428" cy="575117"/>
              <a:chOff x="2887410" y="414748"/>
              <a:chExt cx="431428" cy="575117"/>
            </a:xfrm>
          </p:grpSpPr>
          <p:sp>
            <p:nvSpPr>
              <p:cNvPr id="33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4" name="Oval 33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347" name="Group 346"/>
          <p:cNvGrpSpPr/>
          <p:nvPr/>
        </p:nvGrpSpPr>
        <p:grpSpPr>
          <a:xfrm>
            <a:off x="8607877" y="2774984"/>
            <a:ext cx="815244" cy="779295"/>
            <a:chOff x="1815829" y="1261360"/>
            <a:chExt cx="1584547" cy="2185734"/>
          </a:xfrm>
        </p:grpSpPr>
        <p:grpSp>
          <p:nvGrpSpPr>
            <p:cNvPr id="348" name="Group 347"/>
            <p:cNvGrpSpPr/>
            <p:nvPr/>
          </p:nvGrpSpPr>
          <p:grpSpPr>
            <a:xfrm>
              <a:off x="2393504" y="2009302"/>
              <a:ext cx="431428" cy="575117"/>
              <a:chOff x="2887410" y="414748"/>
              <a:chExt cx="431428" cy="575117"/>
            </a:xfrm>
          </p:grpSpPr>
          <p:sp>
            <p:nvSpPr>
              <p:cNvPr id="36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8" name="Oval 36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49" name="Group 348"/>
            <p:cNvGrpSpPr/>
            <p:nvPr/>
          </p:nvGrpSpPr>
          <p:grpSpPr>
            <a:xfrm>
              <a:off x="2968948" y="1718435"/>
              <a:ext cx="431428" cy="575117"/>
              <a:chOff x="2887410" y="414748"/>
              <a:chExt cx="431428" cy="575117"/>
            </a:xfrm>
          </p:grpSpPr>
          <p:sp>
            <p:nvSpPr>
              <p:cNvPr id="36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6" name="Oval 36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50" name="Group 349"/>
            <p:cNvGrpSpPr/>
            <p:nvPr/>
          </p:nvGrpSpPr>
          <p:grpSpPr>
            <a:xfrm>
              <a:off x="1890068" y="1737899"/>
              <a:ext cx="431428" cy="575117"/>
              <a:chOff x="2887410" y="414748"/>
              <a:chExt cx="431428" cy="575117"/>
            </a:xfrm>
          </p:grpSpPr>
          <p:sp>
            <p:nvSpPr>
              <p:cNvPr id="36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4" name="Oval 36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51" name="Group 350"/>
            <p:cNvGrpSpPr/>
            <p:nvPr/>
          </p:nvGrpSpPr>
          <p:grpSpPr>
            <a:xfrm>
              <a:off x="2825242" y="2584419"/>
              <a:ext cx="431428" cy="575117"/>
              <a:chOff x="2887410" y="414748"/>
              <a:chExt cx="431428" cy="575117"/>
            </a:xfrm>
          </p:grpSpPr>
          <p:sp>
            <p:nvSpPr>
              <p:cNvPr id="36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2" name="Oval 36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52" name="Group 351"/>
            <p:cNvGrpSpPr/>
            <p:nvPr/>
          </p:nvGrpSpPr>
          <p:grpSpPr>
            <a:xfrm>
              <a:off x="2343351" y="2871977"/>
              <a:ext cx="431428" cy="575117"/>
              <a:chOff x="2887410" y="414748"/>
              <a:chExt cx="431428" cy="575117"/>
            </a:xfrm>
          </p:grpSpPr>
          <p:sp>
            <p:nvSpPr>
              <p:cNvPr id="35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0" name="Oval 35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53" name="Group 352"/>
            <p:cNvGrpSpPr/>
            <p:nvPr/>
          </p:nvGrpSpPr>
          <p:grpSpPr>
            <a:xfrm>
              <a:off x="1815829" y="2440876"/>
              <a:ext cx="431428" cy="575117"/>
              <a:chOff x="2887410" y="414748"/>
              <a:chExt cx="431428" cy="575117"/>
            </a:xfrm>
          </p:grpSpPr>
          <p:sp>
            <p:nvSpPr>
              <p:cNvPr id="35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8" name="Oval 35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54" name="Group 353"/>
            <p:cNvGrpSpPr/>
            <p:nvPr/>
          </p:nvGrpSpPr>
          <p:grpSpPr>
            <a:xfrm>
              <a:off x="2434983" y="1261360"/>
              <a:ext cx="431428" cy="575117"/>
              <a:chOff x="2887410" y="414748"/>
              <a:chExt cx="431428" cy="575117"/>
            </a:xfrm>
          </p:grpSpPr>
          <p:sp>
            <p:nvSpPr>
              <p:cNvPr id="35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6" name="Oval 35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369" name="Group 368"/>
          <p:cNvGrpSpPr/>
          <p:nvPr/>
        </p:nvGrpSpPr>
        <p:grpSpPr>
          <a:xfrm>
            <a:off x="7784240" y="1960258"/>
            <a:ext cx="815244" cy="779295"/>
            <a:chOff x="1815829" y="1261360"/>
            <a:chExt cx="1584547" cy="2185734"/>
          </a:xfrm>
        </p:grpSpPr>
        <p:grpSp>
          <p:nvGrpSpPr>
            <p:cNvPr id="370" name="Group 369"/>
            <p:cNvGrpSpPr/>
            <p:nvPr/>
          </p:nvGrpSpPr>
          <p:grpSpPr>
            <a:xfrm>
              <a:off x="2393504" y="2009302"/>
              <a:ext cx="431428" cy="575117"/>
              <a:chOff x="2887410" y="414748"/>
              <a:chExt cx="431428" cy="575117"/>
            </a:xfrm>
          </p:grpSpPr>
          <p:sp>
            <p:nvSpPr>
              <p:cNvPr id="38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0" name="Oval 38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71" name="Group 370"/>
            <p:cNvGrpSpPr/>
            <p:nvPr/>
          </p:nvGrpSpPr>
          <p:grpSpPr>
            <a:xfrm>
              <a:off x="2968948" y="1718435"/>
              <a:ext cx="431428" cy="575117"/>
              <a:chOff x="2887410" y="414748"/>
              <a:chExt cx="431428" cy="575117"/>
            </a:xfrm>
          </p:grpSpPr>
          <p:sp>
            <p:nvSpPr>
              <p:cNvPr id="38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8" name="Oval 38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72" name="Group 371"/>
            <p:cNvGrpSpPr/>
            <p:nvPr/>
          </p:nvGrpSpPr>
          <p:grpSpPr>
            <a:xfrm>
              <a:off x="1890068" y="1737899"/>
              <a:ext cx="431428" cy="575117"/>
              <a:chOff x="2887410" y="414748"/>
              <a:chExt cx="431428" cy="575117"/>
            </a:xfrm>
          </p:grpSpPr>
          <p:sp>
            <p:nvSpPr>
              <p:cNvPr id="38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6" name="Oval 38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73" name="Group 372"/>
            <p:cNvGrpSpPr/>
            <p:nvPr/>
          </p:nvGrpSpPr>
          <p:grpSpPr>
            <a:xfrm>
              <a:off x="2825242" y="2584419"/>
              <a:ext cx="431428" cy="575117"/>
              <a:chOff x="2887410" y="414748"/>
              <a:chExt cx="431428" cy="575117"/>
            </a:xfrm>
          </p:grpSpPr>
          <p:sp>
            <p:nvSpPr>
              <p:cNvPr id="38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4" name="Oval 38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74" name="Group 373"/>
            <p:cNvGrpSpPr/>
            <p:nvPr/>
          </p:nvGrpSpPr>
          <p:grpSpPr>
            <a:xfrm>
              <a:off x="2343351" y="2871977"/>
              <a:ext cx="431428" cy="575117"/>
              <a:chOff x="2887410" y="414748"/>
              <a:chExt cx="431428" cy="575117"/>
            </a:xfrm>
          </p:grpSpPr>
          <p:sp>
            <p:nvSpPr>
              <p:cNvPr id="38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2" name="Oval 38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75" name="Group 374"/>
            <p:cNvGrpSpPr/>
            <p:nvPr/>
          </p:nvGrpSpPr>
          <p:grpSpPr>
            <a:xfrm>
              <a:off x="1815829" y="2440876"/>
              <a:ext cx="431428" cy="575117"/>
              <a:chOff x="2887410" y="414748"/>
              <a:chExt cx="431428" cy="575117"/>
            </a:xfrm>
          </p:grpSpPr>
          <p:sp>
            <p:nvSpPr>
              <p:cNvPr id="37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0" name="Oval 37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76" name="Group 375"/>
            <p:cNvGrpSpPr/>
            <p:nvPr/>
          </p:nvGrpSpPr>
          <p:grpSpPr>
            <a:xfrm>
              <a:off x="2434983" y="1261360"/>
              <a:ext cx="431428" cy="575117"/>
              <a:chOff x="2887410" y="414748"/>
              <a:chExt cx="431428" cy="575117"/>
            </a:xfrm>
          </p:grpSpPr>
          <p:sp>
            <p:nvSpPr>
              <p:cNvPr id="37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8" name="Oval 37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391" name="Group 390"/>
          <p:cNvGrpSpPr/>
          <p:nvPr/>
        </p:nvGrpSpPr>
        <p:grpSpPr>
          <a:xfrm>
            <a:off x="2818153" y="2176341"/>
            <a:ext cx="815244" cy="779295"/>
            <a:chOff x="1815829" y="1261360"/>
            <a:chExt cx="1584547" cy="2185734"/>
          </a:xfrm>
        </p:grpSpPr>
        <p:grpSp>
          <p:nvGrpSpPr>
            <p:cNvPr id="392" name="Group 391"/>
            <p:cNvGrpSpPr/>
            <p:nvPr/>
          </p:nvGrpSpPr>
          <p:grpSpPr>
            <a:xfrm>
              <a:off x="2393504" y="2009302"/>
              <a:ext cx="431428" cy="575117"/>
              <a:chOff x="2887410" y="414748"/>
              <a:chExt cx="431428" cy="575117"/>
            </a:xfrm>
          </p:grpSpPr>
          <p:sp>
            <p:nvSpPr>
              <p:cNvPr id="41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2" name="Oval 41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93" name="Group 392"/>
            <p:cNvGrpSpPr/>
            <p:nvPr/>
          </p:nvGrpSpPr>
          <p:grpSpPr>
            <a:xfrm>
              <a:off x="2968948" y="1718435"/>
              <a:ext cx="431428" cy="575117"/>
              <a:chOff x="2887410" y="414748"/>
              <a:chExt cx="431428" cy="575117"/>
            </a:xfrm>
          </p:grpSpPr>
          <p:sp>
            <p:nvSpPr>
              <p:cNvPr id="40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0" name="Oval 40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94" name="Group 393"/>
            <p:cNvGrpSpPr/>
            <p:nvPr/>
          </p:nvGrpSpPr>
          <p:grpSpPr>
            <a:xfrm>
              <a:off x="1890068" y="1737899"/>
              <a:ext cx="431428" cy="575117"/>
              <a:chOff x="2887410" y="414748"/>
              <a:chExt cx="431428" cy="575117"/>
            </a:xfrm>
          </p:grpSpPr>
          <p:sp>
            <p:nvSpPr>
              <p:cNvPr id="40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8" name="Oval 40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95" name="Group 394"/>
            <p:cNvGrpSpPr/>
            <p:nvPr/>
          </p:nvGrpSpPr>
          <p:grpSpPr>
            <a:xfrm>
              <a:off x="2825242" y="2584419"/>
              <a:ext cx="431428" cy="575117"/>
              <a:chOff x="2887410" y="414748"/>
              <a:chExt cx="431428" cy="575117"/>
            </a:xfrm>
          </p:grpSpPr>
          <p:sp>
            <p:nvSpPr>
              <p:cNvPr id="40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6" name="Oval 40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96" name="Group 395"/>
            <p:cNvGrpSpPr/>
            <p:nvPr/>
          </p:nvGrpSpPr>
          <p:grpSpPr>
            <a:xfrm>
              <a:off x="2343351" y="2871977"/>
              <a:ext cx="431428" cy="575117"/>
              <a:chOff x="2887410" y="414748"/>
              <a:chExt cx="431428" cy="575117"/>
            </a:xfrm>
          </p:grpSpPr>
          <p:sp>
            <p:nvSpPr>
              <p:cNvPr id="40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4" name="Oval 40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97" name="Group 396"/>
            <p:cNvGrpSpPr/>
            <p:nvPr/>
          </p:nvGrpSpPr>
          <p:grpSpPr>
            <a:xfrm>
              <a:off x="1815829" y="2440876"/>
              <a:ext cx="431428" cy="575117"/>
              <a:chOff x="2887410" y="414748"/>
              <a:chExt cx="431428" cy="575117"/>
            </a:xfrm>
          </p:grpSpPr>
          <p:sp>
            <p:nvSpPr>
              <p:cNvPr id="40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2" name="Oval 40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98" name="Group 397"/>
            <p:cNvGrpSpPr/>
            <p:nvPr/>
          </p:nvGrpSpPr>
          <p:grpSpPr>
            <a:xfrm>
              <a:off x="2434983" y="1261360"/>
              <a:ext cx="431428" cy="575117"/>
              <a:chOff x="2887410" y="414748"/>
              <a:chExt cx="431428" cy="575117"/>
            </a:xfrm>
          </p:grpSpPr>
          <p:sp>
            <p:nvSpPr>
              <p:cNvPr id="39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0" name="Oval 39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413" name="Group 412"/>
          <p:cNvGrpSpPr/>
          <p:nvPr/>
        </p:nvGrpSpPr>
        <p:grpSpPr>
          <a:xfrm>
            <a:off x="7941239" y="2717508"/>
            <a:ext cx="815244" cy="779295"/>
            <a:chOff x="1815829" y="1261360"/>
            <a:chExt cx="1584547" cy="2185734"/>
          </a:xfrm>
        </p:grpSpPr>
        <p:grpSp>
          <p:nvGrpSpPr>
            <p:cNvPr id="414" name="Group 413"/>
            <p:cNvGrpSpPr/>
            <p:nvPr/>
          </p:nvGrpSpPr>
          <p:grpSpPr>
            <a:xfrm>
              <a:off x="2393504" y="2009302"/>
              <a:ext cx="431428" cy="575117"/>
              <a:chOff x="2887410" y="414748"/>
              <a:chExt cx="431428" cy="575117"/>
            </a:xfrm>
          </p:grpSpPr>
          <p:sp>
            <p:nvSpPr>
              <p:cNvPr id="43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4" name="Oval 43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15" name="Group 414"/>
            <p:cNvGrpSpPr/>
            <p:nvPr/>
          </p:nvGrpSpPr>
          <p:grpSpPr>
            <a:xfrm>
              <a:off x="2968948" y="1718435"/>
              <a:ext cx="431428" cy="575117"/>
              <a:chOff x="2887410" y="414748"/>
              <a:chExt cx="431428" cy="575117"/>
            </a:xfrm>
          </p:grpSpPr>
          <p:sp>
            <p:nvSpPr>
              <p:cNvPr id="43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2" name="Oval 43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16" name="Group 415"/>
            <p:cNvGrpSpPr/>
            <p:nvPr/>
          </p:nvGrpSpPr>
          <p:grpSpPr>
            <a:xfrm>
              <a:off x="1890068" y="1737899"/>
              <a:ext cx="431428" cy="575117"/>
              <a:chOff x="2887410" y="414748"/>
              <a:chExt cx="431428" cy="575117"/>
            </a:xfrm>
          </p:grpSpPr>
          <p:sp>
            <p:nvSpPr>
              <p:cNvPr id="42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0" name="Oval 42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17" name="Group 416"/>
            <p:cNvGrpSpPr/>
            <p:nvPr/>
          </p:nvGrpSpPr>
          <p:grpSpPr>
            <a:xfrm>
              <a:off x="2825242" y="2584419"/>
              <a:ext cx="431428" cy="575117"/>
              <a:chOff x="2887410" y="414748"/>
              <a:chExt cx="431428" cy="575117"/>
            </a:xfrm>
          </p:grpSpPr>
          <p:sp>
            <p:nvSpPr>
              <p:cNvPr id="42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8" name="Oval 42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18" name="Group 417"/>
            <p:cNvGrpSpPr/>
            <p:nvPr/>
          </p:nvGrpSpPr>
          <p:grpSpPr>
            <a:xfrm>
              <a:off x="2343351" y="2871977"/>
              <a:ext cx="431428" cy="575117"/>
              <a:chOff x="2887410" y="414748"/>
              <a:chExt cx="431428" cy="575117"/>
            </a:xfrm>
          </p:grpSpPr>
          <p:sp>
            <p:nvSpPr>
              <p:cNvPr id="42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6" name="Oval 42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19" name="Group 418"/>
            <p:cNvGrpSpPr/>
            <p:nvPr/>
          </p:nvGrpSpPr>
          <p:grpSpPr>
            <a:xfrm>
              <a:off x="1815829" y="2440876"/>
              <a:ext cx="431428" cy="575117"/>
              <a:chOff x="2887410" y="414748"/>
              <a:chExt cx="431428" cy="575117"/>
            </a:xfrm>
          </p:grpSpPr>
          <p:sp>
            <p:nvSpPr>
              <p:cNvPr id="42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4" name="Oval 42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20" name="Group 419"/>
            <p:cNvGrpSpPr/>
            <p:nvPr/>
          </p:nvGrpSpPr>
          <p:grpSpPr>
            <a:xfrm>
              <a:off x="2434983" y="1261360"/>
              <a:ext cx="431428" cy="575117"/>
              <a:chOff x="2887410" y="414748"/>
              <a:chExt cx="431428" cy="575117"/>
            </a:xfrm>
          </p:grpSpPr>
          <p:sp>
            <p:nvSpPr>
              <p:cNvPr id="42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2" name="Oval 42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435" name="Group 434"/>
          <p:cNvGrpSpPr/>
          <p:nvPr/>
        </p:nvGrpSpPr>
        <p:grpSpPr>
          <a:xfrm>
            <a:off x="7265789" y="2514135"/>
            <a:ext cx="815244" cy="779295"/>
            <a:chOff x="1815829" y="1261360"/>
            <a:chExt cx="1584547" cy="2185734"/>
          </a:xfrm>
        </p:grpSpPr>
        <p:grpSp>
          <p:nvGrpSpPr>
            <p:cNvPr id="436" name="Group 435"/>
            <p:cNvGrpSpPr/>
            <p:nvPr/>
          </p:nvGrpSpPr>
          <p:grpSpPr>
            <a:xfrm>
              <a:off x="2393504" y="2009302"/>
              <a:ext cx="431428" cy="575117"/>
              <a:chOff x="2887410" y="414748"/>
              <a:chExt cx="431428" cy="575117"/>
            </a:xfrm>
          </p:grpSpPr>
          <p:sp>
            <p:nvSpPr>
              <p:cNvPr id="45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6" name="Oval 45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37" name="Group 436"/>
            <p:cNvGrpSpPr/>
            <p:nvPr/>
          </p:nvGrpSpPr>
          <p:grpSpPr>
            <a:xfrm>
              <a:off x="2968948" y="1718435"/>
              <a:ext cx="431428" cy="575117"/>
              <a:chOff x="2887410" y="414748"/>
              <a:chExt cx="431428" cy="575117"/>
            </a:xfrm>
          </p:grpSpPr>
          <p:sp>
            <p:nvSpPr>
              <p:cNvPr id="45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4" name="Oval 45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38" name="Group 437"/>
            <p:cNvGrpSpPr/>
            <p:nvPr/>
          </p:nvGrpSpPr>
          <p:grpSpPr>
            <a:xfrm>
              <a:off x="1890068" y="1737899"/>
              <a:ext cx="431428" cy="575117"/>
              <a:chOff x="2887410" y="414748"/>
              <a:chExt cx="431428" cy="575117"/>
            </a:xfrm>
          </p:grpSpPr>
          <p:sp>
            <p:nvSpPr>
              <p:cNvPr id="45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2" name="Oval 45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39" name="Group 438"/>
            <p:cNvGrpSpPr/>
            <p:nvPr/>
          </p:nvGrpSpPr>
          <p:grpSpPr>
            <a:xfrm>
              <a:off x="2825242" y="2584419"/>
              <a:ext cx="431428" cy="575117"/>
              <a:chOff x="2887410" y="414748"/>
              <a:chExt cx="431428" cy="575117"/>
            </a:xfrm>
          </p:grpSpPr>
          <p:sp>
            <p:nvSpPr>
              <p:cNvPr id="44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0" name="Oval 44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40" name="Group 439"/>
            <p:cNvGrpSpPr/>
            <p:nvPr/>
          </p:nvGrpSpPr>
          <p:grpSpPr>
            <a:xfrm>
              <a:off x="2343351" y="2871977"/>
              <a:ext cx="431428" cy="575117"/>
              <a:chOff x="2887410" y="414748"/>
              <a:chExt cx="431428" cy="575117"/>
            </a:xfrm>
          </p:grpSpPr>
          <p:sp>
            <p:nvSpPr>
              <p:cNvPr id="44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8" name="Oval 44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41" name="Group 440"/>
            <p:cNvGrpSpPr/>
            <p:nvPr/>
          </p:nvGrpSpPr>
          <p:grpSpPr>
            <a:xfrm>
              <a:off x="1815829" y="2440876"/>
              <a:ext cx="431428" cy="575117"/>
              <a:chOff x="2887410" y="414748"/>
              <a:chExt cx="431428" cy="575117"/>
            </a:xfrm>
          </p:grpSpPr>
          <p:sp>
            <p:nvSpPr>
              <p:cNvPr id="44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6" name="Oval 44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42" name="Group 441"/>
            <p:cNvGrpSpPr/>
            <p:nvPr/>
          </p:nvGrpSpPr>
          <p:grpSpPr>
            <a:xfrm>
              <a:off x="2434983" y="1261360"/>
              <a:ext cx="431428" cy="575117"/>
              <a:chOff x="2887410" y="414748"/>
              <a:chExt cx="431428" cy="575117"/>
            </a:xfrm>
          </p:grpSpPr>
          <p:sp>
            <p:nvSpPr>
              <p:cNvPr id="44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4" name="Oval 44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457" name="Group 456"/>
          <p:cNvGrpSpPr/>
          <p:nvPr/>
        </p:nvGrpSpPr>
        <p:grpSpPr>
          <a:xfrm>
            <a:off x="2970553" y="2328741"/>
            <a:ext cx="815244" cy="779295"/>
            <a:chOff x="1815829" y="1261360"/>
            <a:chExt cx="1584547" cy="2185734"/>
          </a:xfrm>
        </p:grpSpPr>
        <p:grpSp>
          <p:nvGrpSpPr>
            <p:cNvPr id="458" name="Group 457"/>
            <p:cNvGrpSpPr/>
            <p:nvPr/>
          </p:nvGrpSpPr>
          <p:grpSpPr>
            <a:xfrm>
              <a:off x="2393504" y="2009302"/>
              <a:ext cx="431428" cy="575117"/>
              <a:chOff x="2887410" y="414748"/>
              <a:chExt cx="431428" cy="575117"/>
            </a:xfrm>
          </p:grpSpPr>
          <p:sp>
            <p:nvSpPr>
              <p:cNvPr id="47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8" name="Oval 47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59" name="Group 458"/>
            <p:cNvGrpSpPr/>
            <p:nvPr/>
          </p:nvGrpSpPr>
          <p:grpSpPr>
            <a:xfrm>
              <a:off x="2968948" y="1718435"/>
              <a:ext cx="431428" cy="575117"/>
              <a:chOff x="2887410" y="414748"/>
              <a:chExt cx="431428" cy="575117"/>
            </a:xfrm>
          </p:grpSpPr>
          <p:sp>
            <p:nvSpPr>
              <p:cNvPr id="47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6" name="Oval 47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60" name="Group 459"/>
            <p:cNvGrpSpPr/>
            <p:nvPr/>
          </p:nvGrpSpPr>
          <p:grpSpPr>
            <a:xfrm>
              <a:off x="1890068" y="1737899"/>
              <a:ext cx="431428" cy="575117"/>
              <a:chOff x="2887410" y="414748"/>
              <a:chExt cx="431428" cy="575117"/>
            </a:xfrm>
          </p:grpSpPr>
          <p:sp>
            <p:nvSpPr>
              <p:cNvPr id="47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4" name="Oval 47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61" name="Group 460"/>
            <p:cNvGrpSpPr/>
            <p:nvPr/>
          </p:nvGrpSpPr>
          <p:grpSpPr>
            <a:xfrm>
              <a:off x="2825242" y="2584419"/>
              <a:ext cx="431428" cy="575117"/>
              <a:chOff x="2887410" y="414748"/>
              <a:chExt cx="431428" cy="575117"/>
            </a:xfrm>
          </p:grpSpPr>
          <p:sp>
            <p:nvSpPr>
              <p:cNvPr id="47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2" name="Oval 47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62" name="Group 461"/>
            <p:cNvGrpSpPr/>
            <p:nvPr/>
          </p:nvGrpSpPr>
          <p:grpSpPr>
            <a:xfrm>
              <a:off x="2343351" y="2871977"/>
              <a:ext cx="431428" cy="575117"/>
              <a:chOff x="2887410" y="414748"/>
              <a:chExt cx="431428" cy="575117"/>
            </a:xfrm>
          </p:grpSpPr>
          <p:sp>
            <p:nvSpPr>
              <p:cNvPr id="46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0" name="Oval 46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63" name="Group 462"/>
            <p:cNvGrpSpPr/>
            <p:nvPr/>
          </p:nvGrpSpPr>
          <p:grpSpPr>
            <a:xfrm>
              <a:off x="1815829" y="2440876"/>
              <a:ext cx="431428" cy="575117"/>
              <a:chOff x="2887410" y="414748"/>
              <a:chExt cx="431428" cy="575117"/>
            </a:xfrm>
          </p:grpSpPr>
          <p:sp>
            <p:nvSpPr>
              <p:cNvPr id="46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8" name="Oval 46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64" name="Group 463"/>
            <p:cNvGrpSpPr/>
            <p:nvPr/>
          </p:nvGrpSpPr>
          <p:grpSpPr>
            <a:xfrm>
              <a:off x="2434983" y="1261360"/>
              <a:ext cx="431428" cy="575117"/>
              <a:chOff x="2887410" y="414748"/>
              <a:chExt cx="431428" cy="575117"/>
            </a:xfrm>
          </p:grpSpPr>
          <p:sp>
            <p:nvSpPr>
              <p:cNvPr id="46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6" name="Oval 46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479" name="Group 478"/>
          <p:cNvGrpSpPr/>
          <p:nvPr/>
        </p:nvGrpSpPr>
        <p:grpSpPr>
          <a:xfrm>
            <a:off x="3704571" y="2693001"/>
            <a:ext cx="815244" cy="779295"/>
            <a:chOff x="1815829" y="1261360"/>
            <a:chExt cx="1584547" cy="2185734"/>
          </a:xfrm>
        </p:grpSpPr>
        <p:grpSp>
          <p:nvGrpSpPr>
            <p:cNvPr id="480" name="Group 479"/>
            <p:cNvGrpSpPr/>
            <p:nvPr/>
          </p:nvGrpSpPr>
          <p:grpSpPr>
            <a:xfrm>
              <a:off x="2393504" y="2009302"/>
              <a:ext cx="431428" cy="575117"/>
              <a:chOff x="2887410" y="414748"/>
              <a:chExt cx="431428" cy="575117"/>
            </a:xfrm>
          </p:grpSpPr>
          <p:sp>
            <p:nvSpPr>
              <p:cNvPr id="49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0" name="Oval 49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81" name="Group 480"/>
            <p:cNvGrpSpPr/>
            <p:nvPr/>
          </p:nvGrpSpPr>
          <p:grpSpPr>
            <a:xfrm>
              <a:off x="2968948" y="1718435"/>
              <a:ext cx="431428" cy="575117"/>
              <a:chOff x="2887410" y="414748"/>
              <a:chExt cx="431428" cy="575117"/>
            </a:xfrm>
          </p:grpSpPr>
          <p:sp>
            <p:nvSpPr>
              <p:cNvPr id="49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8" name="Oval 49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82" name="Group 481"/>
            <p:cNvGrpSpPr/>
            <p:nvPr/>
          </p:nvGrpSpPr>
          <p:grpSpPr>
            <a:xfrm>
              <a:off x="1890068" y="1737899"/>
              <a:ext cx="431428" cy="575117"/>
              <a:chOff x="2887410" y="414748"/>
              <a:chExt cx="431428" cy="575117"/>
            </a:xfrm>
          </p:grpSpPr>
          <p:sp>
            <p:nvSpPr>
              <p:cNvPr id="49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6" name="Oval 49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83" name="Group 482"/>
            <p:cNvGrpSpPr/>
            <p:nvPr/>
          </p:nvGrpSpPr>
          <p:grpSpPr>
            <a:xfrm>
              <a:off x="2825242" y="2584419"/>
              <a:ext cx="431428" cy="575117"/>
              <a:chOff x="2887410" y="414748"/>
              <a:chExt cx="431428" cy="575117"/>
            </a:xfrm>
          </p:grpSpPr>
          <p:sp>
            <p:nvSpPr>
              <p:cNvPr id="49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4" name="Oval 49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84" name="Group 483"/>
            <p:cNvGrpSpPr/>
            <p:nvPr/>
          </p:nvGrpSpPr>
          <p:grpSpPr>
            <a:xfrm>
              <a:off x="2343351" y="2871977"/>
              <a:ext cx="431428" cy="575117"/>
              <a:chOff x="2887410" y="414748"/>
              <a:chExt cx="431428" cy="575117"/>
            </a:xfrm>
          </p:grpSpPr>
          <p:sp>
            <p:nvSpPr>
              <p:cNvPr id="49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2" name="Oval 49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85" name="Group 484"/>
            <p:cNvGrpSpPr/>
            <p:nvPr/>
          </p:nvGrpSpPr>
          <p:grpSpPr>
            <a:xfrm>
              <a:off x="1815829" y="2440876"/>
              <a:ext cx="431428" cy="575117"/>
              <a:chOff x="2887410" y="414748"/>
              <a:chExt cx="431428" cy="575117"/>
            </a:xfrm>
          </p:grpSpPr>
          <p:sp>
            <p:nvSpPr>
              <p:cNvPr id="48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0" name="Oval 48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86" name="Group 485"/>
            <p:cNvGrpSpPr/>
            <p:nvPr/>
          </p:nvGrpSpPr>
          <p:grpSpPr>
            <a:xfrm>
              <a:off x="2434983" y="1261360"/>
              <a:ext cx="431428" cy="575117"/>
              <a:chOff x="2887410" y="414748"/>
              <a:chExt cx="431428" cy="575117"/>
            </a:xfrm>
          </p:grpSpPr>
          <p:sp>
            <p:nvSpPr>
              <p:cNvPr id="48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8" name="Oval 48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501" name="Group 500"/>
          <p:cNvGrpSpPr/>
          <p:nvPr/>
        </p:nvGrpSpPr>
        <p:grpSpPr>
          <a:xfrm>
            <a:off x="3122953" y="2481141"/>
            <a:ext cx="815244" cy="779295"/>
            <a:chOff x="1815829" y="1261360"/>
            <a:chExt cx="1584547" cy="2185734"/>
          </a:xfrm>
        </p:grpSpPr>
        <p:grpSp>
          <p:nvGrpSpPr>
            <p:cNvPr id="502" name="Group 501"/>
            <p:cNvGrpSpPr/>
            <p:nvPr/>
          </p:nvGrpSpPr>
          <p:grpSpPr>
            <a:xfrm>
              <a:off x="2393504" y="2009302"/>
              <a:ext cx="431428" cy="575117"/>
              <a:chOff x="2887410" y="414748"/>
              <a:chExt cx="431428" cy="575117"/>
            </a:xfrm>
          </p:grpSpPr>
          <p:sp>
            <p:nvSpPr>
              <p:cNvPr id="52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2" name="Oval 52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03" name="Group 502"/>
            <p:cNvGrpSpPr/>
            <p:nvPr/>
          </p:nvGrpSpPr>
          <p:grpSpPr>
            <a:xfrm>
              <a:off x="2968948" y="1718435"/>
              <a:ext cx="431428" cy="575117"/>
              <a:chOff x="2887410" y="414748"/>
              <a:chExt cx="431428" cy="575117"/>
            </a:xfrm>
          </p:grpSpPr>
          <p:sp>
            <p:nvSpPr>
              <p:cNvPr id="51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0" name="Oval 51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04" name="Group 503"/>
            <p:cNvGrpSpPr/>
            <p:nvPr/>
          </p:nvGrpSpPr>
          <p:grpSpPr>
            <a:xfrm>
              <a:off x="1890068" y="1737899"/>
              <a:ext cx="431428" cy="575117"/>
              <a:chOff x="2887410" y="414748"/>
              <a:chExt cx="431428" cy="575117"/>
            </a:xfrm>
          </p:grpSpPr>
          <p:sp>
            <p:nvSpPr>
              <p:cNvPr id="51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8" name="Oval 51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05" name="Group 504"/>
            <p:cNvGrpSpPr/>
            <p:nvPr/>
          </p:nvGrpSpPr>
          <p:grpSpPr>
            <a:xfrm>
              <a:off x="2825242" y="2584419"/>
              <a:ext cx="431428" cy="575117"/>
              <a:chOff x="2887410" y="414748"/>
              <a:chExt cx="431428" cy="575117"/>
            </a:xfrm>
          </p:grpSpPr>
          <p:sp>
            <p:nvSpPr>
              <p:cNvPr id="51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6" name="Oval 51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06" name="Group 505"/>
            <p:cNvGrpSpPr/>
            <p:nvPr/>
          </p:nvGrpSpPr>
          <p:grpSpPr>
            <a:xfrm>
              <a:off x="2343351" y="2871977"/>
              <a:ext cx="431428" cy="575117"/>
              <a:chOff x="2887410" y="414748"/>
              <a:chExt cx="431428" cy="575117"/>
            </a:xfrm>
          </p:grpSpPr>
          <p:sp>
            <p:nvSpPr>
              <p:cNvPr id="51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4" name="Oval 51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07" name="Group 506"/>
            <p:cNvGrpSpPr/>
            <p:nvPr/>
          </p:nvGrpSpPr>
          <p:grpSpPr>
            <a:xfrm>
              <a:off x="1815829" y="2440876"/>
              <a:ext cx="431428" cy="575117"/>
              <a:chOff x="2887410" y="414748"/>
              <a:chExt cx="431428" cy="575117"/>
            </a:xfrm>
          </p:grpSpPr>
          <p:sp>
            <p:nvSpPr>
              <p:cNvPr id="51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2" name="Oval 51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08" name="Group 507"/>
            <p:cNvGrpSpPr/>
            <p:nvPr/>
          </p:nvGrpSpPr>
          <p:grpSpPr>
            <a:xfrm>
              <a:off x="2434983" y="1261360"/>
              <a:ext cx="431428" cy="575117"/>
              <a:chOff x="2887410" y="414748"/>
              <a:chExt cx="431428" cy="575117"/>
            </a:xfrm>
          </p:grpSpPr>
          <p:sp>
            <p:nvSpPr>
              <p:cNvPr id="50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0" name="Oval 50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523" name="Group 522"/>
          <p:cNvGrpSpPr/>
          <p:nvPr/>
        </p:nvGrpSpPr>
        <p:grpSpPr>
          <a:xfrm>
            <a:off x="7183122" y="3264080"/>
            <a:ext cx="815244" cy="779295"/>
            <a:chOff x="1815829" y="1261360"/>
            <a:chExt cx="1584547" cy="2185734"/>
          </a:xfrm>
        </p:grpSpPr>
        <p:grpSp>
          <p:nvGrpSpPr>
            <p:cNvPr id="524" name="Group 523"/>
            <p:cNvGrpSpPr/>
            <p:nvPr/>
          </p:nvGrpSpPr>
          <p:grpSpPr>
            <a:xfrm>
              <a:off x="2393504" y="2009302"/>
              <a:ext cx="431428" cy="575117"/>
              <a:chOff x="2887410" y="414748"/>
              <a:chExt cx="431428" cy="575117"/>
            </a:xfrm>
          </p:grpSpPr>
          <p:sp>
            <p:nvSpPr>
              <p:cNvPr id="54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4" name="Oval 54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25" name="Group 524"/>
            <p:cNvGrpSpPr/>
            <p:nvPr/>
          </p:nvGrpSpPr>
          <p:grpSpPr>
            <a:xfrm>
              <a:off x="2968948" y="1718435"/>
              <a:ext cx="431428" cy="575117"/>
              <a:chOff x="2887410" y="414748"/>
              <a:chExt cx="431428" cy="575117"/>
            </a:xfrm>
          </p:grpSpPr>
          <p:sp>
            <p:nvSpPr>
              <p:cNvPr id="54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2" name="Oval 54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26" name="Group 525"/>
            <p:cNvGrpSpPr/>
            <p:nvPr/>
          </p:nvGrpSpPr>
          <p:grpSpPr>
            <a:xfrm>
              <a:off x="1890068" y="1737899"/>
              <a:ext cx="431428" cy="575117"/>
              <a:chOff x="2887410" y="414748"/>
              <a:chExt cx="431428" cy="575117"/>
            </a:xfrm>
          </p:grpSpPr>
          <p:sp>
            <p:nvSpPr>
              <p:cNvPr id="53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0" name="Oval 53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27" name="Group 526"/>
            <p:cNvGrpSpPr/>
            <p:nvPr/>
          </p:nvGrpSpPr>
          <p:grpSpPr>
            <a:xfrm>
              <a:off x="2825242" y="2584419"/>
              <a:ext cx="431428" cy="575117"/>
              <a:chOff x="2887410" y="414748"/>
              <a:chExt cx="431428" cy="575117"/>
            </a:xfrm>
          </p:grpSpPr>
          <p:sp>
            <p:nvSpPr>
              <p:cNvPr id="53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8" name="Oval 53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28" name="Group 527"/>
            <p:cNvGrpSpPr/>
            <p:nvPr/>
          </p:nvGrpSpPr>
          <p:grpSpPr>
            <a:xfrm>
              <a:off x="2343351" y="2871977"/>
              <a:ext cx="431428" cy="575117"/>
              <a:chOff x="2887410" y="414748"/>
              <a:chExt cx="431428" cy="575117"/>
            </a:xfrm>
          </p:grpSpPr>
          <p:sp>
            <p:nvSpPr>
              <p:cNvPr id="53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6" name="Oval 53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29" name="Group 528"/>
            <p:cNvGrpSpPr/>
            <p:nvPr/>
          </p:nvGrpSpPr>
          <p:grpSpPr>
            <a:xfrm>
              <a:off x="1815829" y="2440876"/>
              <a:ext cx="431428" cy="575117"/>
              <a:chOff x="2887410" y="414748"/>
              <a:chExt cx="431428" cy="575117"/>
            </a:xfrm>
          </p:grpSpPr>
          <p:sp>
            <p:nvSpPr>
              <p:cNvPr id="53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4" name="Oval 53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30" name="Group 529"/>
            <p:cNvGrpSpPr/>
            <p:nvPr/>
          </p:nvGrpSpPr>
          <p:grpSpPr>
            <a:xfrm>
              <a:off x="2434983" y="1261360"/>
              <a:ext cx="431428" cy="575117"/>
              <a:chOff x="2887410" y="414748"/>
              <a:chExt cx="431428" cy="575117"/>
            </a:xfrm>
          </p:grpSpPr>
          <p:sp>
            <p:nvSpPr>
              <p:cNvPr id="53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2" name="Oval 53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545" name="Group 544"/>
          <p:cNvGrpSpPr/>
          <p:nvPr/>
        </p:nvGrpSpPr>
        <p:grpSpPr>
          <a:xfrm>
            <a:off x="6816020" y="2448469"/>
            <a:ext cx="815244" cy="779295"/>
            <a:chOff x="1815829" y="1261360"/>
            <a:chExt cx="1584547" cy="2185734"/>
          </a:xfrm>
        </p:grpSpPr>
        <p:grpSp>
          <p:nvGrpSpPr>
            <p:cNvPr id="546" name="Group 545"/>
            <p:cNvGrpSpPr/>
            <p:nvPr/>
          </p:nvGrpSpPr>
          <p:grpSpPr>
            <a:xfrm>
              <a:off x="2393504" y="2009302"/>
              <a:ext cx="431428" cy="575117"/>
              <a:chOff x="2887410" y="414748"/>
              <a:chExt cx="431428" cy="575117"/>
            </a:xfrm>
          </p:grpSpPr>
          <p:sp>
            <p:nvSpPr>
              <p:cNvPr id="56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6" name="Oval 56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47" name="Group 546"/>
            <p:cNvGrpSpPr/>
            <p:nvPr/>
          </p:nvGrpSpPr>
          <p:grpSpPr>
            <a:xfrm>
              <a:off x="2968948" y="1718435"/>
              <a:ext cx="431428" cy="575117"/>
              <a:chOff x="2887410" y="414748"/>
              <a:chExt cx="431428" cy="575117"/>
            </a:xfrm>
          </p:grpSpPr>
          <p:sp>
            <p:nvSpPr>
              <p:cNvPr id="56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4" name="Oval 56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48" name="Group 547"/>
            <p:cNvGrpSpPr/>
            <p:nvPr/>
          </p:nvGrpSpPr>
          <p:grpSpPr>
            <a:xfrm>
              <a:off x="1890068" y="1737899"/>
              <a:ext cx="431428" cy="575117"/>
              <a:chOff x="2887410" y="414748"/>
              <a:chExt cx="431428" cy="575117"/>
            </a:xfrm>
          </p:grpSpPr>
          <p:sp>
            <p:nvSpPr>
              <p:cNvPr id="56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2" name="Oval 56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49" name="Group 548"/>
            <p:cNvGrpSpPr/>
            <p:nvPr/>
          </p:nvGrpSpPr>
          <p:grpSpPr>
            <a:xfrm>
              <a:off x="2825242" y="2584419"/>
              <a:ext cx="431428" cy="575117"/>
              <a:chOff x="2887410" y="414748"/>
              <a:chExt cx="431428" cy="575117"/>
            </a:xfrm>
          </p:grpSpPr>
          <p:sp>
            <p:nvSpPr>
              <p:cNvPr id="55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0" name="Oval 55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50" name="Group 549"/>
            <p:cNvGrpSpPr/>
            <p:nvPr/>
          </p:nvGrpSpPr>
          <p:grpSpPr>
            <a:xfrm>
              <a:off x="2343351" y="2871977"/>
              <a:ext cx="431428" cy="575117"/>
              <a:chOff x="2887410" y="414748"/>
              <a:chExt cx="431428" cy="575117"/>
            </a:xfrm>
          </p:grpSpPr>
          <p:sp>
            <p:nvSpPr>
              <p:cNvPr id="55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8" name="Oval 55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51" name="Group 550"/>
            <p:cNvGrpSpPr/>
            <p:nvPr/>
          </p:nvGrpSpPr>
          <p:grpSpPr>
            <a:xfrm>
              <a:off x="1815829" y="2440876"/>
              <a:ext cx="431428" cy="575117"/>
              <a:chOff x="2887410" y="414748"/>
              <a:chExt cx="431428" cy="575117"/>
            </a:xfrm>
          </p:grpSpPr>
          <p:sp>
            <p:nvSpPr>
              <p:cNvPr id="55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6" name="Oval 55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52" name="Group 551"/>
            <p:cNvGrpSpPr/>
            <p:nvPr/>
          </p:nvGrpSpPr>
          <p:grpSpPr>
            <a:xfrm>
              <a:off x="2434983" y="1261360"/>
              <a:ext cx="431428" cy="575117"/>
              <a:chOff x="2887410" y="414748"/>
              <a:chExt cx="431428" cy="575117"/>
            </a:xfrm>
          </p:grpSpPr>
          <p:sp>
            <p:nvSpPr>
              <p:cNvPr id="55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4" name="Oval 55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567" name="Group 566"/>
          <p:cNvGrpSpPr/>
          <p:nvPr/>
        </p:nvGrpSpPr>
        <p:grpSpPr>
          <a:xfrm>
            <a:off x="8709596" y="4255598"/>
            <a:ext cx="815244" cy="779295"/>
            <a:chOff x="1815829" y="1261360"/>
            <a:chExt cx="1584547" cy="2185734"/>
          </a:xfrm>
        </p:grpSpPr>
        <p:grpSp>
          <p:nvGrpSpPr>
            <p:cNvPr id="568" name="Group 567"/>
            <p:cNvGrpSpPr/>
            <p:nvPr/>
          </p:nvGrpSpPr>
          <p:grpSpPr>
            <a:xfrm>
              <a:off x="2393504" y="2009302"/>
              <a:ext cx="431428" cy="575117"/>
              <a:chOff x="2887410" y="414748"/>
              <a:chExt cx="431428" cy="575117"/>
            </a:xfrm>
          </p:grpSpPr>
          <p:sp>
            <p:nvSpPr>
              <p:cNvPr id="58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8" name="Oval 58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69" name="Group 568"/>
            <p:cNvGrpSpPr/>
            <p:nvPr/>
          </p:nvGrpSpPr>
          <p:grpSpPr>
            <a:xfrm>
              <a:off x="2968948" y="1718435"/>
              <a:ext cx="431428" cy="575117"/>
              <a:chOff x="2887410" y="414748"/>
              <a:chExt cx="431428" cy="575117"/>
            </a:xfrm>
          </p:grpSpPr>
          <p:sp>
            <p:nvSpPr>
              <p:cNvPr id="58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6" name="Oval 58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70" name="Group 569"/>
            <p:cNvGrpSpPr/>
            <p:nvPr/>
          </p:nvGrpSpPr>
          <p:grpSpPr>
            <a:xfrm>
              <a:off x="1890068" y="1737899"/>
              <a:ext cx="431428" cy="575117"/>
              <a:chOff x="2887410" y="414748"/>
              <a:chExt cx="431428" cy="575117"/>
            </a:xfrm>
          </p:grpSpPr>
          <p:sp>
            <p:nvSpPr>
              <p:cNvPr id="58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4" name="Oval 58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71" name="Group 570"/>
            <p:cNvGrpSpPr/>
            <p:nvPr/>
          </p:nvGrpSpPr>
          <p:grpSpPr>
            <a:xfrm>
              <a:off x="2825242" y="2584419"/>
              <a:ext cx="431428" cy="575117"/>
              <a:chOff x="2887410" y="414748"/>
              <a:chExt cx="431428" cy="575117"/>
            </a:xfrm>
          </p:grpSpPr>
          <p:sp>
            <p:nvSpPr>
              <p:cNvPr id="58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2" name="Oval 58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72" name="Group 571"/>
            <p:cNvGrpSpPr/>
            <p:nvPr/>
          </p:nvGrpSpPr>
          <p:grpSpPr>
            <a:xfrm>
              <a:off x="2343351" y="2871977"/>
              <a:ext cx="431428" cy="575117"/>
              <a:chOff x="2887410" y="414748"/>
              <a:chExt cx="431428" cy="575117"/>
            </a:xfrm>
          </p:grpSpPr>
          <p:sp>
            <p:nvSpPr>
              <p:cNvPr id="57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0" name="Oval 57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73" name="Group 572"/>
            <p:cNvGrpSpPr/>
            <p:nvPr/>
          </p:nvGrpSpPr>
          <p:grpSpPr>
            <a:xfrm>
              <a:off x="1815829" y="2440876"/>
              <a:ext cx="431428" cy="575117"/>
              <a:chOff x="2887410" y="414748"/>
              <a:chExt cx="431428" cy="575117"/>
            </a:xfrm>
          </p:grpSpPr>
          <p:sp>
            <p:nvSpPr>
              <p:cNvPr id="57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8" name="Oval 57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74" name="Group 573"/>
            <p:cNvGrpSpPr/>
            <p:nvPr/>
          </p:nvGrpSpPr>
          <p:grpSpPr>
            <a:xfrm>
              <a:off x="2434983" y="1261360"/>
              <a:ext cx="431428" cy="575117"/>
              <a:chOff x="2887410" y="414748"/>
              <a:chExt cx="431428" cy="575117"/>
            </a:xfrm>
          </p:grpSpPr>
          <p:sp>
            <p:nvSpPr>
              <p:cNvPr id="57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6" name="Oval 57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589" name="Group 588"/>
          <p:cNvGrpSpPr/>
          <p:nvPr/>
        </p:nvGrpSpPr>
        <p:grpSpPr>
          <a:xfrm>
            <a:off x="7143266" y="1873520"/>
            <a:ext cx="815244" cy="779295"/>
            <a:chOff x="1815829" y="1261360"/>
            <a:chExt cx="1584547" cy="2185734"/>
          </a:xfrm>
        </p:grpSpPr>
        <p:grpSp>
          <p:nvGrpSpPr>
            <p:cNvPr id="590" name="Group 589"/>
            <p:cNvGrpSpPr/>
            <p:nvPr/>
          </p:nvGrpSpPr>
          <p:grpSpPr>
            <a:xfrm>
              <a:off x="2393504" y="2009302"/>
              <a:ext cx="431428" cy="575117"/>
              <a:chOff x="2887410" y="414748"/>
              <a:chExt cx="431428" cy="575117"/>
            </a:xfrm>
          </p:grpSpPr>
          <p:sp>
            <p:nvSpPr>
              <p:cNvPr id="60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0" name="Oval 60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91" name="Group 590"/>
            <p:cNvGrpSpPr/>
            <p:nvPr/>
          </p:nvGrpSpPr>
          <p:grpSpPr>
            <a:xfrm>
              <a:off x="2968948" y="1718435"/>
              <a:ext cx="431428" cy="575117"/>
              <a:chOff x="2887410" y="414748"/>
              <a:chExt cx="431428" cy="575117"/>
            </a:xfrm>
          </p:grpSpPr>
          <p:sp>
            <p:nvSpPr>
              <p:cNvPr id="60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8" name="Oval 60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92" name="Group 591"/>
            <p:cNvGrpSpPr/>
            <p:nvPr/>
          </p:nvGrpSpPr>
          <p:grpSpPr>
            <a:xfrm>
              <a:off x="1890068" y="1737899"/>
              <a:ext cx="431428" cy="575117"/>
              <a:chOff x="2887410" y="414748"/>
              <a:chExt cx="431428" cy="575117"/>
            </a:xfrm>
          </p:grpSpPr>
          <p:sp>
            <p:nvSpPr>
              <p:cNvPr id="60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6" name="Oval 60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93" name="Group 592"/>
            <p:cNvGrpSpPr/>
            <p:nvPr/>
          </p:nvGrpSpPr>
          <p:grpSpPr>
            <a:xfrm>
              <a:off x="2825242" y="2584419"/>
              <a:ext cx="431428" cy="575117"/>
              <a:chOff x="2887410" y="414748"/>
              <a:chExt cx="431428" cy="575117"/>
            </a:xfrm>
          </p:grpSpPr>
          <p:sp>
            <p:nvSpPr>
              <p:cNvPr id="60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4" name="Oval 60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94" name="Group 593"/>
            <p:cNvGrpSpPr/>
            <p:nvPr/>
          </p:nvGrpSpPr>
          <p:grpSpPr>
            <a:xfrm>
              <a:off x="2343351" y="2871977"/>
              <a:ext cx="431428" cy="575117"/>
              <a:chOff x="2887410" y="414748"/>
              <a:chExt cx="431428" cy="575117"/>
            </a:xfrm>
          </p:grpSpPr>
          <p:sp>
            <p:nvSpPr>
              <p:cNvPr id="60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2" name="Oval 60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95" name="Group 594"/>
            <p:cNvGrpSpPr/>
            <p:nvPr/>
          </p:nvGrpSpPr>
          <p:grpSpPr>
            <a:xfrm>
              <a:off x="1815829" y="2440876"/>
              <a:ext cx="431428" cy="575117"/>
              <a:chOff x="2887410" y="414748"/>
              <a:chExt cx="431428" cy="575117"/>
            </a:xfrm>
          </p:grpSpPr>
          <p:sp>
            <p:nvSpPr>
              <p:cNvPr id="59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0" name="Oval 59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96" name="Group 595"/>
            <p:cNvGrpSpPr/>
            <p:nvPr/>
          </p:nvGrpSpPr>
          <p:grpSpPr>
            <a:xfrm>
              <a:off x="2434983" y="1261360"/>
              <a:ext cx="431428" cy="575117"/>
              <a:chOff x="2887410" y="414748"/>
              <a:chExt cx="431428" cy="575117"/>
            </a:xfrm>
          </p:grpSpPr>
          <p:sp>
            <p:nvSpPr>
              <p:cNvPr id="59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8" name="Oval 59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611" name="Group 610"/>
          <p:cNvGrpSpPr/>
          <p:nvPr/>
        </p:nvGrpSpPr>
        <p:grpSpPr>
          <a:xfrm>
            <a:off x="7030647" y="3998189"/>
            <a:ext cx="815244" cy="779295"/>
            <a:chOff x="1815829" y="1261360"/>
            <a:chExt cx="1584547" cy="2185734"/>
          </a:xfrm>
        </p:grpSpPr>
        <p:grpSp>
          <p:nvGrpSpPr>
            <p:cNvPr id="612" name="Group 611"/>
            <p:cNvGrpSpPr/>
            <p:nvPr/>
          </p:nvGrpSpPr>
          <p:grpSpPr>
            <a:xfrm>
              <a:off x="2393504" y="2009302"/>
              <a:ext cx="431428" cy="575117"/>
              <a:chOff x="2887410" y="414748"/>
              <a:chExt cx="431428" cy="575117"/>
            </a:xfrm>
          </p:grpSpPr>
          <p:sp>
            <p:nvSpPr>
              <p:cNvPr id="63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2" name="Oval 63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13" name="Group 612"/>
            <p:cNvGrpSpPr/>
            <p:nvPr/>
          </p:nvGrpSpPr>
          <p:grpSpPr>
            <a:xfrm>
              <a:off x="2968948" y="1718435"/>
              <a:ext cx="431428" cy="575117"/>
              <a:chOff x="2887410" y="414748"/>
              <a:chExt cx="431428" cy="575117"/>
            </a:xfrm>
          </p:grpSpPr>
          <p:sp>
            <p:nvSpPr>
              <p:cNvPr id="62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0" name="Oval 62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14" name="Group 613"/>
            <p:cNvGrpSpPr/>
            <p:nvPr/>
          </p:nvGrpSpPr>
          <p:grpSpPr>
            <a:xfrm>
              <a:off x="1890068" y="1737899"/>
              <a:ext cx="431428" cy="575117"/>
              <a:chOff x="2887410" y="414748"/>
              <a:chExt cx="431428" cy="575117"/>
            </a:xfrm>
          </p:grpSpPr>
          <p:sp>
            <p:nvSpPr>
              <p:cNvPr id="62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8" name="Oval 62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15" name="Group 614"/>
            <p:cNvGrpSpPr/>
            <p:nvPr/>
          </p:nvGrpSpPr>
          <p:grpSpPr>
            <a:xfrm>
              <a:off x="2825242" y="2584419"/>
              <a:ext cx="431428" cy="575117"/>
              <a:chOff x="2887410" y="414748"/>
              <a:chExt cx="431428" cy="575117"/>
            </a:xfrm>
          </p:grpSpPr>
          <p:sp>
            <p:nvSpPr>
              <p:cNvPr id="62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6" name="Oval 62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16" name="Group 615"/>
            <p:cNvGrpSpPr/>
            <p:nvPr/>
          </p:nvGrpSpPr>
          <p:grpSpPr>
            <a:xfrm>
              <a:off x="2343351" y="2871977"/>
              <a:ext cx="431428" cy="575117"/>
              <a:chOff x="2887410" y="414748"/>
              <a:chExt cx="431428" cy="575117"/>
            </a:xfrm>
          </p:grpSpPr>
          <p:sp>
            <p:nvSpPr>
              <p:cNvPr id="62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4" name="Oval 62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17" name="Group 616"/>
            <p:cNvGrpSpPr/>
            <p:nvPr/>
          </p:nvGrpSpPr>
          <p:grpSpPr>
            <a:xfrm>
              <a:off x="1815829" y="2440876"/>
              <a:ext cx="431428" cy="575117"/>
              <a:chOff x="2887410" y="414748"/>
              <a:chExt cx="431428" cy="575117"/>
            </a:xfrm>
          </p:grpSpPr>
          <p:sp>
            <p:nvSpPr>
              <p:cNvPr id="62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2" name="Oval 62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18" name="Group 617"/>
            <p:cNvGrpSpPr/>
            <p:nvPr/>
          </p:nvGrpSpPr>
          <p:grpSpPr>
            <a:xfrm>
              <a:off x="2434983" y="1261360"/>
              <a:ext cx="431428" cy="575117"/>
              <a:chOff x="2887410" y="414748"/>
              <a:chExt cx="431428" cy="575117"/>
            </a:xfrm>
          </p:grpSpPr>
          <p:sp>
            <p:nvSpPr>
              <p:cNvPr id="61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0" name="Oval 61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633" name="Group 632"/>
          <p:cNvGrpSpPr/>
          <p:nvPr/>
        </p:nvGrpSpPr>
        <p:grpSpPr>
          <a:xfrm>
            <a:off x="2688852" y="2935400"/>
            <a:ext cx="815244" cy="779295"/>
            <a:chOff x="1815829" y="1261360"/>
            <a:chExt cx="1584547" cy="2185734"/>
          </a:xfrm>
        </p:grpSpPr>
        <p:grpSp>
          <p:nvGrpSpPr>
            <p:cNvPr id="634" name="Group 633"/>
            <p:cNvGrpSpPr/>
            <p:nvPr/>
          </p:nvGrpSpPr>
          <p:grpSpPr>
            <a:xfrm>
              <a:off x="2393504" y="2009302"/>
              <a:ext cx="431428" cy="575117"/>
              <a:chOff x="2887410" y="414748"/>
              <a:chExt cx="431428" cy="575117"/>
            </a:xfrm>
          </p:grpSpPr>
          <p:sp>
            <p:nvSpPr>
              <p:cNvPr id="65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4" name="Oval 65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35" name="Group 634"/>
            <p:cNvGrpSpPr/>
            <p:nvPr/>
          </p:nvGrpSpPr>
          <p:grpSpPr>
            <a:xfrm>
              <a:off x="2968948" y="1718435"/>
              <a:ext cx="431428" cy="575117"/>
              <a:chOff x="2887410" y="414748"/>
              <a:chExt cx="431428" cy="575117"/>
            </a:xfrm>
          </p:grpSpPr>
          <p:sp>
            <p:nvSpPr>
              <p:cNvPr id="65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2" name="Oval 65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36" name="Group 635"/>
            <p:cNvGrpSpPr/>
            <p:nvPr/>
          </p:nvGrpSpPr>
          <p:grpSpPr>
            <a:xfrm>
              <a:off x="1890068" y="1737899"/>
              <a:ext cx="431428" cy="575117"/>
              <a:chOff x="2887410" y="414748"/>
              <a:chExt cx="431428" cy="575117"/>
            </a:xfrm>
          </p:grpSpPr>
          <p:sp>
            <p:nvSpPr>
              <p:cNvPr id="64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0" name="Oval 64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37" name="Group 636"/>
            <p:cNvGrpSpPr/>
            <p:nvPr/>
          </p:nvGrpSpPr>
          <p:grpSpPr>
            <a:xfrm>
              <a:off x="2825242" y="2584419"/>
              <a:ext cx="431428" cy="575117"/>
              <a:chOff x="2887410" y="414748"/>
              <a:chExt cx="431428" cy="575117"/>
            </a:xfrm>
          </p:grpSpPr>
          <p:sp>
            <p:nvSpPr>
              <p:cNvPr id="64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8" name="Oval 64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38" name="Group 637"/>
            <p:cNvGrpSpPr/>
            <p:nvPr/>
          </p:nvGrpSpPr>
          <p:grpSpPr>
            <a:xfrm>
              <a:off x="2343351" y="2871977"/>
              <a:ext cx="431428" cy="575117"/>
              <a:chOff x="2887410" y="414748"/>
              <a:chExt cx="431428" cy="575117"/>
            </a:xfrm>
          </p:grpSpPr>
          <p:sp>
            <p:nvSpPr>
              <p:cNvPr id="64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6" name="Oval 64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39" name="Group 638"/>
            <p:cNvGrpSpPr/>
            <p:nvPr/>
          </p:nvGrpSpPr>
          <p:grpSpPr>
            <a:xfrm>
              <a:off x="1815829" y="2440876"/>
              <a:ext cx="431428" cy="575117"/>
              <a:chOff x="2887410" y="414748"/>
              <a:chExt cx="431428" cy="575117"/>
            </a:xfrm>
          </p:grpSpPr>
          <p:sp>
            <p:nvSpPr>
              <p:cNvPr id="64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4" name="Oval 64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40" name="Group 639"/>
            <p:cNvGrpSpPr/>
            <p:nvPr/>
          </p:nvGrpSpPr>
          <p:grpSpPr>
            <a:xfrm>
              <a:off x="2434983" y="1261360"/>
              <a:ext cx="431428" cy="575117"/>
              <a:chOff x="2887410" y="414748"/>
              <a:chExt cx="431428" cy="575117"/>
            </a:xfrm>
          </p:grpSpPr>
          <p:sp>
            <p:nvSpPr>
              <p:cNvPr id="64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2" name="Oval 64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655" name="Group 654"/>
          <p:cNvGrpSpPr/>
          <p:nvPr/>
        </p:nvGrpSpPr>
        <p:grpSpPr>
          <a:xfrm>
            <a:off x="3511830" y="3000592"/>
            <a:ext cx="815244" cy="779295"/>
            <a:chOff x="1815829" y="1261360"/>
            <a:chExt cx="1584547" cy="2185734"/>
          </a:xfrm>
        </p:grpSpPr>
        <p:grpSp>
          <p:nvGrpSpPr>
            <p:cNvPr id="656" name="Group 655"/>
            <p:cNvGrpSpPr/>
            <p:nvPr/>
          </p:nvGrpSpPr>
          <p:grpSpPr>
            <a:xfrm>
              <a:off x="2393504" y="2009302"/>
              <a:ext cx="431428" cy="575117"/>
              <a:chOff x="2887410" y="414748"/>
              <a:chExt cx="431428" cy="575117"/>
            </a:xfrm>
          </p:grpSpPr>
          <p:sp>
            <p:nvSpPr>
              <p:cNvPr id="67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6" name="Oval 67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57" name="Group 656"/>
            <p:cNvGrpSpPr/>
            <p:nvPr/>
          </p:nvGrpSpPr>
          <p:grpSpPr>
            <a:xfrm>
              <a:off x="2968948" y="1718435"/>
              <a:ext cx="431428" cy="575117"/>
              <a:chOff x="2887410" y="414748"/>
              <a:chExt cx="431428" cy="575117"/>
            </a:xfrm>
          </p:grpSpPr>
          <p:sp>
            <p:nvSpPr>
              <p:cNvPr id="67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4" name="Oval 67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58" name="Group 657"/>
            <p:cNvGrpSpPr/>
            <p:nvPr/>
          </p:nvGrpSpPr>
          <p:grpSpPr>
            <a:xfrm>
              <a:off x="1890068" y="1737899"/>
              <a:ext cx="431428" cy="575117"/>
              <a:chOff x="2887410" y="414748"/>
              <a:chExt cx="431428" cy="575117"/>
            </a:xfrm>
          </p:grpSpPr>
          <p:sp>
            <p:nvSpPr>
              <p:cNvPr id="67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2" name="Oval 67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59" name="Group 658"/>
            <p:cNvGrpSpPr/>
            <p:nvPr/>
          </p:nvGrpSpPr>
          <p:grpSpPr>
            <a:xfrm>
              <a:off x="2825242" y="2584419"/>
              <a:ext cx="431428" cy="575117"/>
              <a:chOff x="2887410" y="414748"/>
              <a:chExt cx="431428" cy="575117"/>
            </a:xfrm>
          </p:grpSpPr>
          <p:sp>
            <p:nvSpPr>
              <p:cNvPr id="66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0" name="Oval 66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60" name="Group 659"/>
            <p:cNvGrpSpPr/>
            <p:nvPr/>
          </p:nvGrpSpPr>
          <p:grpSpPr>
            <a:xfrm>
              <a:off x="2343351" y="2871977"/>
              <a:ext cx="431428" cy="575117"/>
              <a:chOff x="2887410" y="414748"/>
              <a:chExt cx="431428" cy="575117"/>
            </a:xfrm>
          </p:grpSpPr>
          <p:sp>
            <p:nvSpPr>
              <p:cNvPr id="66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8" name="Oval 66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61" name="Group 660"/>
            <p:cNvGrpSpPr/>
            <p:nvPr/>
          </p:nvGrpSpPr>
          <p:grpSpPr>
            <a:xfrm>
              <a:off x="1815829" y="2440876"/>
              <a:ext cx="431428" cy="575117"/>
              <a:chOff x="2887410" y="414748"/>
              <a:chExt cx="431428" cy="575117"/>
            </a:xfrm>
          </p:grpSpPr>
          <p:sp>
            <p:nvSpPr>
              <p:cNvPr id="66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6" name="Oval 66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62" name="Group 661"/>
            <p:cNvGrpSpPr/>
            <p:nvPr/>
          </p:nvGrpSpPr>
          <p:grpSpPr>
            <a:xfrm>
              <a:off x="2434983" y="1261360"/>
              <a:ext cx="431428" cy="575117"/>
              <a:chOff x="2887410" y="414748"/>
              <a:chExt cx="431428" cy="575117"/>
            </a:xfrm>
          </p:grpSpPr>
          <p:sp>
            <p:nvSpPr>
              <p:cNvPr id="66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4" name="Oval 66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677" name="Group 676"/>
          <p:cNvGrpSpPr/>
          <p:nvPr/>
        </p:nvGrpSpPr>
        <p:grpSpPr>
          <a:xfrm>
            <a:off x="6855592" y="2945697"/>
            <a:ext cx="815244" cy="779295"/>
            <a:chOff x="1815829" y="1261360"/>
            <a:chExt cx="1584547" cy="2185734"/>
          </a:xfrm>
        </p:grpSpPr>
        <p:grpSp>
          <p:nvGrpSpPr>
            <p:cNvPr id="678" name="Group 677"/>
            <p:cNvGrpSpPr/>
            <p:nvPr/>
          </p:nvGrpSpPr>
          <p:grpSpPr>
            <a:xfrm>
              <a:off x="2393504" y="2009302"/>
              <a:ext cx="431428" cy="575117"/>
              <a:chOff x="2887410" y="414748"/>
              <a:chExt cx="431428" cy="575117"/>
            </a:xfrm>
          </p:grpSpPr>
          <p:sp>
            <p:nvSpPr>
              <p:cNvPr id="69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8" name="Oval 69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79" name="Group 678"/>
            <p:cNvGrpSpPr/>
            <p:nvPr/>
          </p:nvGrpSpPr>
          <p:grpSpPr>
            <a:xfrm>
              <a:off x="2968948" y="1718435"/>
              <a:ext cx="431428" cy="575117"/>
              <a:chOff x="2887410" y="414748"/>
              <a:chExt cx="431428" cy="575117"/>
            </a:xfrm>
          </p:grpSpPr>
          <p:sp>
            <p:nvSpPr>
              <p:cNvPr id="69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6" name="Oval 69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80" name="Group 679"/>
            <p:cNvGrpSpPr/>
            <p:nvPr/>
          </p:nvGrpSpPr>
          <p:grpSpPr>
            <a:xfrm>
              <a:off x="1890068" y="1737899"/>
              <a:ext cx="431428" cy="575117"/>
              <a:chOff x="2887410" y="414748"/>
              <a:chExt cx="431428" cy="575117"/>
            </a:xfrm>
          </p:grpSpPr>
          <p:sp>
            <p:nvSpPr>
              <p:cNvPr id="69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4" name="Oval 69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81" name="Group 680"/>
            <p:cNvGrpSpPr/>
            <p:nvPr/>
          </p:nvGrpSpPr>
          <p:grpSpPr>
            <a:xfrm>
              <a:off x="2825242" y="2584419"/>
              <a:ext cx="431428" cy="575117"/>
              <a:chOff x="2887410" y="414748"/>
              <a:chExt cx="431428" cy="575117"/>
            </a:xfrm>
          </p:grpSpPr>
          <p:sp>
            <p:nvSpPr>
              <p:cNvPr id="69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2" name="Oval 69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82" name="Group 681"/>
            <p:cNvGrpSpPr/>
            <p:nvPr/>
          </p:nvGrpSpPr>
          <p:grpSpPr>
            <a:xfrm>
              <a:off x="2343351" y="2871977"/>
              <a:ext cx="431428" cy="575117"/>
              <a:chOff x="2887410" y="414748"/>
              <a:chExt cx="431428" cy="575117"/>
            </a:xfrm>
          </p:grpSpPr>
          <p:sp>
            <p:nvSpPr>
              <p:cNvPr id="68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0" name="Oval 68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83" name="Group 682"/>
            <p:cNvGrpSpPr/>
            <p:nvPr/>
          </p:nvGrpSpPr>
          <p:grpSpPr>
            <a:xfrm>
              <a:off x="1815829" y="2440876"/>
              <a:ext cx="431428" cy="575117"/>
              <a:chOff x="2887410" y="414748"/>
              <a:chExt cx="431428" cy="575117"/>
            </a:xfrm>
          </p:grpSpPr>
          <p:sp>
            <p:nvSpPr>
              <p:cNvPr id="68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8" name="Oval 68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84" name="Group 683"/>
            <p:cNvGrpSpPr/>
            <p:nvPr/>
          </p:nvGrpSpPr>
          <p:grpSpPr>
            <a:xfrm>
              <a:off x="2434983" y="1261360"/>
              <a:ext cx="431428" cy="575117"/>
              <a:chOff x="2887410" y="414748"/>
              <a:chExt cx="431428" cy="575117"/>
            </a:xfrm>
          </p:grpSpPr>
          <p:sp>
            <p:nvSpPr>
              <p:cNvPr id="68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6" name="Oval 68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699" name="Group 698"/>
          <p:cNvGrpSpPr/>
          <p:nvPr/>
        </p:nvGrpSpPr>
        <p:grpSpPr>
          <a:xfrm>
            <a:off x="7335522" y="3416480"/>
            <a:ext cx="815244" cy="779295"/>
            <a:chOff x="1815829" y="1261360"/>
            <a:chExt cx="1584547" cy="2185734"/>
          </a:xfrm>
        </p:grpSpPr>
        <p:grpSp>
          <p:nvGrpSpPr>
            <p:cNvPr id="700" name="Group 699"/>
            <p:cNvGrpSpPr/>
            <p:nvPr/>
          </p:nvGrpSpPr>
          <p:grpSpPr>
            <a:xfrm>
              <a:off x="2393504" y="2009302"/>
              <a:ext cx="431428" cy="575117"/>
              <a:chOff x="2887410" y="414748"/>
              <a:chExt cx="431428" cy="575117"/>
            </a:xfrm>
          </p:grpSpPr>
          <p:sp>
            <p:nvSpPr>
              <p:cNvPr id="71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0" name="Oval 71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01" name="Group 700"/>
            <p:cNvGrpSpPr/>
            <p:nvPr/>
          </p:nvGrpSpPr>
          <p:grpSpPr>
            <a:xfrm>
              <a:off x="2968948" y="1718435"/>
              <a:ext cx="431428" cy="575117"/>
              <a:chOff x="2887410" y="414748"/>
              <a:chExt cx="431428" cy="575117"/>
            </a:xfrm>
          </p:grpSpPr>
          <p:sp>
            <p:nvSpPr>
              <p:cNvPr id="71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8" name="Oval 71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02" name="Group 701"/>
            <p:cNvGrpSpPr/>
            <p:nvPr/>
          </p:nvGrpSpPr>
          <p:grpSpPr>
            <a:xfrm>
              <a:off x="1890068" y="1737899"/>
              <a:ext cx="431428" cy="575117"/>
              <a:chOff x="2887410" y="414748"/>
              <a:chExt cx="431428" cy="575117"/>
            </a:xfrm>
          </p:grpSpPr>
          <p:sp>
            <p:nvSpPr>
              <p:cNvPr id="71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6" name="Oval 71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03" name="Group 702"/>
            <p:cNvGrpSpPr/>
            <p:nvPr/>
          </p:nvGrpSpPr>
          <p:grpSpPr>
            <a:xfrm>
              <a:off x="2825242" y="2584419"/>
              <a:ext cx="431428" cy="575117"/>
              <a:chOff x="2887410" y="414748"/>
              <a:chExt cx="431428" cy="575117"/>
            </a:xfrm>
          </p:grpSpPr>
          <p:sp>
            <p:nvSpPr>
              <p:cNvPr id="71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4" name="Oval 71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04" name="Group 703"/>
            <p:cNvGrpSpPr/>
            <p:nvPr/>
          </p:nvGrpSpPr>
          <p:grpSpPr>
            <a:xfrm>
              <a:off x="2343351" y="2871977"/>
              <a:ext cx="431428" cy="575117"/>
              <a:chOff x="2887410" y="414748"/>
              <a:chExt cx="431428" cy="575117"/>
            </a:xfrm>
          </p:grpSpPr>
          <p:sp>
            <p:nvSpPr>
              <p:cNvPr id="71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2" name="Oval 71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05" name="Group 704"/>
            <p:cNvGrpSpPr/>
            <p:nvPr/>
          </p:nvGrpSpPr>
          <p:grpSpPr>
            <a:xfrm>
              <a:off x="1815829" y="2440876"/>
              <a:ext cx="431428" cy="575117"/>
              <a:chOff x="2887410" y="414748"/>
              <a:chExt cx="431428" cy="575117"/>
            </a:xfrm>
          </p:grpSpPr>
          <p:sp>
            <p:nvSpPr>
              <p:cNvPr id="70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0" name="Oval 70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06" name="Group 705"/>
            <p:cNvGrpSpPr/>
            <p:nvPr/>
          </p:nvGrpSpPr>
          <p:grpSpPr>
            <a:xfrm>
              <a:off x="2434983" y="1261360"/>
              <a:ext cx="431428" cy="575117"/>
              <a:chOff x="2887410" y="414748"/>
              <a:chExt cx="431428" cy="575117"/>
            </a:xfrm>
          </p:grpSpPr>
          <p:sp>
            <p:nvSpPr>
              <p:cNvPr id="70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8" name="Oval 70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721" name="Group 720"/>
          <p:cNvGrpSpPr/>
          <p:nvPr/>
        </p:nvGrpSpPr>
        <p:grpSpPr>
          <a:xfrm>
            <a:off x="7819873" y="4012824"/>
            <a:ext cx="815244" cy="779295"/>
            <a:chOff x="1815829" y="1261360"/>
            <a:chExt cx="1584547" cy="2185734"/>
          </a:xfrm>
        </p:grpSpPr>
        <p:grpSp>
          <p:nvGrpSpPr>
            <p:cNvPr id="722" name="Group 721"/>
            <p:cNvGrpSpPr/>
            <p:nvPr/>
          </p:nvGrpSpPr>
          <p:grpSpPr>
            <a:xfrm>
              <a:off x="2393504" y="2009302"/>
              <a:ext cx="431428" cy="575117"/>
              <a:chOff x="2887410" y="414748"/>
              <a:chExt cx="431428" cy="575117"/>
            </a:xfrm>
          </p:grpSpPr>
          <p:sp>
            <p:nvSpPr>
              <p:cNvPr id="74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2" name="Oval 74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23" name="Group 722"/>
            <p:cNvGrpSpPr/>
            <p:nvPr/>
          </p:nvGrpSpPr>
          <p:grpSpPr>
            <a:xfrm>
              <a:off x="2968948" y="1718435"/>
              <a:ext cx="431428" cy="575117"/>
              <a:chOff x="2887410" y="414748"/>
              <a:chExt cx="431428" cy="575117"/>
            </a:xfrm>
          </p:grpSpPr>
          <p:sp>
            <p:nvSpPr>
              <p:cNvPr id="73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0" name="Oval 73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24" name="Group 723"/>
            <p:cNvGrpSpPr/>
            <p:nvPr/>
          </p:nvGrpSpPr>
          <p:grpSpPr>
            <a:xfrm>
              <a:off x="1890068" y="1737899"/>
              <a:ext cx="431428" cy="575117"/>
              <a:chOff x="2887410" y="414748"/>
              <a:chExt cx="431428" cy="575117"/>
            </a:xfrm>
          </p:grpSpPr>
          <p:sp>
            <p:nvSpPr>
              <p:cNvPr id="73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8" name="Oval 73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25" name="Group 724"/>
            <p:cNvGrpSpPr/>
            <p:nvPr/>
          </p:nvGrpSpPr>
          <p:grpSpPr>
            <a:xfrm>
              <a:off x="2825242" y="2584419"/>
              <a:ext cx="431428" cy="575117"/>
              <a:chOff x="2887410" y="414748"/>
              <a:chExt cx="431428" cy="575117"/>
            </a:xfrm>
          </p:grpSpPr>
          <p:sp>
            <p:nvSpPr>
              <p:cNvPr id="735"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6" name="Oval 735"/>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26" name="Group 725"/>
            <p:cNvGrpSpPr/>
            <p:nvPr/>
          </p:nvGrpSpPr>
          <p:grpSpPr>
            <a:xfrm>
              <a:off x="2343351" y="2871977"/>
              <a:ext cx="431428" cy="575117"/>
              <a:chOff x="2887410" y="414748"/>
              <a:chExt cx="431428" cy="575117"/>
            </a:xfrm>
          </p:grpSpPr>
          <p:sp>
            <p:nvSpPr>
              <p:cNvPr id="73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4" name="Oval 73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27" name="Group 726"/>
            <p:cNvGrpSpPr/>
            <p:nvPr/>
          </p:nvGrpSpPr>
          <p:grpSpPr>
            <a:xfrm>
              <a:off x="1815829" y="2440876"/>
              <a:ext cx="431428" cy="575117"/>
              <a:chOff x="2887410" y="414748"/>
              <a:chExt cx="431428" cy="575117"/>
            </a:xfrm>
          </p:grpSpPr>
          <p:sp>
            <p:nvSpPr>
              <p:cNvPr id="73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2" name="Oval 73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28" name="Group 727"/>
            <p:cNvGrpSpPr/>
            <p:nvPr/>
          </p:nvGrpSpPr>
          <p:grpSpPr>
            <a:xfrm>
              <a:off x="2434983" y="1261360"/>
              <a:ext cx="431428" cy="575117"/>
              <a:chOff x="2887410" y="414748"/>
              <a:chExt cx="431428" cy="575117"/>
            </a:xfrm>
          </p:grpSpPr>
          <p:sp>
            <p:nvSpPr>
              <p:cNvPr id="729"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0" name="Oval 729"/>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26" name="TextBox 25"/>
          <p:cNvSpPr txBox="1"/>
          <p:nvPr/>
        </p:nvSpPr>
        <p:spPr>
          <a:xfrm>
            <a:off x="3540070" y="5520168"/>
            <a:ext cx="10461488" cy="584775"/>
          </a:xfrm>
          <a:prstGeom prst="rect">
            <a:avLst/>
          </a:prstGeom>
          <a:noFill/>
        </p:spPr>
        <p:txBody>
          <a:bodyPr wrap="square" rtlCol="0">
            <a:spAutoFit/>
          </a:bodyPr>
          <a:lstStyle/>
          <a:p>
            <a:r>
              <a:rPr lang="en-GB" sz="3200" dirty="0" smtClean="0"/>
              <a:t>… even if you make it really big!</a:t>
            </a:r>
            <a:endParaRPr lang="en-GB" sz="3200" dirty="0"/>
          </a:p>
        </p:txBody>
      </p:sp>
    </p:spTree>
    <p:extLst>
      <p:ext uri="{BB962C8B-B14F-4D97-AF65-F5344CB8AC3E}">
        <p14:creationId xmlns:p14="http://schemas.microsoft.com/office/powerpoint/2010/main" val="118491405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Rectangle 76"/>
          <p:cNvSpPr/>
          <p:nvPr/>
        </p:nvSpPr>
        <p:spPr>
          <a:xfrm>
            <a:off x="962023" y="1442815"/>
            <a:ext cx="10852727" cy="6858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5" name="Group 24"/>
          <p:cNvGrpSpPr/>
          <p:nvPr/>
        </p:nvGrpSpPr>
        <p:grpSpPr>
          <a:xfrm>
            <a:off x="2818152" y="2176341"/>
            <a:ext cx="1584547" cy="2185734"/>
            <a:chOff x="1815829" y="1261360"/>
            <a:chExt cx="1584547" cy="2185734"/>
          </a:xfrm>
        </p:grpSpPr>
        <p:grpSp>
          <p:nvGrpSpPr>
            <p:cNvPr id="6" name="Group 5"/>
            <p:cNvGrpSpPr/>
            <p:nvPr/>
          </p:nvGrpSpPr>
          <p:grpSpPr>
            <a:xfrm>
              <a:off x="2393504" y="2009302"/>
              <a:ext cx="431428" cy="575117"/>
              <a:chOff x="2887410" y="414748"/>
              <a:chExt cx="431428" cy="575117"/>
            </a:xfrm>
          </p:grpSpPr>
          <p:sp>
            <p:nvSpPr>
              <p:cNvPr id="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 name="Group 6"/>
            <p:cNvGrpSpPr/>
            <p:nvPr/>
          </p:nvGrpSpPr>
          <p:grpSpPr>
            <a:xfrm>
              <a:off x="2968948" y="1718435"/>
              <a:ext cx="431428" cy="575117"/>
              <a:chOff x="2887410" y="414748"/>
              <a:chExt cx="431428" cy="575117"/>
            </a:xfrm>
          </p:grpSpPr>
          <p:sp>
            <p:nvSpPr>
              <p:cNvPr id="8"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 name="Group 9"/>
            <p:cNvGrpSpPr/>
            <p:nvPr/>
          </p:nvGrpSpPr>
          <p:grpSpPr>
            <a:xfrm>
              <a:off x="1890068" y="1737899"/>
              <a:ext cx="431428" cy="575117"/>
              <a:chOff x="2887410" y="414748"/>
              <a:chExt cx="431428" cy="575117"/>
            </a:xfrm>
          </p:grpSpPr>
          <p:sp>
            <p:nvSpPr>
              <p:cNvPr id="1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 name="Group 12"/>
            <p:cNvGrpSpPr/>
            <p:nvPr/>
          </p:nvGrpSpPr>
          <p:grpSpPr>
            <a:xfrm>
              <a:off x="2825242" y="2584419"/>
              <a:ext cx="431428" cy="575117"/>
              <a:chOff x="2887410" y="414748"/>
              <a:chExt cx="431428" cy="575117"/>
            </a:xfrm>
          </p:grpSpPr>
          <p:sp>
            <p:nvSpPr>
              <p:cNvPr id="1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6" name="Group 15"/>
            <p:cNvGrpSpPr/>
            <p:nvPr/>
          </p:nvGrpSpPr>
          <p:grpSpPr>
            <a:xfrm>
              <a:off x="2343351" y="2871977"/>
              <a:ext cx="431428" cy="575117"/>
              <a:chOff x="2887410" y="414748"/>
              <a:chExt cx="431428" cy="575117"/>
            </a:xfrm>
          </p:grpSpPr>
          <p:sp>
            <p:nvSpPr>
              <p:cNvPr id="1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 name="Group 18"/>
            <p:cNvGrpSpPr/>
            <p:nvPr/>
          </p:nvGrpSpPr>
          <p:grpSpPr>
            <a:xfrm>
              <a:off x="1815829" y="2440876"/>
              <a:ext cx="431428" cy="575117"/>
              <a:chOff x="2887410" y="414748"/>
              <a:chExt cx="431428" cy="575117"/>
            </a:xfrm>
          </p:grpSpPr>
          <p:sp>
            <p:nvSpPr>
              <p:cNvPr id="20"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 name="Group 21"/>
            <p:cNvGrpSpPr/>
            <p:nvPr/>
          </p:nvGrpSpPr>
          <p:grpSpPr>
            <a:xfrm>
              <a:off x="2434983" y="1261360"/>
              <a:ext cx="431428" cy="575117"/>
              <a:chOff x="2887410" y="414748"/>
              <a:chExt cx="431428" cy="575117"/>
            </a:xfrm>
          </p:grpSpPr>
          <p:sp>
            <p:nvSpPr>
              <p:cNvPr id="2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6" name="Group 25"/>
          <p:cNvGrpSpPr/>
          <p:nvPr/>
        </p:nvGrpSpPr>
        <p:grpSpPr>
          <a:xfrm>
            <a:off x="7560137" y="2083722"/>
            <a:ext cx="1584547" cy="2185734"/>
            <a:chOff x="1815829" y="1261360"/>
            <a:chExt cx="1584547" cy="2185734"/>
          </a:xfrm>
        </p:grpSpPr>
        <p:grpSp>
          <p:nvGrpSpPr>
            <p:cNvPr id="27" name="Group 26"/>
            <p:cNvGrpSpPr/>
            <p:nvPr/>
          </p:nvGrpSpPr>
          <p:grpSpPr>
            <a:xfrm>
              <a:off x="2393504" y="2009302"/>
              <a:ext cx="431428" cy="575117"/>
              <a:chOff x="2887410" y="414748"/>
              <a:chExt cx="431428" cy="575117"/>
            </a:xfrm>
          </p:grpSpPr>
          <p:sp>
            <p:nvSpPr>
              <p:cNvPr id="46"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Oval 46"/>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8" name="Group 27"/>
            <p:cNvGrpSpPr/>
            <p:nvPr/>
          </p:nvGrpSpPr>
          <p:grpSpPr>
            <a:xfrm>
              <a:off x="2968948" y="1718435"/>
              <a:ext cx="431428" cy="575117"/>
              <a:chOff x="2887410" y="414748"/>
              <a:chExt cx="431428" cy="575117"/>
            </a:xfrm>
          </p:grpSpPr>
          <p:sp>
            <p:nvSpPr>
              <p:cNvPr id="4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Oval 4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9" name="Group 28"/>
            <p:cNvGrpSpPr/>
            <p:nvPr/>
          </p:nvGrpSpPr>
          <p:grpSpPr>
            <a:xfrm>
              <a:off x="1890068" y="1737899"/>
              <a:ext cx="431428" cy="575117"/>
              <a:chOff x="2887410" y="414748"/>
              <a:chExt cx="431428" cy="575117"/>
            </a:xfrm>
          </p:grpSpPr>
          <p:sp>
            <p:nvSpPr>
              <p:cNvPr id="42"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Oval 42"/>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0" name="Group 29"/>
            <p:cNvGrpSpPr/>
            <p:nvPr/>
          </p:nvGrpSpPr>
          <p:grpSpPr>
            <a:xfrm>
              <a:off x="2825242" y="2584419"/>
              <a:ext cx="431428" cy="575117"/>
              <a:chOff x="2887410" y="414748"/>
              <a:chExt cx="431428" cy="575117"/>
            </a:xfrm>
          </p:grpSpPr>
          <p:sp>
            <p:nvSpPr>
              <p:cNvPr id="40"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Oval 40"/>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1" name="Group 30"/>
            <p:cNvGrpSpPr/>
            <p:nvPr/>
          </p:nvGrpSpPr>
          <p:grpSpPr>
            <a:xfrm>
              <a:off x="2343351" y="2871977"/>
              <a:ext cx="431428" cy="575117"/>
              <a:chOff x="2887410" y="414748"/>
              <a:chExt cx="431428" cy="575117"/>
            </a:xfrm>
          </p:grpSpPr>
          <p:sp>
            <p:nvSpPr>
              <p:cNvPr id="38"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Oval 38"/>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2" name="Group 31"/>
            <p:cNvGrpSpPr/>
            <p:nvPr/>
          </p:nvGrpSpPr>
          <p:grpSpPr>
            <a:xfrm>
              <a:off x="1815829" y="2440876"/>
              <a:ext cx="431428" cy="575117"/>
              <a:chOff x="2887410" y="414748"/>
              <a:chExt cx="431428" cy="575117"/>
            </a:xfrm>
          </p:grpSpPr>
          <p:sp>
            <p:nvSpPr>
              <p:cNvPr id="36"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Oval 36"/>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3" name="Group 32"/>
            <p:cNvGrpSpPr/>
            <p:nvPr/>
          </p:nvGrpSpPr>
          <p:grpSpPr>
            <a:xfrm>
              <a:off x="2434983" y="1261360"/>
              <a:ext cx="431428" cy="575117"/>
              <a:chOff x="2887410" y="414748"/>
              <a:chExt cx="431428" cy="575117"/>
            </a:xfrm>
          </p:grpSpPr>
          <p:sp>
            <p:nvSpPr>
              <p:cNvPr id="3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Oval 3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48" name="Rectangle 47"/>
          <p:cNvSpPr/>
          <p:nvPr/>
        </p:nvSpPr>
        <p:spPr>
          <a:xfrm>
            <a:off x="153579" y="272003"/>
            <a:ext cx="11707244" cy="584775"/>
          </a:xfrm>
          <a:prstGeom prst="rect">
            <a:avLst/>
          </a:prstGeom>
        </p:spPr>
        <p:txBody>
          <a:bodyPr wrap="square">
            <a:spAutoFit/>
          </a:bodyPr>
          <a:lstStyle/>
          <a:p>
            <a:r>
              <a:rPr lang="en-GB" sz="3200" dirty="0" smtClean="0"/>
              <a:t>In RCTs, we </a:t>
            </a:r>
            <a:r>
              <a:rPr lang="en-GB" sz="3200" b="1" dirty="0" smtClean="0"/>
              <a:t>randomly</a:t>
            </a:r>
            <a:r>
              <a:rPr lang="en-GB" sz="3200" dirty="0" smtClean="0"/>
              <a:t> allocate to groups</a:t>
            </a:r>
            <a:endParaRPr lang="en-GB" sz="3200" dirty="0"/>
          </a:p>
        </p:txBody>
      </p:sp>
      <p:sp>
        <p:nvSpPr>
          <p:cNvPr id="49" name="TextBox 48"/>
          <p:cNvSpPr txBox="1"/>
          <p:nvPr/>
        </p:nvSpPr>
        <p:spPr>
          <a:xfrm>
            <a:off x="2715849" y="1491402"/>
            <a:ext cx="1791384" cy="523220"/>
          </a:xfrm>
          <a:prstGeom prst="rect">
            <a:avLst/>
          </a:prstGeom>
          <a:noFill/>
        </p:spPr>
        <p:txBody>
          <a:bodyPr wrap="square" rtlCol="0">
            <a:spAutoFit/>
          </a:bodyPr>
          <a:lstStyle/>
          <a:p>
            <a:pPr algn="ctr"/>
            <a:r>
              <a:rPr lang="en-GB" sz="2800" dirty="0" smtClean="0"/>
              <a:t>Group A</a:t>
            </a:r>
            <a:endParaRPr lang="en-GB" sz="2800" dirty="0"/>
          </a:p>
        </p:txBody>
      </p:sp>
      <p:sp>
        <p:nvSpPr>
          <p:cNvPr id="50" name="Rectangle 49"/>
          <p:cNvSpPr/>
          <p:nvPr/>
        </p:nvSpPr>
        <p:spPr>
          <a:xfrm>
            <a:off x="7816846" y="1495318"/>
            <a:ext cx="1443730" cy="523220"/>
          </a:xfrm>
          <a:prstGeom prst="rect">
            <a:avLst/>
          </a:prstGeom>
        </p:spPr>
        <p:txBody>
          <a:bodyPr wrap="none">
            <a:spAutoFit/>
          </a:bodyPr>
          <a:lstStyle/>
          <a:p>
            <a:pPr algn="ctr"/>
            <a:r>
              <a:rPr lang="en-GB" sz="2800" dirty="0"/>
              <a:t>Group </a:t>
            </a:r>
            <a:r>
              <a:rPr lang="en-GB" sz="2800" dirty="0" smtClean="0"/>
              <a:t>B</a:t>
            </a:r>
            <a:endParaRPr lang="en-GB" sz="2800" dirty="0"/>
          </a:p>
        </p:txBody>
      </p:sp>
      <p:sp>
        <p:nvSpPr>
          <p:cNvPr id="81" name="Down Arrow 80"/>
          <p:cNvSpPr/>
          <p:nvPr/>
        </p:nvSpPr>
        <p:spPr>
          <a:xfrm>
            <a:off x="3402417" y="4520959"/>
            <a:ext cx="317941" cy="554182"/>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Down Arrow 81"/>
          <p:cNvSpPr/>
          <p:nvPr/>
        </p:nvSpPr>
        <p:spPr>
          <a:xfrm>
            <a:off x="8236034" y="4490537"/>
            <a:ext cx="317941" cy="554182"/>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Oval 4"/>
          <p:cNvSpPr/>
          <p:nvPr/>
        </p:nvSpPr>
        <p:spPr>
          <a:xfrm>
            <a:off x="3561388" y="5410552"/>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Oval 83"/>
          <p:cNvSpPr/>
          <p:nvPr/>
        </p:nvSpPr>
        <p:spPr>
          <a:xfrm>
            <a:off x="3633396"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Oval 84"/>
          <p:cNvSpPr/>
          <p:nvPr/>
        </p:nvSpPr>
        <p:spPr>
          <a:xfrm>
            <a:off x="3012653"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Oval 4"/>
          <p:cNvSpPr/>
          <p:nvPr/>
        </p:nvSpPr>
        <p:spPr>
          <a:xfrm>
            <a:off x="2950250" y="5410551"/>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9" name="Group 88"/>
          <p:cNvGrpSpPr/>
          <p:nvPr/>
        </p:nvGrpSpPr>
        <p:grpSpPr>
          <a:xfrm>
            <a:off x="4147524" y="5122520"/>
            <a:ext cx="431428" cy="578897"/>
            <a:chOff x="4147524" y="5122520"/>
            <a:chExt cx="431428" cy="578897"/>
          </a:xfrm>
        </p:grpSpPr>
        <p:sp>
          <p:nvSpPr>
            <p:cNvPr id="87"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Oval 87"/>
            <p:cNvSpPr/>
            <p:nvPr/>
          </p:nvSpPr>
          <p:spPr>
            <a:xfrm>
              <a:off x="4219821"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0" name="Group 89"/>
          <p:cNvGrpSpPr/>
          <p:nvPr/>
        </p:nvGrpSpPr>
        <p:grpSpPr>
          <a:xfrm>
            <a:off x="4347483" y="5454891"/>
            <a:ext cx="272076" cy="376882"/>
            <a:chOff x="4147524" y="5122520"/>
            <a:chExt cx="431428" cy="578897"/>
          </a:xfrm>
          <a:solidFill>
            <a:schemeClr val="bg1">
              <a:lumMod val="95000"/>
            </a:schemeClr>
          </a:solidFill>
        </p:grpSpPr>
        <p:sp>
          <p:nvSpPr>
            <p:cNvPr id="91"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Oval 91"/>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3" name="Group 92"/>
          <p:cNvGrpSpPr/>
          <p:nvPr/>
        </p:nvGrpSpPr>
        <p:grpSpPr>
          <a:xfrm>
            <a:off x="3731422" y="5455814"/>
            <a:ext cx="272076" cy="376882"/>
            <a:chOff x="4147524" y="5122520"/>
            <a:chExt cx="431428" cy="578897"/>
          </a:xfrm>
          <a:solidFill>
            <a:schemeClr val="bg1">
              <a:lumMod val="95000"/>
            </a:schemeClr>
          </a:solidFill>
        </p:grpSpPr>
        <p:sp>
          <p:nvSpPr>
            <p:cNvPr id="94"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Oval 94"/>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6" name="Group 95"/>
          <p:cNvGrpSpPr/>
          <p:nvPr/>
        </p:nvGrpSpPr>
        <p:grpSpPr>
          <a:xfrm>
            <a:off x="3115361" y="5455814"/>
            <a:ext cx="272076" cy="376882"/>
            <a:chOff x="4147524" y="5122520"/>
            <a:chExt cx="431428" cy="578897"/>
          </a:xfrm>
          <a:solidFill>
            <a:schemeClr val="bg1">
              <a:lumMod val="95000"/>
            </a:schemeClr>
          </a:solidFill>
        </p:grpSpPr>
        <p:sp>
          <p:nvSpPr>
            <p:cNvPr id="97"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Oval 97"/>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9" name="Group 98"/>
          <p:cNvGrpSpPr/>
          <p:nvPr/>
        </p:nvGrpSpPr>
        <p:grpSpPr>
          <a:xfrm>
            <a:off x="8204468" y="5121101"/>
            <a:ext cx="431428" cy="578897"/>
            <a:chOff x="4147524" y="5122520"/>
            <a:chExt cx="431428" cy="578897"/>
          </a:xfrm>
        </p:grpSpPr>
        <p:sp>
          <p:nvSpPr>
            <p:cNvPr id="100"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Oval 100"/>
            <p:cNvSpPr/>
            <p:nvPr/>
          </p:nvSpPr>
          <p:spPr>
            <a:xfrm>
              <a:off x="4219821"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2" name="Group 101"/>
          <p:cNvGrpSpPr/>
          <p:nvPr/>
        </p:nvGrpSpPr>
        <p:grpSpPr>
          <a:xfrm>
            <a:off x="8402673" y="5453968"/>
            <a:ext cx="272076" cy="376882"/>
            <a:chOff x="4147524" y="5122520"/>
            <a:chExt cx="431428" cy="578897"/>
          </a:xfrm>
          <a:solidFill>
            <a:schemeClr val="bg1">
              <a:lumMod val="95000"/>
            </a:schemeClr>
          </a:solidFill>
        </p:grpSpPr>
        <p:sp>
          <p:nvSpPr>
            <p:cNvPr id="103"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Oval 103"/>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Oval 1"/>
          <p:cNvSpPr/>
          <p:nvPr/>
        </p:nvSpPr>
        <p:spPr>
          <a:xfrm>
            <a:off x="5320145" y="914400"/>
            <a:ext cx="1690255" cy="1453572"/>
          </a:xfrm>
          <a:prstGeom prst="ellipse">
            <a:avLst/>
          </a:prstGeom>
          <a:solidFill>
            <a:schemeClr val="bg1"/>
          </a:solidFill>
          <a:ln w="444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p:cNvSpPr txBox="1"/>
          <p:nvPr/>
        </p:nvSpPr>
        <p:spPr>
          <a:xfrm>
            <a:off x="5875769" y="1120988"/>
            <a:ext cx="1025236" cy="1015663"/>
          </a:xfrm>
          <a:prstGeom prst="rect">
            <a:avLst/>
          </a:prstGeom>
          <a:noFill/>
        </p:spPr>
        <p:txBody>
          <a:bodyPr wrap="square" rtlCol="0">
            <a:spAutoFit/>
          </a:bodyPr>
          <a:lstStyle/>
          <a:p>
            <a:r>
              <a:rPr lang="en-GB" sz="6000" dirty="0" smtClean="0"/>
              <a:t>R</a:t>
            </a:r>
            <a:endParaRPr lang="en-GB" sz="6000" dirty="0"/>
          </a:p>
        </p:txBody>
      </p:sp>
      <p:cxnSp>
        <p:nvCxnSpPr>
          <p:cNvPr id="52" name="Straight Arrow Connector 51"/>
          <p:cNvCxnSpPr>
            <a:stCxn id="2" idx="2"/>
          </p:cNvCxnSpPr>
          <p:nvPr/>
        </p:nvCxnSpPr>
        <p:spPr>
          <a:xfrm flipH="1">
            <a:off x="4483521" y="1641186"/>
            <a:ext cx="836624" cy="495465"/>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2" idx="6"/>
          </p:cNvCxnSpPr>
          <p:nvPr/>
        </p:nvCxnSpPr>
        <p:spPr>
          <a:xfrm>
            <a:off x="7010400" y="1641186"/>
            <a:ext cx="621745" cy="586552"/>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471365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Rectangle 127"/>
          <p:cNvSpPr/>
          <p:nvPr/>
        </p:nvSpPr>
        <p:spPr>
          <a:xfrm>
            <a:off x="406260" y="1580986"/>
            <a:ext cx="10852727" cy="6858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5" name="Group 24"/>
          <p:cNvGrpSpPr/>
          <p:nvPr/>
        </p:nvGrpSpPr>
        <p:grpSpPr>
          <a:xfrm>
            <a:off x="2818152" y="2176341"/>
            <a:ext cx="1584547" cy="2185734"/>
            <a:chOff x="1815829" y="1261360"/>
            <a:chExt cx="1584547" cy="2185734"/>
          </a:xfrm>
        </p:grpSpPr>
        <p:grpSp>
          <p:nvGrpSpPr>
            <p:cNvPr id="6" name="Group 5"/>
            <p:cNvGrpSpPr/>
            <p:nvPr/>
          </p:nvGrpSpPr>
          <p:grpSpPr>
            <a:xfrm>
              <a:off x="2393504" y="2009302"/>
              <a:ext cx="431428" cy="575117"/>
              <a:chOff x="2887410" y="414748"/>
              <a:chExt cx="431428" cy="575117"/>
            </a:xfrm>
          </p:grpSpPr>
          <p:sp>
            <p:nvSpPr>
              <p:cNvPr id="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 name="Group 6"/>
            <p:cNvGrpSpPr/>
            <p:nvPr/>
          </p:nvGrpSpPr>
          <p:grpSpPr>
            <a:xfrm>
              <a:off x="2968948" y="1718435"/>
              <a:ext cx="431428" cy="575117"/>
              <a:chOff x="2887410" y="414748"/>
              <a:chExt cx="431428" cy="575117"/>
            </a:xfrm>
          </p:grpSpPr>
          <p:sp>
            <p:nvSpPr>
              <p:cNvPr id="8"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 name="Group 9"/>
            <p:cNvGrpSpPr/>
            <p:nvPr/>
          </p:nvGrpSpPr>
          <p:grpSpPr>
            <a:xfrm>
              <a:off x="1890068" y="1737899"/>
              <a:ext cx="431428" cy="575117"/>
              <a:chOff x="2887410" y="414748"/>
              <a:chExt cx="431428" cy="575117"/>
            </a:xfrm>
          </p:grpSpPr>
          <p:sp>
            <p:nvSpPr>
              <p:cNvPr id="1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 name="Group 12"/>
            <p:cNvGrpSpPr/>
            <p:nvPr/>
          </p:nvGrpSpPr>
          <p:grpSpPr>
            <a:xfrm>
              <a:off x="2825242" y="2584419"/>
              <a:ext cx="431428" cy="575117"/>
              <a:chOff x="2887410" y="414748"/>
              <a:chExt cx="431428" cy="575117"/>
            </a:xfrm>
          </p:grpSpPr>
          <p:sp>
            <p:nvSpPr>
              <p:cNvPr id="1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6" name="Group 15"/>
            <p:cNvGrpSpPr/>
            <p:nvPr/>
          </p:nvGrpSpPr>
          <p:grpSpPr>
            <a:xfrm>
              <a:off x="2343351" y="2871977"/>
              <a:ext cx="431428" cy="575117"/>
              <a:chOff x="2887410" y="414748"/>
              <a:chExt cx="431428" cy="575117"/>
            </a:xfrm>
          </p:grpSpPr>
          <p:sp>
            <p:nvSpPr>
              <p:cNvPr id="1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 name="Group 18"/>
            <p:cNvGrpSpPr/>
            <p:nvPr/>
          </p:nvGrpSpPr>
          <p:grpSpPr>
            <a:xfrm>
              <a:off x="1815829" y="2440876"/>
              <a:ext cx="431428" cy="575117"/>
              <a:chOff x="2887410" y="414748"/>
              <a:chExt cx="431428" cy="575117"/>
            </a:xfrm>
          </p:grpSpPr>
          <p:sp>
            <p:nvSpPr>
              <p:cNvPr id="20"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 name="Group 21"/>
            <p:cNvGrpSpPr/>
            <p:nvPr/>
          </p:nvGrpSpPr>
          <p:grpSpPr>
            <a:xfrm>
              <a:off x="2434983" y="1261360"/>
              <a:ext cx="431428" cy="575117"/>
              <a:chOff x="2887410" y="414748"/>
              <a:chExt cx="431428" cy="575117"/>
            </a:xfrm>
          </p:grpSpPr>
          <p:sp>
            <p:nvSpPr>
              <p:cNvPr id="2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6" name="Group 25"/>
          <p:cNvGrpSpPr/>
          <p:nvPr/>
        </p:nvGrpSpPr>
        <p:grpSpPr>
          <a:xfrm>
            <a:off x="7560137" y="2083722"/>
            <a:ext cx="1584547" cy="2185734"/>
            <a:chOff x="1815829" y="1261360"/>
            <a:chExt cx="1584547" cy="2185734"/>
          </a:xfrm>
        </p:grpSpPr>
        <p:grpSp>
          <p:nvGrpSpPr>
            <p:cNvPr id="27" name="Group 26"/>
            <p:cNvGrpSpPr/>
            <p:nvPr/>
          </p:nvGrpSpPr>
          <p:grpSpPr>
            <a:xfrm>
              <a:off x="2393504" y="2009302"/>
              <a:ext cx="431428" cy="575117"/>
              <a:chOff x="2887410" y="414748"/>
              <a:chExt cx="431428" cy="575117"/>
            </a:xfrm>
          </p:grpSpPr>
          <p:sp>
            <p:nvSpPr>
              <p:cNvPr id="46"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Oval 46"/>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8" name="Group 27"/>
            <p:cNvGrpSpPr/>
            <p:nvPr/>
          </p:nvGrpSpPr>
          <p:grpSpPr>
            <a:xfrm>
              <a:off x="2968948" y="1718435"/>
              <a:ext cx="431428" cy="575117"/>
              <a:chOff x="2887410" y="414748"/>
              <a:chExt cx="431428" cy="575117"/>
            </a:xfrm>
          </p:grpSpPr>
          <p:sp>
            <p:nvSpPr>
              <p:cNvPr id="4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Oval 4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9" name="Group 28"/>
            <p:cNvGrpSpPr/>
            <p:nvPr/>
          </p:nvGrpSpPr>
          <p:grpSpPr>
            <a:xfrm>
              <a:off x="1890068" y="1737899"/>
              <a:ext cx="431428" cy="575117"/>
              <a:chOff x="2887410" y="414748"/>
              <a:chExt cx="431428" cy="575117"/>
            </a:xfrm>
          </p:grpSpPr>
          <p:sp>
            <p:nvSpPr>
              <p:cNvPr id="42"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Oval 42"/>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0" name="Group 29"/>
            <p:cNvGrpSpPr/>
            <p:nvPr/>
          </p:nvGrpSpPr>
          <p:grpSpPr>
            <a:xfrm>
              <a:off x="2825242" y="2584419"/>
              <a:ext cx="431428" cy="575117"/>
              <a:chOff x="2887410" y="414748"/>
              <a:chExt cx="431428" cy="575117"/>
            </a:xfrm>
          </p:grpSpPr>
          <p:sp>
            <p:nvSpPr>
              <p:cNvPr id="40"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Oval 40"/>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1" name="Group 30"/>
            <p:cNvGrpSpPr/>
            <p:nvPr/>
          </p:nvGrpSpPr>
          <p:grpSpPr>
            <a:xfrm>
              <a:off x="2343351" y="2871977"/>
              <a:ext cx="431428" cy="575117"/>
              <a:chOff x="2887410" y="414748"/>
              <a:chExt cx="431428" cy="575117"/>
            </a:xfrm>
          </p:grpSpPr>
          <p:sp>
            <p:nvSpPr>
              <p:cNvPr id="38"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Oval 38"/>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2" name="Group 31"/>
            <p:cNvGrpSpPr/>
            <p:nvPr/>
          </p:nvGrpSpPr>
          <p:grpSpPr>
            <a:xfrm>
              <a:off x="1815829" y="2440876"/>
              <a:ext cx="431428" cy="575117"/>
              <a:chOff x="2887410" y="414748"/>
              <a:chExt cx="431428" cy="575117"/>
            </a:xfrm>
          </p:grpSpPr>
          <p:sp>
            <p:nvSpPr>
              <p:cNvPr id="36"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Oval 36"/>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3" name="Group 32"/>
            <p:cNvGrpSpPr/>
            <p:nvPr/>
          </p:nvGrpSpPr>
          <p:grpSpPr>
            <a:xfrm>
              <a:off x="2434983" y="1261360"/>
              <a:ext cx="431428" cy="575117"/>
              <a:chOff x="2887410" y="414748"/>
              <a:chExt cx="431428" cy="575117"/>
            </a:xfrm>
          </p:grpSpPr>
          <p:sp>
            <p:nvSpPr>
              <p:cNvPr id="3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Oval 3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48" name="Rectangle 47"/>
          <p:cNvSpPr/>
          <p:nvPr/>
        </p:nvSpPr>
        <p:spPr>
          <a:xfrm>
            <a:off x="149819" y="334454"/>
            <a:ext cx="11707244" cy="584775"/>
          </a:xfrm>
          <a:prstGeom prst="rect">
            <a:avLst/>
          </a:prstGeom>
        </p:spPr>
        <p:txBody>
          <a:bodyPr wrap="square">
            <a:spAutoFit/>
          </a:bodyPr>
          <a:lstStyle/>
          <a:p>
            <a:r>
              <a:rPr lang="en-GB" sz="3200" dirty="0" smtClean="0"/>
              <a:t>In RCTs, we </a:t>
            </a:r>
            <a:r>
              <a:rPr lang="en-GB" sz="3200" b="1" dirty="0" smtClean="0"/>
              <a:t>randomly</a:t>
            </a:r>
            <a:r>
              <a:rPr lang="en-GB" sz="3200" dirty="0" smtClean="0"/>
              <a:t> allocate to groups</a:t>
            </a:r>
            <a:endParaRPr lang="en-GB" sz="3200" dirty="0"/>
          </a:p>
        </p:txBody>
      </p:sp>
      <p:sp>
        <p:nvSpPr>
          <p:cNvPr id="49" name="TextBox 48"/>
          <p:cNvSpPr txBox="1"/>
          <p:nvPr/>
        </p:nvSpPr>
        <p:spPr>
          <a:xfrm>
            <a:off x="2715849" y="1491402"/>
            <a:ext cx="1791384" cy="523220"/>
          </a:xfrm>
          <a:prstGeom prst="rect">
            <a:avLst/>
          </a:prstGeom>
          <a:noFill/>
        </p:spPr>
        <p:txBody>
          <a:bodyPr wrap="square" rtlCol="0">
            <a:spAutoFit/>
          </a:bodyPr>
          <a:lstStyle/>
          <a:p>
            <a:pPr algn="ctr"/>
            <a:r>
              <a:rPr lang="en-GB" sz="2800" dirty="0" smtClean="0"/>
              <a:t>Group A</a:t>
            </a:r>
            <a:endParaRPr lang="en-GB" sz="2800" dirty="0"/>
          </a:p>
        </p:txBody>
      </p:sp>
      <p:sp>
        <p:nvSpPr>
          <p:cNvPr id="50" name="Rectangle 49"/>
          <p:cNvSpPr/>
          <p:nvPr/>
        </p:nvSpPr>
        <p:spPr>
          <a:xfrm>
            <a:off x="7816846" y="1495318"/>
            <a:ext cx="1443730" cy="523220"/>
          </a:xfrm>
          <a:prstGeom prst="rect">
            <a:avLst/>
          </a:prstGeom>
        </p:spPr>
        <p:txBody>
          <a:bodyPr wrap="none">
            <a:spAutoFit/>
          </a:bodyPr>
          <a:lstStyle/>
          <a:p>
            <a:pPr algn="ctr"/>
            <a:r>
              <a:rPr lang="en-GB" sz="2800" dirty="0"/>
              <a:t>Group </a:t>
            </a:r>
            <a:r>
              <a:rPr lang="en-GB" sz="2800" dirty="0" smtClean="0"/>
              <a:t>B</a:t>
            </a:r>
            <a:endParaRPr lang="en-GB" sz="2800" dirty="0"/>
          </a:p>
        </p:txBody>
      </p:sp>
      <p:sp>
        <p:nvSpPr>
          <p:cNvPr id="81" name="Down Arrow 80"/>
          <p:cNvSpPr/>
          <p:nvPr/>
        </p:nvSpPr>
        <p:spPr>
          <a:xfrm>
            <a:off x="3402417" y="4520959"/>
            <a:ext cx="317941" cy="554182"/>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Down Arrow 81"/>
          <p:cNvSpPr/>
          <p:nvPr/>
        </p:nvSpPr>
        <p:spPr>
          <a:xfrm>
            <a:off x="8236034" y="4490537"/>
            <a:ext cx="317941" cy="554182"/>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Oval 4"/>
          <p:cNvSpPr/>
          <p:nvPr/>
        </p:nvSpPr>
        <p:spPr>
          <a:xfrm>
            <a:off x="3561388" y="5410552"/>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Oval 83"/>
          <p:cNvSpPr/>
          <p:nvPr/>
        </p:nvSpPr>
        <p:spPr>
          <a:xfrm>
            <a:off x="3633396"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Oval 84"/>
          <p:cNvSpPr/>
          <p:nvPr/>
        </p:nvSpPr>
        <p:spPr>
          <a:xfrm>
            <a:off x="3012653"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Oval 4"/>
          <p:cNvSpPr/>
          <p:nvPr/>
        </p:nvSpPr>
        <p:spPr>
          <a:xfrm>
            <a:off x="2950250" y="5410551"/>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9" name="Group 88"/>
          <p:cNvGrpSpPr/>
          <p:nvPr/>
        </p:nvGrpSpPr>
        <p:grpSpPr>
          <a:xfrm>
            <a:off x="4147524" y="5122520"/>
            <a:ext cx="431428" cy="578897"/>
            <a:chOff x="4147524" y="5122520"/>
            <a:chExt cx="431428" cy="578897"/>
          </a:xfrm>
        </p:grpSpPr>
        <p:sp>
          <p:nvSpPr>
            <p:cNvPr id="87"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Oval 87"/>
            <p:cNvSpPr/>
            <p:nvPr/>
          </p:nvSpPr>
          <p:spPr>
            <a:xfrm>
              <a:off x="4219821"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0" name="Group 89"/>
          <p:cNvGrpSpPr/>
          <p:nvPr/>
        </p:nvGrpSpPr>
        <p:grpSpPr>
          <a:xfrm>
            <a:off x="4347483" y="5454891"/>
            <a:ext cx="272076" cy="376882"/>
            <a:chOff x="4147524" y="5122520"/>
            <a:chExt cx="431428" cy="578897"/>
          </a:xfrm>
          <a:solidFill>
            <a:schemeClr val="bg1">
              <a:lumMod val="95000"/>
            </a:schemeClr>
          </a:solidFill>
        </p:grpSpPr>
        <p:sp>
          <p:nvSpPr>
            <p:cNvPr id="91"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Oval 91"/>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3" name="Group 92"/>
          <p:cNvGrpSpPr/>
          <p:nvPr/>
        </p:nvGrpSpPr>
        <p:grpSpPr>
          <a:xfrm>
            <a:off x="3731422" y="5455814"/>
            <a:ext cx="272076" cy="376882"/>
            <a:chOff x="4147524" y="5122520"/>
            <a:chExt cx="431428" cy="578897"/>
          </a:xfrm>
          <a:solidFill>
            <a:schemeClr val="bg1">
              <a:lumMod val="95000"/>
            </a:schemeClr>
          </a:solidFill>
        </p:grpSpPr>
        <p:sp>
          <p:nvSpPr>
            <p:cNvPr id="94"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Oval 94"/>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6" name="Group 95"/>
          <p:cNvGrpSpPr/>
          <p:nvPr/>
        </p:nvGrpSpPr>
        <p:grpSpPr>
          <a:xfrm>
            <a:off x="3115361" y="5455814"/>
            <a:ext cx="272076" cy="376882"/>
            <a:chOff x="4147524" y="5122520"/>
            <a:chExt cx="431428" cy="578897"/>
          </a:xfrm>
          <a:solidFill>
            <a:schemeClr val="bg1">
              <a:lumMod val="95000"/>
            </a:schemeClr>
          </a:solidFill>
        </p:grpSpPr>
        <p:sp>
          <p:nvSpPr>
            <p:cNvPr id="97"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Oval 97"/>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9" name="Group 98"/>
          <p:cNvGrpSpPr/>
          <p:nvPr/>
        </p:nvGrpSpPr>
        <p:grpSpPr>
          <a:xfrm>
            <a:off x="8204468" y="5121101"/>
            <a:ext cx="431428" cy="578897"/>
            <a:chOff x="4147524" y="5122520"/>
            <a:chExt cx="431428" cy="578897"/>
          </a:xfrm>
        </p:grpSpPr>
        <p:sp>
          <p:nvSpPr>
            <p:cNvPr id="100"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Oval 100"/>
            <p:cNvSpPr/>
            <p:nvPr/>
          </p:nvSpPr>
          <p:spPr>
            <a:xfrm>
              <a:off x="4219821"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2" name="Group 101"/>
          <p:cNvGrpSpPr/>
          <p:nvPr/>
        </p:nvGrpSpPr>
        <p:grpSpPr>
          <a:xfrm>
            <a:off x="8402673" y="5453968"/>
            <a:ext cx="272076" cy="376882"/>
            <a:chOff x="4147524" y="5122520"/>
            <a:chExt cx="431428" cy="578897"/>
          </a:xfrm>
          <a:solidFill>
            <a:schemeClr val="bg1">
              <a:lumMod val="95000"/>
            </a:schemeClr>
          </a:solidFill>
        </p:grpSpPr>
        <p:sp>
          <p:nvSpPr>
            <p:cNvPr id="103"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Oval 103"/>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Oval 1"/>
          <p:cNvSpPr/>
          <p:nvPr/>
        </p:nvSpPr>
        <p:spPr>
          <a:xfrm>
            <a:off x="5320145" y="914400"/>
            <a:ext cx="1690255" cy="1453572"/>
          </a:xfrm>
          <a:prstGeom prst="ellipse">
            <a:avLst/>
          </a:prstGeom>
          <a:solidFill>
            <a:schemeClr val="bg1"/>
          </a:solidFill>
          <a:ln w="444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p:cNvSpPr txBox="1"/>
          <p:nvPr/>
        </p:nvSpPr>
        <p:spPr>
          <a:xfrm>
            <a:off x="5875769" y="1120988"/>
            <a:ext cx="1025236" cy="1015663"/>
          </a:xfrm>
          <a:prstGeom prst="rect">
            <a:avLst/>
          </a:prstGeom>
          <a:noFill/>
        </p:spPr>
        <p:txBody>
          <a:bodyPr wrap="square" rtlCol="0">
            <a:spAutoFit/>
          </a:bodyPr>
          <a:lstStyle/>
          <a:p>
            <a:r>
              <a:rPr lang="en-GB" sz="6000" dirty="0" smtClean="0"/>
              <a:t>R</a:t>
            </a:r>
            <a:endParaRPr lang="en-GB" sz="6000" dirty="0"/>
          </a:p>
        </p:txBody>
      </p:sp>
      <p:cxnSp>
        <p:nvCxnSpPr>
          <p:cNvPr id="52" name="Straight Arrow Connector 51"/>
          <p:cNvCxnSpPr>
            <a:stCxn id="2" idx="2"/>
          </p:cNvCxnSpPr>
          <p:nvPr/>
        </p:nvCxnSpPr>
        <p:spPr>
          <a:xfrm flipH="1">
            <a:off x="4483521" y="1641186"/>
            <a:ext cx="836624" cy="495465"/>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2" idx="6"/>
          </p:cNvCxnSpPr>
          <p:nvPr/>
        </p:nvCxnSpPr>
        <p:spPr>
          <a:xfrm>
            <a:off x="7010400" y="1641186"/>
            <a:ext cx="621745" cy="586552"/>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Rectangle 77"/>
          <p:cNvSpPr/>
          <p:nvPr/>
        </p:nvSpPr>
        <p:spPr>
          <a:xfrm>
            <a:off x="163317" y="1491402"/>
            <a:ext cx="2470302" cy="3063734"/>
          </a:xfrm>
          <a:prstGeom prst="rect">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9" name="Group 78"/>
          <p:cNvGrpSpPr/>
          <p:nvPr/>
        </p:nvGrpSpPr>
        <p:grpSpPr>
          <a:xfrm>
            <a:off x="121328" y="1521165"/>
            <a:ext cx="2386864" cy="2757880"/>
            <a:chOff x="0" y="1417956"/>
            <a:chExt cx="2386864" cy="2757880"/>
          </a:xfrm>
        </p:grpSpPr>
        <p:sp>
          <p:nvSpPr>
            <p:cNvPr id="80" name="Rectangle 79"/>
            <p:cNvSpPr/>
            <p:nvPr/>
          </p:nvSpPr>
          <p:spPr>
            <a:xfrm>
              <a:off x="0" y="2498554"/>
              <a:ext cx="2282997" cy="369332"/>
            </a:xfrm>
            <a:prstGeom prst="rect">
              <a:avLst/>
            </a:prstGeom>
          </p:spPr>
          <p:txBody>
            <a:bodyPr wrap="none">
              <a:spAutoFit/>
            </a:bodyPr>
            <a:lstStyle/>
            <a:p>
              <a:r>
                <a:rPr lang="en-GB" dirty="0">
                  <a:solidFill>
                    <a:srgbClr val="00B0F0"/>
                  </a:solidFill>
                </a:rPr>
                <a:t>social economic status</a:t>
              </a:r>
            </a:p>
          </p:txBody>
        </p:sp>
        <p:grpSp>
          <p:nvGrpSpPr>
            <p:cNvPr id="105" name="Group 104"/>
            <p:cNvGrpSpPr/>
            <p:nvPr/>
          </p:nvGrpSpPr>
          <p:grpSpPr>
            <a:xfrm>
              <a:off x="157001" y="1417956"/>
              <a:ext cx="2229863" cy="2757880"/>
              <a:chOff x="218692" y="1313328"/>
              <a:chExt cx="2229863" cy="2757880"/>
            </a:xfrm>
          </p:grpSpPr>
          <p:grpSp>
            <p:nvGrpSpPr>
              <p:cNvPr id="106" name="Group 105"/>
              <p:cNvGrpSpPr/>
              <p:nvPr/>
            </p:nvGrpSpPr>
            <p:grpSpPr>
              <a:xfrm>
                <a:off x="218692" y="1858406"/>
                <a:ext cx="2229863" cy="2212802"/>
                <a:chOff x="218692" y="1858406"/>
                <a:chExt cx="2229863" cy="2212802"/>
              </a:xfrm>
            </p:grpSpPr>
            <p:sp>
              <p:nvSpPr>
                <p:cNvPr id="108" name="Rectangle 107"/>
                <p:cNvSpPr/>
                <p:nvPr/>
              </p:nvSpPr>
              <p:spPr>
                <a:xfrm>
                  <a:off x="218692" y="1858406"/>
                  <a:ext cx="2126672" cy="369332"/>
                </a:xfrm>
                <a:prstGeom prst="rect">
                  <a:avLst/>
                </a:prstGeom>
              </p:spPr>
              <p:txBody>
                <a:bodyPr wrap="none">
                  <a:spAutoFit/>
                </a:bodyPr>
                <a:lstStyle/>
                <a:p>
                  <a:r>
                    <a:rPr lang="en-GB" dirty="0"/>
                    <a:t>duration of infertility</a:t>
                  </a:r>
                </a:p>
              </p:txBody>
            </p:sp>
            <p:sp>
              <p:nvSpPr>
                <p:cNvPr id="109" name="Rectangle 108"/>
                <p:cNvSpPr/>
                <p:nvPr/>
              </p:nvSpPr>
              <p:spPr>
                <a:xfrm>
                  <a:off x="1887022" y="2752464"/>
                  <a:ext cx="551754" cy="369332"/>
                </a:xfrm>
                <a:prstGeom prst="rect">
                  <a:avLst/>
                </a:prstGeom>
              </p:spPr>
              <p:txBody>
                <a:bodyPr wrap="none">
                  <a:spAutoFit/>
                </a:bodyPr>
                <a:lstStyle/>
                <a:p>
                  <a:r>
                    <a:rPr lang="en-GB" dirty="0" smtClean="0"/>
                    <a:t>BMI</a:t>
                  </a:r>
                  <a:endParaRPr lang="en-GB" dirty="0"/>
                </a:p>
              </p:txBody>
            </p:sp>
            <p:sp>
              <p:nvSpPr>
                <p:cNvPr id="110" name="Rectangle 109"/>
                <p:cNvSpPr/>
                <p:nvPr/>
              </p:nvSpPr>
              <p:spPr>
                <a:xfrm>
                  <a:off x="1074550" y="3222115"/>
                  <a:ext cx="663964" cy="523220"/>
                </a:xfrm>
                <a:prstGeom prst="rect">
                  <a:avLst/>
                </a:prstGeom>
              </p:spPr>
              <p:txBody>
                <a:bodyPr wrap="none">
                  <a:spAutoFit/>
                </a:bodyPr>
                <a:lstStyle/>
                <a:p>
                  <a:r>
                    <a:rPr lang="en-GB" sz="2800" dirty="0"/>
                    <a:t>age</a:t>
                  </a:r>
                </a:p>
              </p:txBody>
            </p:sp>
            <p:sp>
              <p:nvSpPr>
                <p:cNvPr id="111" name="Rectangle 110"/>
                <p:cNvSpPr/>
                <p:nvPr/>
              </p:nvSpPr>
              <p:spPr>
                <a:xfrm>
                  <a:off x="234253" y="3701876"/>
                  <a:ext cx="1460849" cy="369332"/>
                </a:xfrm>
                <a:prstGeom prst="rect">
                  <a:avLst/>
                </a:prstGeom>
              </p:spPr>
              <p:txBody>
                <a:bodyPr wrap="none">
                  <a:spAutoFit/>
                </a:bodyPr>
                <a:lstStyle/>
                <a:p>
                  <a:r>
                    <a:rPr lang="en-GB" dirty="0">
                      <a:solidFill>
                        <a:srgbClr val="FF0000"/>
                      </a:solidFill>
                    </a:rPr>
                    <a:t>culture media</a:t>
                  </a:r>
                </a:p>
              </p:txBody>
            </p:sp>
            <p:sp>
              <p:nvSpPr>
                <p:cNvPr id="112" name="Rectangle 111"/>
                <p:cNvSpPr/>
                <p:nvPr/>
              </p:nvSpPr>
              <p:spPr>
                <a:xfrm>
                  <a:off x="2175723" y="2259424"/>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sp>
              <p:nvSpPr>
                <p:cNvPr id="113" name="Rectangle 112"/>
                <p:cNvSpPr/>
                <p:nvPr/>
              </p:nvSpPr>
              <p:spPr>
                <a:xfrm>
                  <a:off x="588247" y="2989944"/>
                  <a:ext cx="399468" cy="769441"/>
                </a:xfrm>
                <a:prstGeom prst="rect">
                  <a:avLst/>
                </a:prstGeom>
              </p:spPr>
              <p:txBody>
                <a:bodyPr wrap="none">
                  <a:spAutoFit/>
                </a:bodyPr>
                <a:lstStyle/>
                <a:p>
                  <a:r>
                    <a:rPr lang="en-GB" sz="4400" dirty="0">
                      <a:solidFill>
                        <a:schemeClr val="accent1">
                          <a:lumMod val="60000"/>
                          <a:lumOff val="40000"/>
                        </a:schemeClr>
                      </a:solidFill>
                      <a:latin typeface="Agency FB" panose="020B0503020202020204" pitchFamily="34" charset="0"/>
                    </a:rPr>
                    <a:t>?</a:t>
                  </a:r>
                </a:p>
              </p:txBody>
            </p:sp>
            <p:sp>
              <p:nvSpPr>
                <p:cNvPr id="114" name="Rectangle 113"/>
                <p:cNvSpPr/>
                <p:nvPr/>
              </p:nvSpPr>
              <p:spPr>
                <a:xfrm>
                  <a:off x="2072532" y="3270775"/>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grpSp>
          <p:sp>
            <p:nvSpPr>
              <p:cNvPr id="107" name="Rectangle 106"/>
              <p:cNvSpPr/>
              <p:nvPr/>
            </p:nvSpPr>
            <p:spPr>
              <a:xfrm>
                <a:off x="843348" y="1313328"/>
                <a:ext cx="420308" cy="830997"/>
              </a:xfrm>
              <a:prstGeom prst="rect">
                <a:avLst/>
              </a:prstGeom>
            </p:spPr>
            <p:txBody>
              <a:bodyPr wrap="none">
                <a:spAutoFit/>
              </a:bodyPr>
              <a:lstStyle/>
              <a:p>
                <a:r>
                  <a:rPr lang="en-GB" sz="4800" dirty="0">
                    <a:solidFill>
                      <a:schemeClr val="accent1">
                        <a:lumMod val="60000"/>
                        <a:lumOff val="40000"/>
                      </a:schemeClr>
                    </a:solidFill>
                    <a:latin typeface="Agency FB" panose="020B0503020202020204" pitchFamily="34" charset="0"/>
                  </a:rPr>
                  <a:t>?</a:t>
                </a:r>
              </a:p>
            </p:txBody>
          </p:sp>
        </p:grpSp>
      </p:grpSp>
      <p:sp>
        <p:nvSpPr>
          <p:cNvPr id="115" name="Rectangle 114"/>
          <p:cNvSpPr/>
          <p:nvPr/>
        </p:nvSpPr>
        <p:spPr>
          <a:xfrm>
            <a:off x="9455055" y="1421914"/>
            <a:ext cx="2470302" cy="3063734"/>
          </a:xfrm>
          <a:prstGeom prst="rect">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6" name="Group 115"/>
          <p:cNvGrpSpPr/>
          <p:nvPr/>
        </p:nvGrpSpPr>
        <p:grpSpPr>
          <a:xfrm>
            <a:off x="9413066" y="1451677"/>
            <a:ext cx="2386864" cy="2757880"/>
            <a:chOff x="0" y="1417956"/>
            <a:chExt cx="2386864" cy="2757880"/>
          </a:xfrm>
        </p:grpSpPr>
        <p:sp>
          <p:nvSpPr>
            <p:cNvPr id="117" name="Rectangle 116"/>
            <p:cNvSpPr/>
            <p:nvPr/>
          </p:nvSpPr>
          <p:spPr>
            <a:xfrm>
              <a:off x="0" y="2498554"/>
              <a:ext cx="2282997" cy="369332"/>
            </a:xfrm>
            <a:prstGeom prst="rect">
              <a:avLst/>
            </a:prstGeom>
          </p:spPr>
          <p:txBody>
            <a:bodyPr wrap="none">
              <a:spAutoFit/>
            </a:bodyPr>
            <a:lstStyle/>
            <a:p>
              <a:r>
                <a:rPr lang="en-GB" dirty="0">
                  <a:solidFill>
                    <a:srgbClr val="00B0F0"/>
                  </a:solidFill>
                </a:rPr>
                <a:t>social economic status</a:t>
              </a:r>
            </a:p>
          </p:txBody>
        </p:sp>
        <p:grpSp>
          <p:nvGrpSpPr>
            <p:cNvPr id="118" name="Group 117"/>
            <p:cNvGrpSpPr/>
            <p:nvPr/>
          </p:nvGrpSpPr>
          <p:grpSpPr>
            <a:xfrm>
              <a:off x="157001" y="1417956"/>
              <a:ext cx="2229863" cy="2757880"/>
              <a:chOff x="218692" y="1313328"/>
              <a:chExt cx="2229863" cy="2757880"/>
            </a:xfrm>
          </p:grpSpPr>
          <p:grpSp>
            <p:nvGrpSpPr>
              <p:cNvPr id="119" name="Group 118"/>
              <p:cNvGrpSpPr/>
              <p:nvPr/>
            </p:nvGrpSpPr>
            <p:grpSpPr>
              <a:xfrm>
                <a:off x="218692" y="1858406"/>
                <a:ext cx="2229863" cy="2212802"/>
                <a:chOff x="218692" y="1858406"/>
                <a:chExt cx="2229863" cy="2212802"/>
              </a:xfrm>
            </p:grpSpPr>
            <p:sp>
              <p:nvSpPr>
                <p:cNvPr id="121" name="Rectangle 120"/>
                <p:cNvSpPr/>
                <p:nvPr/>
              </p:nvSpPr>
              <p:spPr>
                <a:xfrm>
                  <a:off x="218692" y="1858406"/>
                  <a:ext cx="2126672" cy="369332"/>
                </a:xfrm>
                <a:prstGeom prst="rect">
                  <a:avLst/>
                </a:prstGeom>
              </p:spPr>
              <p:txBody>
                <a:bodyPr wrap="none">
                  <a:spAutoFit/>
                </a:bodyPr>
                <a:lstStyle/>
                <a:p>
                  <a:r>
                    <a:rPr lang="en-GB" dirty="0"/>
                    <a:t>duration of infertility</a:t>
                  </a:r>
                </a:p>
              </p:txBody>
            </p:sp>
            <p:sp>
              <p:nvSpPr>
                <p:cNvPr id="122" name="Rectangle 121"/>
                <p:cNvSpPr/>
                <p:nvPr/>
              </p:nvSpPr>
              <p:spPr>
                <a:xfrm>
                  <a:off x="1887022" y="2752464"/>
                  <a:ext cx="551754" cy="369332"/>
                </a:xfrm>
                <a:prstGeom prst="rect">
                  <a:avLst/>
                </a:prstGeom>
              </p:spPr>
              <p:txBody>
                <a:bodyPr wrap="none">
                  <a:spAutoFit/>
                </a:bodyPr>
                <a:lstStyle/>
                <a:p>
                  <a:r>
                    <a:rPr lang="en-GB" dirty="0" smtClean="0"/>
                    <a:t>BMI</a:t>
                  </a:r>
                  <a:endParaRPr lang="en-GB" dirty="0"/>
                </a:p>
              </p:txBody>
            </p:sp>
            <p:sp>
              <p:nvSpPr>
                <p:cNvPr id="123" name="Rectangle 122"/>
                <p:cNvSpPr/>
                <p:nvPr/>
              </p:nvSpPr>
              <p:spPr>
                <a:xfrm>
                  <a:off x="1074550" y="3222115"/>
                  <a:ext cx="663964" cy="523220"/>
                </a:xfrm>
                <a:prstGeom prst="rect">
                  <a:avLst/>
                </a:prstGeom>
              </p:spPr>
              <p:txBody>
                <a:bodyPr wrap="none">
                  <a:spAutoFit/>
                </a:bodyPr>
                <a:lstStyle/>
                <a:p>
                  <a:r>
                    <a:rPr lang="en-GB" sz="2800" dirty="0"/>
                    <a:t>age</a:t>
                  </a:r>
                </a:p>
              </p:txBody>
            </p:sp>
            <p:sp>
              <p:nvSpPr>
                <p:cNvPr id="124" name="Rectangle 123"/>
                <p:cNvSpPr/>
                <p:nvPr/>
              </p:nvSpPr>
              <p:spPr>
                <a:xfrm>
                  <a:off x="234253" y="3701876"/>
                  <a:ext cx="1460849" cy="369332"/>
                </a:xfrm>
                <a:prstGeom prst="rect">
                  <a:avLst/>
                </a:prstGeom>
              </p:spPr>
              <p:txBody>
                <a:bodyPr wrap="none">
                  <a:spAutoFit/>
                </a:bodyPr>
                <a:lstStyle/>
                <a:p>
                  <a:r>
                    <a:rPr lang="en-GB" dirty="0">
                      <a:solidFill>
                        <a:srgbClr val="FF0000"/>
                      </a:solidFill>
                    </a:rPr>
                    <a:t>culture media</a:t>
                  </a:r>
                </a:p>
              </p:txBody>
            </p:sp>
            <p:sp>
              <p:nvSpPr>
                <p:cNvPr id="125" name="Rectangle 124"/>
                <p:cNvSpPr/>
                <p:nvPr/>
              </p:nvSpPr>
              <p:spPr>
                <a:xfrm>
                  <a:off x="2175723" y="2259424"/>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sp>
              <p:nvSpPr>
                <p:cNvPr id="126" name="Rectangle 125"/>
                <p:cNvSpPr/>
                <p:nvPr/>
              </p:nvSpPr>
              <p:spPr>
                <a:xfrm>
                  <a:off x="588247" y="2989944"/>
                  <a:ext cx="399468" cy="769441"/>
                </a:xfrm>
                <a:prstGeom prst="rect">
                  <a:avLst/>
                </a:prstGeom>
              </p:spPr>
              <p:txBody>
                <a:bodyPr wrap="none">
                  <a:spAutoFit/>
                </a:bodyPr>
                <a:lstStyle/>
                <a:p>
                  <a:r>
                    <a:rPr lang="en-GB" sz="4400" dirty="0">
                      <a:solidFill>
                        <a:schemeClr val="accent1">
                          <a:lumMod val="60000"/>
                          <a:lumOff val="40000"/>
                        </a:schemeClr>
                      </a:solidFill>
                      <a:latin typeface="Agency FB" panose="020B0503020202020204" pitchFamily="34" charset="0"/>
                    </a:rPr>
                    <a:t>?</a:t>
                  </a:r>
                </a:p>
              </p:txBody>
            </p:sp>
            <p:sp>
              <p:nvSpPr>
                <p:cNvPr id="127" name="Rectangle 126"/>
                <p:cNvSpPr/>
                <p:nvPr/>
              </p:nvSpPr>
              <p:spPr>
                <a:xfrm>
                  <a:off x="2072532" y="3270775"/>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grpSp>
          <p:sp>
            <p:nvSpPr>
              <p:cNvPr id="120" name="Rectangle 119"/>
              <p:cNvSpPr/>
              <p:nvPr/>
            </p:nvSpPr>
            <p:spPr>
              <a:xfrm>
                <a:off x="843348" y="1313328"/>
                <a:ext cx="420308" cy="830997"/>
              </a:xfrm>
              <a:prstGeom prst="rect">
                <a:avLst/>
              </a:prstGeom>
            </p:spPr>
            <p:txBody>
              <a:bodyPr wrap="none">
                <a:spAutoFit/>
              </a:bodyPr>
              <a:lstStyle/>
              <a:p>
                <a:r>
                  <a:rPr lang="en-GB" sz="4800" dirty="0">
                    <a:solidFill>
                      <a:schemeClr val="accent1">
                        <a:lumMod val="60000"/>
                        <a:lumOff val="40000"/>
                      </a:schemeClr>
                    </a:solidFill>
                    <a:latin typeface="Agency FB" panose="020B0503020202020204" pitchFamily="34" charset="0"/>
                  </a:rPr>
                  <a:t>?</a:t>
                </a:r>
              </a:p>
            </p:txBody>
          </p:sp>
        </p:grpSp>
      </p:grpSp>
    </p:spTree>
    <p:extLst>
      <p:ext uri="{BB962C8B-B14F-4D97-AF65-F5344CB8AC3E}">
        <p14:creationId xmlns:p14="http://schemas.microsoft.com/office/powerpoint/2010/main" val="60493100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Rectangle 141"/>
          <p:cNvSpPr/>
          <p:nvPr/>
        </p:nvSpPr>
        <p:spPr>
          <a:xfrm>
            <a:off x="449405" y="1432657"/>
            <a:ext cx="10852727" cy="6858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5" name="Group 24"/>
          <p:cNvGrpSpPr/>
          <p:nvPr/>
        </p:nvGrpSpPr>
        <p:grpSpPr>
          <a:xfrm>
            <a:off x="2818152" y="2176341"/>
            <a:ext cx="1584547" cy="2185734"/>
            <a:chOff x="1815829" y="1261360"/>
            <a:chExt cx="1584547" cy="2185734"/>
          </a:xfrm>
        </p:grpSpPr>
        <p:grpSp>
          <p:nvGrpSpPr>
            <p:cNvPr id="6" name="Group 5"/>
            <p:cNvGrpSpPr/>
            <p:nvPr/>
          </p:nvGrpSpPr>
          <p:grpSpPr>
            <a:xfrm>
              <a:off x="2393504" y="2009302"/>
              <a:ext cx="431428" cy="575117"/>
              <a:chOff x="2887410" y="414748"/>
              <a:chExt cx="431428" cy="575117"/>
            </a:xfrm>
          </p:grpSpPr>
          <p:sp>
            <p:nvSpPr>
              <p:cNvPr id="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 name="Group 6"/>
            <p:cNvGrpSpPr/>
            <p:nvPr/>
          </p:nvGrpSpPr>
          <p:grpSpPr>
            <a:xfrm>
              <a:off x="2968948" y="1718435"/>
              <a:ext cx="431428" cy="575117"/>
              <a:chOff x="2887410" y="414748"/>
              <a:chExt cx="431428" cy="575117"/>
            </a:xfrm>
          </p:grpSpPr>
          <p:sp>
            <p:nvSpPr>
              <p:cNvPr id="8"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 name="Group 9"/>
            <p:cNvGrpSpPr/>
            <p:nvPr/>
          </p:nvGrpSpPr>
          <p:grpSpPr>
            <a:xfrm>
              <a:off x="1890068" y="1737899"/>
              <a:ext cx="431428" cy="575117"/>
              <a:chOff x="2887410" y="414748"/>
              <a:chExt cx="431428" cy="575117"/>
            </a:xfrm>
          </p:grpSpPr>
          <p:sp>
            <p:nvSpPr>
              <p:cNvPr id="1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 name="Group 12"/>
            <p:cNvGrpSpPr/>
            <p:nvPr/>
          </p:nvGrpSpPr>
          <p:grpSpPr>
            <a:xfrm>
              <a:off x="2825242" y="2584419"/>
              <a:ext cx="431428" cy="575117"/>
              <a:chOff x="2887410" y="414748"/>
              <a:chExt cx="431428" cy="575117"/>
            </a:xfrm>
          </p:grpSpPr>
          <p:sp>
            <p:nvSpPr>
              <p:cNvPr id="1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6" name="Group 15"/>
            <p:cNvGrpSpPr/>
            <p:nvPr/>
          </p:nvGrpSpPr>
          <p:grpSpPr>
            <a:xfrm>
              <a:off x="2343351" y="2871977"/>
              <a:ext cx="431428" cy="575117"/>
              <a:chOff x="2887410" y="414748"/>
              <a:chExt cx="431428" cy="575117"/>
            </a:xfrm>
          </p:grpSpPr>
          <p:sp>
            <p:nvSpPr>
              <p:cNvPr id="1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 name="Group 18"/>
            <p:cNvGrpSpPr/>
            <p:nvPr/>
          </p:nvGrpSpPr>
          <p:grpSpPr>
            <a:xfrm>
              <a:off x="1815829" y="2440876"/>
              <a:ext cx="431428" cy="575117"/>
              <a:chOff x="2887410" y="414748"/>
              <a:chExt cx="431428" cy="575117"/>
            </a:xfrm>
          </p:grpSpPr>
          <p:sp>
            <p:nvSpPr>
              <p:cNvPr id="20"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 name="Group 21"/>
            <p:cNvGrpSpPr/>
            <p:nvPr/>
          </p:nvGrpSpPr>
          <p:grpSpPr>
            <a:xfrm>
              <a:off x="2434983" y="1261360"/>
              <a:ext cx="431428" cy="575117"/>
              <a:chOff x="2887410" y="414748"/>
              <a:chExt cx="431428" cy="575117"/>
            </a:xfrm>
          </p:grpSpPr>
          <p:sp>
            <p:nvSpPr>
              <p:cNvPr id="2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6" name="Group 25"/>
          <p:cNvGrpSpPr/>
          <p:nvPr/>
        </p:nvGrpSpPr>
        <p:grpSpPr>
          <a:xfrm>
            <a:off x="7560137" y="2083722"/>
            <a:ext cx="1584547" cy="2185734"/>
            <a:chOff x="1815829" y="1261360"/>
            <a:chExt cx="1584547" cy="2185734"/>
          </a:xfrm>
        </p:grpSpPr>
        <p:grpSp>
          <p:nvGrpSpPr>
            <p:cNvPr id="27" name="Group 26"/>
            <p:cNvGrpSpPr/>
            <p:nvPr/>
          </p:nvGrpSpPr>
          <p:grpSpPr>
            <a:xfrm>
              <a:off x="2393504" y="2009302"/>
              <a:ext cx="431428" cy="575117"/>
              <a:chOff x="2887410" y="414748"/>
              <a:chExt cx="431428" cy="575117"/>
            </a:xfrm>
          </p:grpSpPr>
          <p:sp>
            <p:nvSpPr>
              <p:cNvPr id="46"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Oval 46"/>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8" name="Group 27"/>
            <p:cNvGrpSpPr/>
            <p:nvPr/>
          </p:nvGrpSpPr>
          <p:grpSpPr>
            <a:xfrm>
              <a:off x="2968948" y="1718435"/>
              <a:ext cx="431428" cy="575117"/>
              <a:chOff x="2887410" y="414748"/>
              <a:chExt cx="431428" cy="575117"/>
            </a:xfrm>
          </p:grpSpPr>
          <p:sp>
            <p:nvSpPr>
              <p:cNvPr id="4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Oval 4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9" name="Group 28"/>
            <p:cNvGrpSpPr/>
            <p:nvPr/>
          </p:nvGrpSpPr>
          <p:grpSpPr>
            <a:xfrm>
              <a:off x="1890068" y="1737899"/>
              <a:ext cx="431428" cy="575117"/>
              <a:chOff x="2887410" y="414748"/>
              <a:chExt cx="431428" cy="575117"/>
            </a:xfrm>
          </p:grpSpPr>
          <p:sp>
            <p:nvSpPr>
              <p:cNvPr id="42"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Oval 42"/>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0" name="Group 29"/>
            <p:cNvGrpSpPr/>
            <p:nvPr/>
          </p:nvGrpSpPr>
          <p:grpSpPr>
            <a:xfrm>
              <a:off x="2825242" y="2584419"/>
              <a:ext cx="431428" cy="575117"/>
              <a:chOff x="2887410" y="414748"/>
              <a:chExt cx="431428" cy="575117"/>
            </a:xfrm>
          </p:grpSpPr>
          <p:sp>
            <p:nvSpPr>
              <p:cNvPr id="40"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Oval 40"/>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1" name="Group 30"/>
            <p:cNvGrpSpPr/>
            <p:nvPr/>
          </p:nvGrpSpPr>
          <p:grpSpPr>
            <a:xfrm>
              <a:off x="2343351" y="2871977"/>
              <a:ext cx="431428" cy="575117"/>
              <a:chOff x="2887410" y="414748"/>
              <a:chExt cx="431428" cy="575117"/>
            </a:xfrm>
          </p:grpSpPr>
          <p:sp>
            <p:nvSpPr>
              <p:cNvPr id="38"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Oval 38"/>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2" name="Group 31"/>
            <p:cNvGrpSpPr/>
            <p:nvPr/>
          </p:nvGrpSpPr>
          <p:grpSpPr>
            <a:xfrm>
              <a:off x="1815829" y="2440876"/>
              <a:ext cx="431428" cy="575117"/>
              <a:chOff x="2887410" y="414748"/>
              <a:chExt cx="431428" cy="575117"/>
            </a:xfrm>
          </p:grpSpPr>
          <p:sp>
            <p:nvSpPr>
              <p:cNvPr id="36"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Oval 36"/>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3" name="Group 32"/>
            <p:cNvGrpSpPr/>
            <p:nvPr/>
          </p:nvGrpSpPr>
          <p:grpSpPr>
            <a:xfrm>
              <a:off x="2434983" y="1261360"/>
              <a:ext cx="431428" cy="575117"/>
              <a:chOff x="2887410" y="414748"/>
              <a:chExt cx="431428" cy="575117"/>
            </a:xfrm>
          </p:grpSpPr>
          <p:sp>
            <p:nvSpPr>
              <p:cNvPr id="3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Oval 3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48" name="Rectangle 47"/>
          <p:cNvSpPr/>
          <p:nvPr/>
        </p:nvSpPr>
        <p:spPr>
          <a:xfrm>
            <a:off x="143632" y="255669"/>
            <a:ext cx="11707244" cy="584775"/>
          </a:xfrm>
          <a:prstGeom prst="rect">
            <a:avLst/>
          </a:prstGeom>
        </p:spPr>
        <p:txBody>
          <a:bodyPr wrap="square">
            <a:spAutoFit/>
          </a:bodyPr>
          <a:lstStyle/>
          <a:p>
            <a:r>
              <a:rPr lang="en-GB" sz="3200" dirty="0" smtClean="0"/>
              <a:t>In RCTs, we </a:t>
            </a:r>
            <a:r>
              <a:rPr lang="en-GB" sz="3200" b="1" dirty="0" smtClean="0"/>
              <a:t>randomly</a:t>
            </a:r>
            <a:r>
              <a:rPr lang="en-GB" sz="3200" dirty="0" smtClean="0"/>
              <a:t> allocate to groups</a:t>
            </a:r>
            <a:endParaRPr lang="en-GB" sz="3200" dirty="0"/>
          </a:p>
        </p:txBody>
      </p:sp>
      <p:sp>
        <p:nvSpPr>
          <p:cNvPr id="49" name="TextBox 48"/>
          <p:cNvSpPr txBox="1"/>
          <p:nvPr/>
        </p:nvSpPr>
        <p:spPr>
          <a:xfrm>
            <a:off x="2715849" y="1491402"/>
            <a:ext cx="1791384" cy="523220"/>
          </a:xfrm>
          <a:prstGeom prst="rect">
            <a:avLst/>
          </a:prstGeom>
          <a:noFill/>
        </p:spPr>
        <p:txBody>
          <a:bodyPr wrap="square" rtlCol="0">
            <a:spAutoFit/>
          </a:bodyPr>
          <a:lstStyle/>
          <a:p>
            <a:pPr algn="ctr"/>
            <a:r>
              <a:rPr lang="en-GB" sz="2800" dirty="0" smtClean="0"/>
              <a:t>Group A</a:t>
            </a:r>
            <a:endParaRPr lang="en-GB" sz="2800" dirty="0"/>
          </a:p>
        </p:txBody>
      </p:sp>
      <p:sp>
        <p:nvSpPr>
          <p:cNvPr id="50" name="Rectangle 49"/>
          <p:cNvSpPr/>
          <p:nvPr/>
        </p:nvSpPr>
        <p:spPr>
          <a:xfrm>
            <a:off x="7816846" y="1495318"/>
            <a:ext cx="1443730" cy="523220"/>
          </a:xfrm>
          <a:prstGeom prst="rect">
            <a:avLst/>
          </a:prstGeom>
        </p:spPr>
        <p:txBody>
          <a:bodyPr wrap="none">
            <a:spAutoFit/>
          </a:bodyPr>
          <a:lstStyle/>
          <a:p>
            <a:pPr algn="ctr"/>
            <a:r>
              <a:rPr lang="en-GB" sz="2800" dirty="0"/>
              <a:t>Group </a:t>
            </a:r>
            <a:r>
              <a:rPr lang="en-GB" sz="2800" dirty="0" smtClean="0"/>
              <a:t>B</a:t>
            </a:r>
            <a:endParaRPr lang="en-GB" sz="2800" dirty="0"/>
          </a:p>
        </p:txBody>
      </p:sp>
      <p:sp>
        <p:nvSpPr>
          <p:cNvPr id="81" name="Down Arrow 80"/>
          <p:cNvSpPr/>
          <p:nvPr/>
        </p:nvSpPr>
        <p:spPr>
          <a:xfrm>
            <a:off x="3402417" y="4520959"/>
            <a:ext cx="317941" cy="554182"/>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Down Arrow 81"/>
          <p:cNvSpPr/>
          <p:nvPr/>
        </p:nvSpPr>
        <p:spPr>
          <a:xfrm>
            <a:off x="8236034" y="4490537"/>
            <a:ext cx="317941" cy="554182"/>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Oval 4"/>
          <p:cNvSpPr/>
          <p:nvPr/>
        </p:nvSpPr>
        <p:spPr>
          <a:xfrm>
            <a:off x="3561388" y="5410552"/>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Oval 83"/>
          <p:cNvSpPr/>
          <p:nvPr/>
        </p:nvSpPr>
        <p:spPr>
          <a:xfrm>
            <a:off x="3633396"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Oval 84"/>
          <p:cNvSpPr/>
          <p:nvPr/>
        </p:nvSpPr>
        <p:spPr>
          <a:xfrm>
            <a:off x="3012653"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Oval 4"/>
          <p:cNvSpPr/>
          <p:nvPr/>
        </p:nvSpPr>
        <p:spPr>
          <a:xfrm>
            <a:off x="2950250" y="5410551"/>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9" name="Group 88"/>
          <p:cNvGrpSpPr/>
          <p:nvPr/>
        </p:nvGrpSpPr>
        <p:grpSpPr>
          <a:xfrm>
            <a:off x="4147524" y="5122520"/>
            <a:ext cx="431428" cy="578897"/>
            <a:chOff x="4147524" y="5122520"/>
            <a:chExt cx="431428" cy="578897"/>
          </a:xfrm>
        </p:grpSpPr>
        <p:sp>
          <p:nvSpPr>
            <p:cNvPr id="87"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Oval 87"/>
            <p:cNvSpPr/>
            <p:nvPr/>
          </p:nvSpPr>
          <p:spPr>
            <a:xfrm>
              <a:off x="4219821"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0" name="Group 89"/>
          <p:cNvGrpSpPr/>
          <p:nvPr/>
        </p:nvGrpSpPr>
        <p:grpSpPr>
          <a:xfrm>
            <a:off x="4347483" y="5454891"/>
            <a:ext cx="272076" cy="376882"/>
            <a:chOff x="4147524" y="5122520"/>
            <a:chExt cx="431428" cy="578897"/>
          </a:xfrm>
          <a:solidFill>
            <a:schemeClr val="bg1">
              <a:lumMod val="95000"/>
            </a:schemeClr>
          </a:solidFill>
        </p:grpSpPr>
        <p:sp>
          <p:nvSpPr>
            <p:cNvPr id="91"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Oval 91"/>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3" name="Group 92"/>
          <p:cNvGrpSpPr/>
          <p:nvPr/>
        </p:nvGrpSpPr>
        <p:grpSpPr>
          <a:xfrm>
            <a:off x="3731422" y="5455814"/>
            <a:ext cx="272076" cy="376882"/>
            <a:chOff x="4147524" y="5122520"/>
            <a:chExt cx="431428" cy="578897"/>
          </a:xfrm>
          <a:solidFill>
            <a:schemeClr val="bg1">
              <a:lumMod val="95000"/>
            </a:schemeClr>
          </a:solidFill>
        </p:grpSpPr>
        <p:sp>
          <p:nvSpPr>
            <p:cNvPr id="94"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Oval 94"/>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6" name="Group 95"/>
          <p:cNvGrpSpPr/>
          <p:nvPr/>
        </p:nvGrpSpPr>
        <p:grpSpPr>
          <a:xfrm>
            <a:off x="3115361" y="5455814"/>
            <a:ext cx="272076" cy="376882"/>
            <a:chOff x="4147524" y="5122520"/>
            <a:chExt cx="431428" cy="578897"/>
          </a:xfrm>
          <a:solidFill>
            <a:schemeClr val="bg1">
              <a:lumMod val="95000"/>
            </a:schemeClr>
          </a:solidFill>
        </p:grpSpPr>
        <p:sp>
          <p:nvSpPr>
            <p:cNvPr id="97"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Oval 97"/>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9" name="Group 98"/>
          <p:cNvGrpSpPr/>
          <p:nvPr/>
        </p:nvGrpSpPr>
        <p:grpSpPr>
          <a:xfrm>
            <a:off x="8204468" y="5121101"/>
            <a:ext cx="431428" cy="578897"/>
            <a:chOff x="4147524" y="5122520"/>
            <a:chExt cx="431428" cy="578897"/>
          </a:xfrm>
        </p:grpSpPr>
        <p:sp>
          <p:nvSpPr>
            <p:cNvPr id="100"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Oval 100"/>
            <p:cNvSpPr/>
            <p:nvPr/>
          </p:nvSpPr>
          <p:spPr>
            <a:xfrm>
              <a:off x="4219821"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2" name="Group 101"/>
          <p:cNvGrpSpPr/>
          <p:nvPr/>
        </p:nvGrpSpPr>
        <p:grpSpPr>
          <a:xfrm>
            <a:off x="8402673" y="5453968"/>
            <a:ext cx="272076" cy="376882"/>
            <a:chOff x="4147524" y="5122520"/>
            <a:chExt cx="431428" cy="578897"/>
          </a:xfrm>
          <a:solidFill>
            <a:schemeClr val="bg1">
              <a:lumMod val="95000"/>
            </a:schemeClr>
          </a:solidFill>
        </p:grpSpPr>
        <p:sp>
          <p:nvSpPr>
            <p:cNvPr id="103"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Oval 103"/>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Oval 1"/>
          <p:cNvSpPr/>
          <p:nvPr/>
        </p:nvSpPr>
        <p:spPr>
          <a:xfrm>
            <a:off x="5320145" y="914400"/>
            <a:ext cx="1690255" cy="1453572"/>
          </a:xfrm>
          <a:prstGeom prst="ellipse">
            <a:avLst/>
          </a:prstGeom>
          <a:solidFill>
            <a:schemeClr val="bg1"/>
          </a:solidFill>
          <a:ln w="444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p:cNvSpPr txBox="1"/>
          <p:nvPr/>
        </p:nvSpPr>
        <p:spPr>
          <a:xfrm>
            <a:off x="5875769" y="1120988"/>
            <a:ext cx="1025236" cy="1015663"/>
          </a:xfrm>
          <a:prstGeom prst="rect">
            <a:avLst/>
          </a:prstGeom>
          <a:noFill/>
        </p:spPr>
        <p:txBody>
          <a:bodyPr wrap="square" rtlCol="0">
            <a:spAutoFit/>
          </a:bodyPr>
          <a:lstStyle/>
          <a:p>
            <a:r>
              <a:rPr lang="en-GB" sz="6000" dirty="0" smtClean="0"/>
              <a:t>R</a:t>
            </a:r>
            <a:endParaRPr lang="en-GB" sz="6000" dirty="0"/>
          </a:p>
        </p:txBody>
      </p:sp>
      <p:cxnSp>
        <p:nvCxnSpPr>
          <p:cNvPr id="52" name="Straight Arrow Connector 51"/>
          <p:cNvCxnSpPr>
            <a:stCxn id="2" idx="2"/>
          </p:cNvCxnSpPr>
          <p:nvPr/>
        </p:nvCxnSpPr>
        <p:spPr>
          <a:xfrm flipH="1">
            <a:off x="4483521" y="1641186"/>
            <a:ext cx="836624" cy="495465"/>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2" idx="6"/>
          </p:cNvCxnSpPr>
          <p:nvPr/>
        </p:nvCxnSpPr>
        <p:spPr>
          <a:xfrm>
            <a:off x="7010400" y="1641186"/>
            <a:ext cx="621745" cy="586552"/>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Rectangle 77"/>
          <p:cNvSpPr/>
          <p:nvPr/>
        </p:nvSpPr>
        <p:spPr>
          <a:xfrm>
            <a:off x="163317" y="1491402"/>
            <a:ext cx="2470302" cy="3063734"/>
          </a:xfrm>
          <a:prstGeom prst="rect">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9" name="Group 78"/>
          <p:cNvGrpSpPr/>
          <p:nvPr/>
        </p:nvGrpSpPr>
        <p:grpSpPr>
          <a:xfrm>
            <a:off x="121328" y="1521165"/>
            <a:ext cx="2386864" cy="2757880"/>
            <a:chOff x="0" y="1417956"/>
            <a:chExt cx="2386864" cy="2757880"/>
          </a:xfrm>
        </p:grpSpPr>
        <p:sp>
          <p:nvSpPr>
            <p:cNvPr id="80" name="Rectangle 79"/>
            <p:cNvSpPr/>
            <p:nvPr/>
          </p:nvSpPr>
          <p:spPr>
            <a:xfrm>
              <a:off x="0" y="2498554"/>
              <a:ext cx="2282997" cy="369332"/>
            </a:xfrm>
            <a:prstGeom prst="rect">
              <a:avLst/>
            </a:prstGeom>
          </p:spPr>
          <p:txBody>
            <a:bodyPr wrap="none">
              <a:spAutoFit/>
            </a:bodyPr>
            <a:lstStyle/>
            <a:p>
              <a:r>
                <a:rPr lang="en-GB" dirty="0">
                  <a:solidFill>
                    <a:srgbClr val="00B0F0"/>
                  </a:solidFill>
                </a:rPr>
                <a:t>social economic status</a:t>
              </a:r>
            </a:p>
          </p:txBody>
        </p:sp>
        <p:grpSp>
          <p:nvGrpSpPr>
            <p:cNvPr id="105" name="Group 104"/>
            <p:cNvGrpSpPr/>
            <p:nvPr/>
          </p:nvGrpSpPr>
          <p:grpSpPr>
            <a:xfrm>
              <a:off x="157001" y="1417956"/>
              <a:ext cx="2229863" cy="2757880"/>
              <a:chOff x="218692" y="1313328"/>
              <a:chExt cx="2229863" cy="2757880"/>
            </a:xfrm>
          </p:grpSpPr>
          <p:grpSp>
            <p:nvGrpSpPr>
              <p:cNvPr id="106" name="Group 105"/>
              <p:cNvGrpSpPr/>
              <p:nvPr/>
            </p:nvGrpSpPr>
            <p:grpSpPr>
              <a:xfrm>
                <a:off x="218692" y="1858406"/>
                <a:ext cx="2229863" cy="2212802"/>
                <a:chOff x="218692" y="1858406"/>
                <a:chExt cx="2229863" cy="2212802"/>
              </a:xfrm>
            </p:grpSpPr>
            <p:sp>
              <p:nvSpPr>
                <p:cNvPr id="108" name="Rectangle 107"/>
                <p:cNvSpPr/>
                <p:nvPr/>
              </p:nvSpPr>
              <p:spPr>
                <a:xfrm>
                  <a:off x="218692" y="1858406"/>
                  <a:ext cx="2126672" cy="369332"/>
                </a:xfrm>
                <a:prstGeom prst="rect">
                  <a:avLst/>
                </a:prstGeom>
              </p:spPr>
              <p:txBody>
                <a:bodyPr wrap="none">
                  <a:spAutoFit/>
                </a:bodyPr>
                <a:lstStyle/>
                <a:p>
                  <a:r>
                    <a:rPr lang="en-GB" dirty="0"/>
                    <a:t>duration of infertility</a:t>
                  </a:r>
                </a:p>
              </p:txBody>
            </p:sp>
            <p:sp>
              <p:nvSpPr>
                <p:cNvPr id="109" name="Rectangle 108"/>
                <p:cNvSpPr/>
                <p:nvPr/>
              </p:nvSpPr>
              <p:spPr>
                <a:xfrm>
                  <a:off x="1887022" y="2752464"/>
                  <a:ext cx="551754" cy="369332"/>
                </a:xfrm>
                <a:prstGeom prst="rect">
                  <a:avLst/>
                </a:prstGeom>
              </p:spPr>
              <p:txBody>
                <a:bodyPr wrap="none">
                  <a:spAutoFit/>
                </a:bodyPr>
                <a:lstStyle/>
                <a:p>
                  <a:r>
                    <a:rPr lang="en-GB" dirty="0" smtClean="0"/>
                    <a:t>BMI</a:t>
                  </a:r>
                  <a:endParaRPr lang="en-GB" dirty="0"/>
                </a:p>
              </p:txBody>
            </p:sp>
            <p:sp>
              <p:nvSpPr>
                <p:cNvPr id="110" name="Rectangle 109"/>
                <p:cNvSpPr/>
                <p:nvPr/>
              </p:nvSpPr>
              <p:spPr>
                <a:xfrm>
                  <a:off x="1074550" y="3222115"/>
                  <a:ext cx="663964" cy="523220"/>
                </a:xfrm>
                <a:prstGeom prst="rect">
                  <a:avLst/>
                </a:prstGeom>
              </p:spPr>
              <p:txBody>
                <a:bodyPr wrap="none">
                  <a:spAutoFit/>
                </a:bodyPr>
                <a:lstStyle/>
                <a:p>
                  <a:r>
                    <a:rPr lang="en-GB" sz="2800" dirty="0"/>
                    <a:t>age</a:t>
                  </a:r>
                </a:p>
              </p:txBody>
            </p:sp>
            <p:sp>
              <p:nvSpPr>
                <p:cNvPr id="111" name="Rectangle 110"/>
                <p:cNvSpPr/>
                <p:nvPr/>
              </p:nvSpPr>
              <p:spPr>
                <a:xfrm>
                  <a:off x="234253" y="3701876"/>
                  <a:ext cx="1460849" cy="369332"/>
                </a:xfrm>
                <a:prstGeom prst="rect">
                  <a:avLst/>
                </a:prstGeom>
              </p:spPr>
              <p:txBody>
                <a:bodyPr wrap="none">
                  <a:spAutoFit/>
                </a:bodyPr>
                <a:lstStyle/>
                <a:p>
                  <a:r>
                    <a:rPr lang="en-GB" dirty="0">
                      <a:solidFill>
                        <a:srgbClr val="FF0000"/>
                      </a:solidFill>
                    </a:rPr>
                    <a:t>culture media</a:t>
                  </a:r>
                </a:p>
              </p:txBody>
            </p:sp>
            <p:sp>
              <p:nvSpPr>
                <p:cNvPr id="112" name="Rectangle 111"/>
                <p:cNvSpPr/>
                <p:nvPr/>
              </p:nvSpPr>
              <p:spPr>
                <a:xfrm>
                  <a:off x="2175723" y="2259424"/>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sp>
              <p:nvSpPr>
                <p:cNvPr id="113" name="Rectangle 112"/>
                <p:cNvSpPr/>
                <p:nvPr/>
              </p:nvSpPr>
              <p:spPr>
                <a:xfrm>
                  <a:off x="588247" y="2989944"/>
                  <a:ext cx="399468" cy="769441"/>
                </a:xfrm>
                <a:prstGeom prst="rect">
                  <a:avLst/>
                </a:prstGeom>
              </p:spPr>
              <p:txBody>
                <a:bodyPr wrap="none">
                  <a:spAutoFit/>
                </a:bodyPr>
                <a:lstStyle/>
                <a:p>
                  <a:r>
                    <a:rPr lang="en-GB" sz="4400" dirty="0">
                      <a:solidFill>
                        <a:schemeClr val="accent1">
                          <a:lumMod val="60000"/>
                          <a:lumOff val="40000"/>
                        </a:schemeClr>
                      </a:solidFill>
                      <a:latin typeface="Agency FB" panose="020B0503020202020204" pitchFamily="34" charset="0"/>
                    </a:rPr>
                    <a:t>?</a:t>
                  </a:r>
                </a:p>
              </p:txBody>
            </p:sp>
            <p:sp>
              <p:nvSpPr>
                <p:cNvPr id="114" name="Rectangle 113"/>
                <p:cNvSpPr/>
                <p:nvPr/>
              </p:nvSpPr>
              <p:spPr>
                <a:xfrm>
                  <a:off x="2072532" y="3270775"/>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grpSp>
          <p:sp>
            <p:nvSpPr>
              <p:cNvPr id="107" name="Rectangle 106"/>
              <p:cNvSpPr/>
              <p:nvPr/>
            </p:nvSpPr>
            <p:spPr>
              <a:xfrm>
                <a:off x="843348" y="1313328"/>
                <a:ext cx="420308" cy="830997"/>
              </a:xfrm>
              <a:prstGeom prst="rect">
                <a:avLst/>
              </a:prstGeom>
            </p:spPr>
            <p:txBody>
              <a:bodyPr wrap="none">
                <a:spAutoFit/>
              </a:bodyPr>
              <a:lstStyle/>
              <a:p>
                <a:r>
                  <a:rPr lang="en-GB" sz="4800" dirty="0">
                    <a:solidFill>
                      <a:schemeClr val="accent1">
                        <a:lumMod val="60000"/>
                        <a:lumOff val="40000"/>
                      </a:schemeClr>
                    </a:solidFill>
                    <a:latin typeface="Agency FB" panose="020B0503020202020204" pitchFamily="34" charset="0"/>
                  </a:rPr>
                  <a:t>?</a:t>
                </a:r>
              </a:p>
            </p:txBody>
          </p:sp>
        </p:grpSp>
      </p:grpSp>
      <p:sp>
        <p:nvSpPr>
          <p:cNvPr id="115" name="Rectangle 114"/>
          <p:cNvSpPr/>
          <p:nvPr/>
        </p:nvSpPr>
        <p:spPr>
          <a:xfrm>
            <a:off x="9455055" y="1421914"/>
            <a:ext cx="2470302" cy="3063734"/>
          </a:xfrm>
          <a:prstGeom prst="rect">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6" name="Group 115"/>
          <p:cNvGrpSpPr/>
          <p:nvPr/>
        </p:nvGrpSpPr>
        <p:grpSpPr>
          <a:xfrm>
            <a:off x="9413066" y="1451677"/>
            <a:ext cx="2386864" cy="2757880"/>
            <a:chOff x="0" y="1417956"/>
            <a:chExt cx="2386864" cy="2757880"/>
          </a:xfrm>
        </p:grpSpPr>
        <p:sp>
          <p:nvSpPr>
            <p:cNvPr id="117" name="Rectangle 116"/>
            <p:cNvSpPr/>
            <p:nvPr/>
          </p:nvSpPr>
          <p:spPr>
            <a:xfrm>
              <a:off x="0" y="2498554"/>
              <a:ext cx="2282997" cy="369332"/>
            </a:xfrm>
            <a:prstGeom prst="rect">
              <a:avLst/>
            </a:prstGeom>
          </p:spPr>
          <p:txBody>
            <a:bodyPr wrap="none">
              <a:spAutoFit/>
            </a:bodyPr>
            <a:lstStyle/>
            <a:p>
              <a:r>
                <a:rPr lang="en-GB" dirty="0">
                  <a:solidFill>
                    <a:srgbClr val="00B0F0"/>
                  </a:solidFill>
                </a:rPr>
                <a:t>social economic status</a:t>
              </a:r>
            </a:p>
          </p:txBody>
        </p:sp>
        <p:grpSp>
          <p:nvGrpSpPr>
            <p:cNvPr id="118" name="Group 117"/>
            <p:cNvGrpSpPr/>
            <p:nvPr/>
          </p:nvGrpSpPr>
          <p:grpSpPr>
            <a:xfrm>
              <a:off x="157001" y="1417956"/>
              <a:ext cx="2229863" cy="2757880"/>
              <a:chOff x="218692" y="1313328"/>
              <a:chExt cx="2229863" cy="2757880"/>
            </a:xfrm>
          </p:grpSpPr>
          <p:grpSp>
            <p:nvGrpSpPr>
              <p:cNvPr id="119" name="Group 118"/>
              <p:cNvGrpSpPr/>
              <p:nvPr/>
            </p:nvGrpSpPr>
            <p:grpSpPr>
              <a:xfrm>
                <a:off x="218692" y="1858406"/>
                <a:ext cx="2229863" cy="2212802"/>
                <a:chOff x="218692" y="1858406"/>
                <a:chExt cx="2229863" cy="2212802"/>
              </a:xfrm>
            </p:grpSpPr>
            <p:sp>
              <p:nvSpPr>
                <p:cNvPr id="121" name="Rectangle 120"/>
                <p:cNvSpPr/>
                <p:nvPr/>
              </p:nvSpPr>
              <p:spPr>
                <a:xfrm>
                  <a:off x="218692" y="1858406"/>
                  <a:ext cx="2126672" cy="369332"/>
                </a:xfrm>
                <a:prstGeom prst="rect">
                  <a:avLst/>
                </a:prstGeom>
              </p:spPr>
              <p:txBody>
                <a:bodyPr wrap="none">
                  <a:spAutoFit/>
                </a:bodyPr>
                <a:lstStyle/>
                <a:p>
                  <a:r>
                    <a:rPr lang="en-GB" dirty="0"/>
                    <a:t>duration of infertility</a:t>
                  </a:r>
                </a:p>
              </p:txBody>
            </p:sp>
            <p:sp>
              <p:nvSpPr>
                <p:cNvPr id="122" name="Rectangle 121"/>
                <p:cNvSpPr/>
                <p:nvPr/>
              </p:nvSpPr>
              <p:spPr>
                <a:xfrm>
                  <a:off x="1887022" y="2752464"/>
                  <a:ext cx="551754" cy="369332"/>
                </a:xfrm>
                <a:prstGeom prst="rect">
                  <a:avLst/>
                </a:prstGeom>
              </p:spPr>
              <p:txBody>
                <a:bodyPr wrap="none">
                  <a:spAutoFit/>
                </a:bodyPr>
                <a:lstStyle/>
                <a:p>
                  <a:r>
                    <a:rPr lang="en-GB" dirty="0" smtClean="0"/>
                    <a:t>BMI</a:t>
                  </a:r>
                  <a:endParaRPr lang="en-GB" dirty="0"/>
                </a:p>
              </p:txBody>
            </p:sp>
            <p:sp>
              <p:nvSpPr>
                <p:cNvPr id="123" name="Rectangle 122"/>
                <p:cNvSpPr/>
                <p:nvPr/>
              </p:nvSpPr>
              <p:spPr>
                <a:xfrm>
                  <a:off x="1074550" y="3222115"/>
                  <a:ext cx="663964" cy="523220"/>
                </a:xfrm>
                <a:prstGeom prst="rect">
                  <a:avLst/>
                </a:prstGeom>
              </p:spPr>
              <p:txBody>
                <a:bodyPr wrap="none">
                  <a:spAutoFit/>
                </a:bodyPr>
                <a:lstStyle/>
                <a:p>
                  <a:r>
                    <a:rPr lang="en-GB" sz="2800" dirty="0"/>
                    <a:t>age</a:t>
                  </a:r>
                </a:p>
              </p:txBody>
            </p:sp>
            <p:sp>
              <p:nvSpPr>
                <p:cNvPr id="124" name="Rectangle 123"/>
                <p:cNvSpPr/>
                <p:nvPr/>
              </p:nvSpPr>
              <p:spPr>
                <a:xfrm>
                  <a:off x="234253" y="3701876"/>
                  <a:ext cx="1460849" cy="369332"/>
                </a:xfrm>
                <a:prstGeom prst="rect">
                  <a:avLst/>
                </a:prstGeom>
              </p:spPr>
              <p:txBody>
                <a:bodyPr wrap="none">
                  <a:spAutoFit/>
                </a:bodyPr>
                <a:lstStyle/>
                <a:p>
                  <a:r>
                    <a:rPr lang="en-GB" dirty="0">
                      <a:solidFill>
                        <a:srgbClr val="FF0000"/>
                      </a:solidFill>
                    </a:rPr>
                    <a:t>culture media</a:t>
                  </a:r>
                </a:p>
              </p:txBody>
            </p:sp>
            <p:sp>
              <p:nvSpPr>
                <p:cNvPr id="125" name="Rectangle 124"/>
                <p:cNvSpPr/>
                <p:nvPr/>
              </p:nvSpPr>
              <p:spPr>
                <a:xfrm>
                  <a:off x="2175723" y="2259424"/>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sp>
              <p:nvSpPr>
                <p:cNvPr id="126" name="Rectangle 125"/>
                <p:cNvSpPr/>
                <p:nvPr/>
              </p:nvSpPr>
              <p:spPr>
                <a:xfrm>
                  <a:off x="588247" y="2989944"/>
                  <a:ext cx="399468" cy="769441"/>
                </a:xfrm>
                <a:prstGeom prst="rect">
                  <a:avLst/>
                </a:prstGeom>
              </p:spPr>
              <p:txBody>
                <a:bodyPr wrap="none">
                  <a:spAutoFit/>
                </a:bodyPr>
                <a:lstStyle/>
                <a:p>
                  <a:r>
                    <a:rPr lang="en-GB" sz="4400" dirty="0">
                      <a:solidFill>
                        <a:schemeClr val="accent1">
                          <a:lumMod val="60000"/>
                          <a:lumOff val="40000"/>
                        </a:schemeClr>
                      </a:solidFill>
                      <a:latin typeface="Agency FB" panose="020B0503020202020204" pitchFamily="34" charset="0"/>
                    </a:rPr>
                    <a:t>?</a:t>
                  </a:r>
                </a:p>
              </p:txBody>
            </p:sp>
            <p:sp>
              <p:nvSpPr>
                <p:cNvPr id="127" name="Rectangle 126"/>
                <p:cNvSpPr/>
                <p:nvPr/>
              </p:nvSpPr>
              <p:spPr>
                <a:xfrm>
                  <a:off x="2072532" y="3270775"/>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grpSp>
          <p:sp>
            <p:nvSpPr>
              <p:cNvPr id="120" name="Rectangle 119"/>
              <p:cNvSpPr/>
              <p:nvPr/>
            </p:nvSpPr>
            <p:spPr>
              <a:xfrm>
                <a:off x="843348" y="1313328"/>
                <a:ext cx="420308" cy="830997"/>
              </a:xfrm>
              <a:prstGeom prst="rect">
                <a:avLst/>
              </a:prstGeom>
            </p:spPr>
            <p:txBody>
              <a:bodyPr wrap="none">
                <a:spAutoFit/>
              </a:bodyPr>
              <a:lstStyle/>
              <a:p>
                <a:r>
                  <a:rPr lang="en-GB" sz="4800" dirty="0">
                    <a:solidFill>
                      <a:schemeClr val="accent1">
                        <a:lumMod val="60000"/>
                        <a:lumOff val="40000"/>
                      </a:schemeClr>
                    </a:solidFill>
                    <a:latin typeface="Agency FB" panose="020B0503020202020204" pitchFamily="34" charset="0"/>
                  </a:rPr>
                  <a:t>?</a:t>
                </a:r>
              </a:p>
            </p:txBody>
          </p:sp>
        </p:grpSp>
      </p:grpSp>
      <p:cxnSp>
        <p:nvCxnSpPr>
          <p:cNvPr id="53" name="Straight Connector 52"/>
          <p:cNvCxnSpPr/>
          <p:nvPr/>
        </p:nvCxnSpPr>
        <p:spPr>
          <a:xfrm flipH="1">
            <a:off x="293890" y="4087652"/>
            <a:ext cx="1571855" cy="23171"/>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H="1">
            <a:off x="1134187" y="3691031"/>
            <a:ext cx="7315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554182" y="3582501"/>
            <a:ext cx="4931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2132169" y="3640107"/>
            <a:ext cx="2721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a:xfrm>
            <a:off x="2021662" y="3157613"/>
            <a:ext cx="4931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a:off x="2094907" y="2646062"/>
            <a:ext cx="4931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a:endCxn id="112" idx="2"/>
          </p:cNvCxnSpPr>
          <p:nvPr/>
        </p:nvCxnSpPr>
        <p:spPr>
          <a:xfrm>
            <a:off x="217055" y="2825047"/>
            <a:ext cx="2154721" cy="1154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V="1">
            <a:off x="278329" y="2282674"/>
            <a:ext cx="2063163" cy="34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a:off x="902985" y="1870585"/>
            <a:ext cx="4931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a:off x="10194723" y="1867175"/>
            <a:ext cx="4931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9701553" y="2227738"/>
            <a:ext cx="196196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1313738" y="3115914"/>
            <a:ext cx="4931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9939622" y="3547488"/>
            <a:ext cx="4931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0553307" y="3703677"/>
            <a:ext cx="4931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a:off x="11423907" y="3622074"/>
            <a:ext cx="23960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a:xfrm>
            <a:off x="9701553" y="4056145"/>
            <a:ext cx="1344924" cy="1506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a:off x="9570067" y="2751458"/>
            <a:ext cx="199025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a:xfrm>
            <a:off x="11560323" y="2575349"/>
            <a:ext cx="135740" cy="709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694422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Rectangle 141"/>
          <p:cNvSpPr/>
          <p:nvPr/>
        </p:nvSpPr>
        <p:spPr>
          <a:xfrm>
            <a:off x="690983" y="1285905"/>
            <a:ext cx="10852727" cy="6858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5" name="Group 24"/>
          <p:cNvGrpSpPr/>
          <p:nvPr/>
        </p:nvGrpSpPr>
        <p:grpSpPr>
          <a:xfrm>
            <a:off x="2818152" y="2176341"/>
            <a:ext cx="1584547" cy="2185734"/>
            <a:chOff x="1815829" y="1261360"/>
            <a:chExt cx="1584547" cy="2185734"/>
          </a:xfrm>
        </p:grpSpPr>
        <p:grpSp>
          <p:nvGrpSpPr>
            <p:cNvPr id="6" name="Group 5"/>
            <p:cNvGrpSpPr/>
            <p:nvPr/>
          </p:nvGrpSpPr>
          <p:grpSpPr>
            <a:xfrm>
              <a:off x="2393504" y="2009302"/>
              <a:ext cx="431428" cy="575117"/>
              <a:chOff x="2887410" y="414748"/>
              <a:chExt cx="431428" cy="575117"/>
            </a:xfrm>
          </p:grpSpPr>
          <p:sp>
            <p:nvSpPr>
              <p:cNvPr id="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 name="Group 6"/>
            <p:cNvGrpSpPr/>
            <p:nvPr/>
          </p:nvGrpSpPr>
          <p:grpSpPr>
            <a:xfrm>
              <a:off x="2968948" y="1718435"/>
              <a:ext cx="431428" cy="575117"/>
              <a:chOff x="2887410" y="414748"/>
              <a:chExt cx="431428" cy="575117"/>
            </a:xfrm>
          </p:grpSpPr>
          <p:sp>
            <p:nvSpPr>
              <p:cNvPr id="8"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 name="Group 9"/>
            <p:cNvGrpSpPr/>
            <p:nvPr/>
          </p:nvGrpSpPr>
          <p:grpSpPr>
            <a:xfrm>
              <a:off x="1890068" y="1737899"/>
              <a:ext cx="431428" cy="575117"/>
              <a:chOff x="2887410" y="414748"/>
              <a:chExt cx="431428" cy="575117"/>
            </a:xfrm>
          </p:grpSpPr>
          <p:sp>
            <p:nvSpPr>
              <p:cNvPr id="1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 name="Group 12"/>
            <p:cNvGrpSpPr/>
            <p:nvPr/>
          </p:nvGrpSpPr>
          <p:grpSpPr>
            <a:xfrm>
              <a:off x="2825242" y="2584419"/>
              <a:ext cx="431428" cy="575117"/>
              <a:chOff x="2887410" y="414748"/>
              <a:chExt cx="431428" cy="575117"/>
            </a:xfrm>
          </p:grpSpPr>
          <p:sp>
            <p:nvSpPr>
              <p:cNvPr id="1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6" name="Group 15"/>
            <p:cNvGrpSpPr/>
            <p:nvPr/>
          </p:nvGrpSpPr>
          <p:grpSpPr>
            <a:xfrm>
              <a:off x="2343351" y="2871977"/>
              <a:ext cx="431428" cy="575117"/>
              <a:chOff x="2887410" y="414748"/>
              <a:chExt cx="431428" cy="575117"/>
            </a:xfrm>
          </p:grpSpPr>
          <p:sp>
            <p:nvSpPr>
              <p:cNvPr id="1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 name="Group 18"/>
            <p:cNvGrpSpPr/>
            <p:nvPr/>
          </p:nvGrpSpPr>
          <p:grpSpPr>
            <a:xfrm>
              <a:off x="1815829" y="2440876"/>
              <a:ext cx="431428" cy="575117"/>
              <a:chOff x="2887410" y="414748"/>
              <a:chExt cx="431428" cy="575117"/>
            </a:xfrm>
          </p:grpSpPr>
          <p:sp>
            <p:nvSpPr>
              <p:cNvPr id="20"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 name="Group 21"/>
            <p:cNvGrpSpPr/>
            <p:nvPr/>
          </p:nvGrpSpPr>
          <p:grpSpPr>
            <a:xfrm>
              <a:off x="2434983" y="1261360"/>
              <a:ext cx="431428" cy="575117"/>
              <a:chOff x="2887410" y="414748"/>
              <a:chExt cx="431428" cy="575117"/>
            </a:xfrm>
          </p:grpSpPr>
          <p:sp>
            <p:nvSpPr>
              <p:cNvPr id="2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6" name="Group 25"/>
          <p:cNvGrpSpPr/>
          <p:nvPr/>
        </p:nvGrpSpPr>
        <p:grpSpPr>
          <a:xfrm>
            <a:off x="7560137" y="2083722"/>
            <a:ext cx="1584547" cy="2185734"/>
            <a:chOff x="1815829" y="1261360"/>
            <a:chExt cx="1584547" cy="2185734"/>
          </a:xfrm>
        </p:grpSpPr>
        <p:grpSp>
          <p:nvGrpSpPr>
            <p:cNvPr id="27" name="Group 26"/>
            <p:cNvGrpSpPr/>
            <p:nvPr/>
          </p:nvGrpSpPr>
          <p:grpSpPr>
            <a:xfrm>
              <a:off x="2393504" y="2009302"/>
              <a:ext cx="431428" cy="575117"/>
              <a:chOff x="2887410" y="414748"/>
              <a:chExt cx="431428" cy="575117"/>
            </a:xfrm>
          </p:grpSpPr>
          <p:sp>
            <p:nvSpPr>
              <p:cNvPr id="46"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Oval 46"/>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8" name="Group 27"/>
            <p:cNvGrpSpPr/>
            <p:nvPr/>
          </p:nvGrpSpPr>
          <p:grpSpPr>
            <a:xfrm>
              <a:off x="2968948" y="1718435"/>
              <a:ext cx="431428" cy="575117"/>
              <a:chOff x="2887410" y="414748"/>
              <a:chExt cx="431428" cy="575117"/>
            </a:xfrm>
          </p:grpSpPr>
          <p:sp>
            <p:nvSpPr>
              <p:cNvPr id="4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Oval 4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9" name="Group 28"/>
            <p:cNvGrpSpPr/>
            <p:nvPr/>
          </p:nvGrpSpPr>
          <p:grpSpPr>
            <a:xfrm>
              <a:off x="1890068" y="1737899"/>
              <a:ext cx="431428" cy="575117"/>
              <a:chOff x="2887410" y="414748"/>
              <a:chExt cx="431428" cy="575117"/>
            </a:xfrm>
          </p:grpSpPr>
          <p:sp>
            <p:nvSpPr>
              <p:cNvPr id="42"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Oval 42"/>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0" name="Group 29"/>
            <p:cNvGrpSpPr/>
            <p:nvPr/>
          </p:nvGrpSpPr>
          <p:grpSpPr>
            <a:xfrm>
              <a:off x="2825242" y="2584419"/>
              <a:ext cx="431428" cy="575117"/>
              <a:chOff x="2887410" y="414748"/>
              <a:chExt cx="431428" cy="575117"/>
            </a:xfrm>
          </p:grpSpPr>
          <p:sp>
            <p:nvSpPr>
              <p:cNvPr id="40"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Oval 40"/>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1" name="Group 30"/>
            <p:cNvGrpSpPr/>
            <p:nvPr/>
          </p:nvGrpSpPr>
          <p:grpSpPr>
            <a:xfrm>
              <a:off x="2343351" y="2871977"/>
              <a:ext cx="431428" cy="575117"/>
              <a:chOff x="2887410" y="414748"/>
              <a:chExt cx="431428" cy="575117"/>
            </a:xfrm>
          </p:grpSpPr>
          <p:sp>
            <p:nvSpPr>
              <p:cNvPr id="38"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Oval 38"/>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2" name="Group 31"/>
            <p:cNvGrpSpPr/>
            <p:nvPr/>
          </p:nvGrpSpPr>
          <p:grpSpPr>
            <a:xfrm>
              <a:off x="1815829" y="2440876"/>
              <a:ext cx="431428" cy="575117"/>
              <a:chOff x="2887410" y="414748"/>
              <a:chExt cx="431428" cy="575117"/>
            </a:xfrm>
          </p:grpSpPr>
          <p:sp>
            <p:nvSpPr>
              <p:cNvPr id="36"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Oval 36"/>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3" name="Group 32"/>
            <p:cNvGrpSpPr/>
            <p:nvPr/>
          </p:nvGrpSpPr>
          <p:grpSpPr>
            <a:xfrm>
              <a:off x="2434983" y="1261360"/>
              <a:ext cx="431428" cy="575117"/>
              <a:chOff x="2887410" y="414748"/>
              <a:chExt cx="431428" cy="575117"/>
            </a:xfrm>
          </p:grpSpPr>
          <p:sp>
            <p:nvSpPr>
              <p:cNvPr id="3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Oval 3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48" name="Rectangle 47"/>
          <p:cNvSpPr/>
          <p:nvPr/>
        </p:nvSpPr>
        <p:spPr>
          <a:xfrm>
            <a:off x="139416" y="254208"/>
            <a:ext cx="11707244" cy="584775"/>
          </a:xfrm>
          <a:prstGeom prst="rect">
            <a:avLst/>
          </a:prstGeom>
        </p:spPr>
        <p:txBody>
          <a:bodyPr wrap="square">
            <a:spAutoFit/>
          </a:bodyPr>
          <a:lstStyle/>
          <a:p>
            <a:r>
              <a:rPr lang="en-GB" sz="3200" dirty="0" smtClean="0"/>
              <a:t>In RCTs, we </a:t>
            </a:r>
            <a:r>
              <a:rPr lang="en-GB" sz="3200" b="1" dirty="0" smtClean="0"/>
              <a:t>randomly</a:t>
            </a:r>
            <a:r>
              <a:rPr lang="en-GB" sz="3200" dirty="0" smtClean="0"/>
              <a:t> allocate to groups</a:t>
            </a:r>
            <a:endParaRPr lang="en-GB" sz="3200" dirty="0"/>
          </a:p>
        </p:txBody>
      </p:sp>
      <p:sp>
        <p:nvSpPr>
          <p:cNvPr id="49" name="TextBox 48"/>
          <p:cNvSpPr txBox="1"/>
          <p:nvPr/>
        </p:nvSpPr>
        <p:spPr>
          <a:xfrm>
            <a:off x="2715849" y="1491402"/>
            <a:ext cx="1791384" cy="523220"/>
          </a:xfrm>
          <a:prstGeom prst="rect">
            <a:avLst/>
          </a:prstGeom>
          <a:noFill/>
        </p:spPr>
        <p:txBody>
          <a:bodyPr wrap="square" rtlCol="0">
            <a:spAutoFit/>
          </a:bodyPr>
          <a:lstStyle/>
          <a:p>
            <a:pPr algn="ctr"/>
            <a:r>
              <a:rPr lang="en-GB" sz="2800" dirty="0" smtClean="0"/>
              <a:t>Group A</a:t>
            </a:r>
            <a:endParaRPr lang="en-GB" sz="2800" dirty="0"/>
          </a:p>
        </p:txBody>
      </p:sp>
      <p:sp>
        <p:nvSpPr>
          <p:cNvPr id="50" name="Rectangle 49"/>
          <p:cNvSpPr/>
          <p:nvPr/>
        </p:nvSpPr>
        <p:spPr>
          <a:xfrm>
            <a:off x="7816846" y="1495318"/>
            <a:ext cx="1443730" cy="523220"/>
          </a:xfrm>
          <a:prstGeom prst="rect">
            <a:avLst/>
          </a:prstGeom>
        </p:spPr>
        <p:txBody>
          <a:bodyPr wrap="none">
            <a:spAutoFit/>
          </a:bodyPr>
          <a:lstStyle/>
          <a:p>
            <a:pPr algn="ctr"/>
            <a:r>
              <a:rPr lang="en-GB" sz="2800" dirty="0"/>
              <a:t>Group </a:t>
            </a:r>
            <a:r>
              <a:rPr lang="en-GB" sz="2800" dirty="0" smtClean="0"/>
              <a:t>B</a:t>
            </a:r>
            <a:endParaRPr lang="en-GB" sz="2800" dirty="0"/>
          </a:p>
        </p:txBody>
      </p:sp>
      <p:sp>
        <p:nvSpPr>
          <p:cNvPr id="81" name="Down Arrow 80"/>
          <p:cNvSpPr/>
          <p:nvPr/>
        </p:nvSpPr>
        <p:spPr>
          <a:xfrm>
            <a:off x="3402417" y="4520959"/>
            <a:ext cx="317941" cy="554182"/>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Down Arrow 81"/>
          <p:cNvSpPr/>
          <p:nvPr/>
        </p:nvSpPr>
        <p:spPr>
          <a:xfrm>
            <a:off x="8236034" y="4490537"/>
            <a:ext cx="317941" cy="554182"/>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Oval 4"/>
          <p:cNvSpPr/>
          <p:nvPr/>
        </p:nvSpPr>
        <p:spPr>
          <a:xfrm>
            <a:off x="3561388" y="5410552"/>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Oval 83"/>
          <p:cNvSpPr/>
          <p:nvPr/>
        </p:nvSpPr>
        <p:spPr>
          <a:xfrm>
            <a:off x="3633396"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Oval 84"/>
          <p:cNvSpPr/>
          <p:nvPr/>
        </p:nvSpPr>
        <p:spPr>
          <a:xfrm>
            <a:off x="3012653"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Oval 4"/>
          <p:cNvSpPr/>
          <p:nvPr/>
        </p:nvSpPr>
        <p:spPr>
          <a:xfrm>
            <a:off x="2950250" y="5410551"/>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9" name="Group 88"/>
          <p:cNvGrpSpPr/>
          <p:nvPr/>
        </p:nvGrpSpPr>
        <p:grpSpPr>
          <a:xfrm>
            <a:off x="4147524" y="5122520"/>
            <a:ext cx="431428" cy="578897"/>
            <a:chOff x="4147524" y="5122520"/>
            <a:chExt cx="431428" cy="578897"/>
          </a:xfrm>
        </p:grpSpPr>
        <p:sp>
          <p:nvSpPr>
            <p:cNvPr id="87"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Oval 87"/>
            <p:cNvSpPr/>
            <p:nvPr/>
          </p:nvSpPr>
          <p:spPr>
            <a:xfrm>
              <a:off x="4219821"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0" name="Group 89"/>
          <p:cNvGrpSpPr/>
          <p:nvPr/>
        </p:nvGrpSpPr>
        <p:grpSpPr>
          <a:xfrm>
            <a:off x="4347483" y="5454891"/>
            <a:ext cx="272076" cy="376882"/>
            <a:chOff x="4147524" y="5122520"/>
            <a:chExt cx="431428" cy="578897"/>
          </a:xfrm>
          <a:solidFill>
            <a:schemeClr val="bg1">
              <a:lumMod val="95000"/>
            </a:schemeClr>
          </a:solidFill>
        </p:grpSpPr>
        <p:sp>
          <p:nvSpPr>
            <p:cNvPr id="91"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Oval 91"/>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3" name="Group 92"/>
          <p:cNvGrpSpPr/>
          <p:nvPr/>
        </p:nvGrpSpPr>
        <p:grpSpPr>
          <a:xfrm>
            <a:off x="3731422" y="5455814"/>
            <a:ext cx="272076" cy="376882"/>
            <a:chOff x="4147524" y="5122520"/>
            <a:chExt cx="431428" cy="578897"/>
          </a:xfrm>
          <a:solidFill>
            <a:schemeClr val="bg1">
              <a:lumMod val="95000"/>
            </a:schemeClr>
          </a:solidFill>
        </p:grpSpPr>
        <p:sp>
          <p:nvSpPr>
            <p:cNvPr id="94"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Oval 94"/>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6" name="Group 95"/>
          <p:cNvGrpSpPr/>
          <p:nvPr/>
        </p:nvGrpSpPr>
        <p:grpSpPr>
          <a:xfrm>
            <a:off x="3115361" y="5455814"/>
            <a:ext cx="272076" cy="376882"/>
            <a:chOff x="4147524" y="5122520"/>
            <a:chExt cx="431428" cy="578897"/>
          </a:xfrm>
          <a:solidFill>
            <a:schemeClr val="bg1">
              <a:lumMod val="95000"/>
            </a:schemeClr>
          </a:solidFill>
        </p:grpSpPr>
        <p:sp>
          <p:nvSpPr>
            <p:cNvPr id="97"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Oval 97"/>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9" name="Group 98"/>
          <p:cNvGrpSpPr/>
          <p:nvPr/>
        </p:nvGrpSpPr>
        <p:grpSpPr>
          <a:xfrm>
            <a:off x="8204468" y="5121101"/>
            <a:ext cx="431428" cy="578897"/>
            <a:chOff x="4147524" y="5122520"/>
            <a:chExt cx="431428" cy="578897"/>
          </a:xfrm>
        </p:grpSpPr>
        <p:sp>
          <p:nvSpPr>
            <p:cNvPr id="100"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Oval 100"/>
            <p:cNvSpPr/>
            <p:nvPr/>
          </p:nvSpPr>
          <p:spPr>
            <a:xfrm>
              <a:off x="4219821"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2" name="Group 101"/>
          <p:cNvGrpSpPr/>
          <p:nvPr/>
        </p:nvGrpSpPr>
        <p:grpSpPr>
          <a:xfrm>
            <a:off x="8402673" y="5453968"/>
            <a:ext cx="272076" cy="376882"/>
            <a:chOff x="4147524" y="5122520"/>
            <a:chExt cx="431428" cy="578897"/>
          </a:xfrm>
          <a:solidFill>
            <a:schemeClr val="bg1">
              <a:lumMod val="95000"/>
            </a:schemeClr>
          </a:solidFill>
        </p:grpSpPr>
        <p:sp>
          <p:nvSpPr>
            <p:cNvPr id="103"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Oval 103"/>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Oval 1"/>
          <p:cNvSpPr/>
          <p:nvPr/>
        </p:nvSpPr>
        <p:spPr>
          <a:xfrm>
            <a:off x="5320145" y="914400"/>
            <a:ext cx="1690255" cy="1453572"/>
          </a:xfrm>
          <a:prstGeom prst="ellipse">
            <a:avLst/>
          </a:prstGeom>
          <a:solidFill>
            <a:schemeClr val="bg1"/>
          </a:solidFill>
          <a:ln w="444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p:cNvSpPr txBox="1"/>
          <p:nvPr/>
        </p:nvSpPr>
        <p:spPr>
          <a:xfrm>
            <a:off x="5875769" y="1120988"/>
            <a:ext cx="1025236" cy="1015663"/>
          </a:xfrm>
          <a:prstGeom prst="rect">
            <a:avLst/>
          </a:prstGeom>
          <a:noFill/>
        </p:spPr>
        <p:txBody>
          <a:bodyPr wrap="square" rtlCol="0">
            <a:spAutoFit/>
          </a:bodyPr>
          <a:lstStyle/>
          <a:p>
            <a:r>
              <a:rPr lang="en-GB" sz="6000" dirty="0" smtClean="0"/>
              <a:t>R</a:t>
            </a:r>
            <a:endParaRPr lang="en-GB" sz="6000" dirty="0"/>
          </a:p>
        </p:txBody>
      </p:sp>
      <p:cxnSp>
        <p:nvCxnSpPr>
          <p:cNvPr id="52" name="Straight Arrow Connector 51"/>
          <p:cNvCxnSpPr>
            <a:stCxn id="2" idx="2"/>
          </p:cNvCxnSpPr>
          <p:nvPr/>
        </p:nvCxnSpPr>
        <p:spPr>
          <a:xfrm flipH="1">
            <a:off x="4483521" y="1641186"/>
            <a:ext cx="836624" cy="495465"/>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2" idx="6"/>
          </p:cNvCxnSpPr>
          <p:nvPr/>
        </p:nvCxnSpPr>
        <p:spPr>
          <a:xfrm>
            <a:off x="7010400" y="1641186"/>
            <a:ext cx="621745" cy="586552"/>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Rectangle 77"/>
          <p:cNvSpPr/>
          <p:nvPr/>
        </p:nvSpPr>
        <p:spPr>
          <a:xfrm>
            <a:off x="163317" y="1491402"/>
            <a:ext cx="2470302" cy="3063734"/>
          </a:xfrm>
          <a:prstGeom prst="rect">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9" name="Group 78"/>
          <p:cNvGrpSpPr/>
          <p:nvPr/>
        </p:nvGrpSpPr>
        <p:grpSpPr>
          <a:xfrm>
            <a:off x="121328" y="1521165"/>
            <a:ext cx="2386864" cy="2757880"/>
            <a:chOff x="0" y="1417956"/>
            <a:chExt cx="2386864" cy="2757880"/>
          </a:xfrm>
        </p:grpSpPr>
        <p:sp>
          <p:nvSpPr>
            <p:cNvPr id="80" name="Rectangle 79"/>
            <p:cNvSpPr/>
            <p:nvPr/>
          </p:nvSpPr>
          <p:spPr>
            <a:xfrm>
              <a:off x="0" y="2498554"/>
              <a:ext cx="2282997" cy="369332"/>
            </a:xfrm>
            <a:prstGeom prst="rect">
              <a:avLst/>
            </a:prstGeom>
          </p:spPr>
          <p:txBody>
            <a:bodyPr wrap="none">
              <a:spAutoFit/>
            </a:bodyPr>
            <a:lstStyle/>
            <a:p>
              <a:r>
                <a:rPr lang="en-GB" dirty="0">
                  <a:solidFill>
                    <a:srgbClr val="00B0F0"/>
                  </a:solidFill>
                </a:rPr>
                <a:t>social economic status</a:t>
              </a:r>
            </a:p>
          </p:txBody>
        </p:sp>
        <p:grpSp>
          <p:nvGrpSpPr>
            <p:cNvPr id="105" name="Group 104"/>
            <p:cNvGrpSpPr/>
            <p:nvPr/>
          </p:nvGrpSpPr>
          <p:grpSpPr>
            <a:xfrm>
              <a:off x="157001" y="1417956"/>
              <a:ext cx="2229863" cy="2757880"/>
              <a:chOff x="218692" y="1313328"/>
              <a:chExt cx="2229863" cy="2757880"/>
            </a:xfrm>
          </p:grpSpPr>
          <p:grpSp>
            <p:nvGrpSpPr>
              <p:cNvPr id="106" name="Group 105"/>
              <p:cNvGrpSpPr/>
              <p:nvPr/>
            </p:nvGrpSpPr>
            <p:grpSpPr>
              <a:xfrm>
                <a:off x="218692" y="1858406"/>
                <a:ext cx="2229863" cy="2212802"/>
                <a:chOff x="218692" y="1858406"/>
                <a:chExt cx="2229863" cy="2212802"/>
              </a:xfrm>
            </p:grpSpPr>
            <p:sp>
              <p:nvSpPr>
                <p:cNvPr id="108" name="Rectangle 107"/>
                <p:cNvSpPr/>
                <p:nvPr/>
              </p:nvSpPr>
              <p:spPr>
                <a:xfrm>
                  <a:off x="218692" y="1858406"/>
                  <a:ext cx="2126672" cy="369332"/>
                </a:xfrm>
                <a:prstGeom prst="rect">
                  <a:avLst/>
                </a:prstGeom>
              </p:spPr>
              <p:txBody>
                <a:bodyPr wrap="none">
                  <a:spAutoFit/>
                </a:bodyPr>
                <a:lstStyle/>
                <a:p>
                  <a:r>
                    <a:rPr lang="en-GB" dirty="0"/>
                    <a:t>duration of infertility</a:t>
                  </a:r>
                </a:p>
              </p:txBody>
            </p:sp>
            <p:sp>
              <p:nvSpPr>
                <p:cNvPr id="109" name="Rectangle 108"/>
                <p:cNvSpPr/>
                <p:nvPr/>
              </p:nvSpPr>
              <p:spPr>
                <a:xfrm>
                  <a:off x="1887022" y="2752464"/>
                  <a:ext cx="551754" cy="369332"/>
                </a:xfrm>
                <a:prstGeom prst="rect">
                  <a:avLst/>
                </a:prstGeom>
              </p:spPr>
              <p:txBody>
                <a:bodyPr wrap="none">
                  <a:spAutoFit/>
                </a:bodyPr>
                <a:lstStyle/>
                <a:p>
                  <a:r>
                    <a:rPr lang="en-GB" dirty="0" smtClean="0"/>
                    <a:t>BMI</a:t>
                  </a:r>
                  <a:endParaRPr lang="en-GB" dirty="0"/>
                </a:p>
              </p:txBody>
            </p:sp>
            <p:sp>
              <p:nvSpPr>
                <p:cNvPr id="110" name="Rectangle 109"/>
                <p:cNvSpPr/>
                <p:nvPr/>
              </p:nvSpPr>
              <p:spPr>
                <a:xfrm>
                  <a:off x="1074550" y="3222115"/>
                  <a:ext cx="663964" cy="523220"/>
                </a:xfrm>
                <a:prstGeom prst="rect">
                  <a:avLst/>
                </a:prstGeom>
              </p:spPr>
              <p:txBody>
                <a:bodyPr wrap="none">
                  <a:spAutoFit/>
                </a:bodyPr>
                <a:lstStyle/>
                <a:p>
                  <a:r>
                    <a:rPr lang="en-GB" sz="2800" dirty="0"/>
                    <a:t>age</a:t>
                  </a:r>
                </a:p>
              </p:txBody>
            </p:sp>
            <p:sp>
              <p:nvSpPr>
                <p:cNvPr id="111" name="Rectangle 110"/>
                <p:cNvSpPr/>
                <p:nvPr/>
              </p:nvSpPr>
              <p:spPr>
                <a:xfrm>
                  <a:off x="234253" y="3701876"/>
                  <a:ext cx="1460849" cy="369332"/>
                </a:xfrm>
                <a:prstGeom prst="rect">
                  <a:avLst/>
                </a:prstGeom>
              </p:spPr>
              <p:txBody>
                <a:bodyPr wrap="none">
                  <a:spAutoFit/>
                </a:bodyPr>
                <a:lstStyle/>
                <a:p>
                  <a:r>
                    <a:rPr lang="en-GB" dirty="0">
                      <a:solidFill>
                        <a:srgbClr val="FF0000"/>
                      </a:solidFill>
                    </a:rPr>
                    <a:t>culture media</a:t>
                  </a:r>
                </a:p>
              </p:txBody>
            </p:sp>
            <p:sp>
              <p:nvSpPr>
                <p:cNvPr id="112" name="Rectangle 111"/>
                <p:cNvSpPr/>
                <p:nvPr/>
              </p:nvSpPr>
              <p:spPr>
                <a:xfrm>
                  <a:off x="2175723" y="2259424"/>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sp>
              <p:nvSpPr>
                <p:cNvPr id="113" name="Rectangle 112"/>
                <p:cNvSpPr/>
                <p:nvPr/>
              </p:nvSpPr>
              <p:spPr>
                <a:xfrm>
                  <a:off x="588247" y="2989944"/>
                  <a:ext cx="399468" cy="769441"/>
                </a:xfrm>
                <a:prstGeom prst="rect">
                  <a:avLst/>
                </a:prstGeom>
              </p:spPr>
              <p:txBody>
                <a:bodyPr wrap="none">
                  <a:spAutoFit/>
                </a:bodyPr>
                <a:lstStyle/>
                <a:p>
                  <a:r>
                    <a:rPr lang="en-GB" sz="4400" dirty="0">
                      <a:solidFill>
                        <a:schemeClr val="accent1">
                          <a:lumMod val="60000"/>
                          <a:lumOff val="40000"/>
                        </a:schemeClr>
                      </a:solidFill>
                      <a:latin typeface="Agency FB" panose="020B0503020202020204" pitchFamily="34" charset="0"/>
                    </a:rPr>
                    <a:t>?</a:t>
                  </a:r>
                </a:p>
              </p:txBody>
            </p:sp>
            <p:sp>
              <p:nvSpPr>
                <p:cNvPr id="114" name="Rectangle 113"/>
                <p:cNvSpPr/>
                <p:nvPr/>
              </p:nvSpPr>
              <p:spPr>
                <a:xfrm>
                  <a:off x="2072532" y="3270775"/>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grpSp>
          <p:sp>
            <p:nvSpPr>
              <p:cNvPr id="107" name="Rectangle 106"/>
              <p:cNvSpPr/>
              <p:nvPr/>
            </p:nvSpPr>
            <p:spPr>
              <a:xfrm>
                <a:off x="843348" y="1313328"/>
                <a:ext cx="420308" cy="830997"/>
              </a:xfrm>
              <a:prstGeom prst="rect">
                <a:avLst/>
              </a:prstGeom>
            </p:spPr>
            <p:txBody>
              <a:bodyPr wrap="none">
                <a:spAutoFit/>
              </a:bodyPr>
              <a:lstStyle/>
              <a:p>
                <a:r>
                  <a:rPr lang="en-GB" sz="4800" dirty="0">
                    <a:solidFill>
                      <a:schemeClr val="accent1">
                        <a:lumMod val="60000"/>
                        <a:lumOff val="40000"/>
                      </a:schemeClr>
                    </a:solidFill>
                    <a:latin typeface="Agency FB" panose="020B0503020202020204" pitchFamily="34" charset="0"/>
                  </a:rPr>
                  <a:t>?</a:t>
                </a:r>
              </a:p>
            </p:txBody>
          </p:sp>
        </p:grpSp>
      </p:grpSp>
      <p:sp>
        <p:nvSpPr>
          <p:cNvPr id="115" name="Rectangle 114"/>
          <p:cNvSpPr/>
          <p:nvPr/>
        </p:nvSpPr>
        <p:spPr>
          <a:xfrm>
            <a:off x="9455055" y="1421914"/>
            <a:ext cx="2470302" cy="3063734"/>
          </a:xfrm>
          <a:prstGeom prst="rect">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6" name="Group 115"/>
          <p:cNvGrpSpPr/>
          <p:nvPr/>
        </p:nvGrpSpPr>
        <p:grpSpPr>
          <a:xfrm>
            <a:off x="9413066" y="1451677"/>
            <a:ext cx="2386864" cy="2757880"/>
            <a:chOff x="0" y="1417956"/>
            <a:chExt cx="2386864" cy="2757880"/>
          </a:xfrm>
        </p:grpSpPr>
        <p:sp>
          <p:nvSpPr>
            <p:cNvPr id="117" name="Rectangle 116"/>
            <p:cNvSpPr/>
            <p:nvPr/>
          </p:nvSpPr>
          <p:spPr>
            <a:xfrm>
              <a:off x="0" y="2498554"/>
              <a:ext cx="2282997" cy="369332"/>
            </a:xfrm>
            <a:prstGeom prst="rect">
              <a:avLst/>
            </a:prstGeom>
          </p:spPr>
          <p:txBody>
            <a:bodyPr wrap="none">
              <a:spAutoFit/>
            </a:bodyPr>
            <a:lstStyle/>
            <a:p>
              <a:r>
                <a:rPr lang="en-GB" dirty="0">
                  <a:solidFill>
                    <a:srgbClr val="00B0F0"/>
                  </a:solidFill>
                </a:rPr>
                <a:t>social economic status</a:t>
              </a:r>
            </a:p>
          </p:txBody>
        </p:sp>
        <p:grpSp>
          <p:nvGrpSpPr>
            <p:cNvPr id="118" name="Group 117"/>
            <p:cNvGrpSpPr/>
            <p:nvPr/>
          </p:nvGrpSpPr>
          <p:grpSpPr>
            <a:xfrm>
              <a:off x="157001" y="1417956"/>
              <a:ext cx="2229863" cy="2757880"/>
              <a:chOff x="218692" y="1313328"/>
              <a:chExt cx="2229863" cy="2757880"/>
            </a:xfrm>
          </p:grpSpPr>
          <p:grpSp>
            <p:nvGrpSpPr>
              <p:cNvPr id="119" name="Group 118"/>
              <p:cNvGrpSpPr/>
              <p:nvPr/>
            </p:nvGrpSpPr>
            <p:grpSpPr>
              <a:xfrm>
                <a:off x="218692" y="1858406"/>
                <a:ext cx="2229863" cy="2212802"/>
                <a:chOff x="218692" y="1858406"/>
                <a:chExt cx="2229863" cy="2212802"/>
              </a:xfrm>
            </p:grpSpPr>
            <p:sp>
              <p:nvSpPr>
                <p:cNvPr id="121" name="Rectangle 120"/>
                <p:cNvSpPr/>
                <p:nvPr/>
              </p:nvSpPr>
              <p:spPr>
                <a:xfrm>
                  <a:off x="218692" y="1858406"/>
                  <a:ext cx="2126672" cy="369332"/>
                </a:xfrm>
                <a:prstGeom prst="rect">
                  <a:avLst/>
                </a:prstGeom>
              </p:spPr>
              <p:txBody>
                <a:bodyPr wrap="none">
                  <a:spAutoFit/>
                </a:bodyPr>
                <a:lstStyle/>
                <a:p>
                  <a:r>
                    <a:rPr lang="en-GB" dirty="0"/>
                    <a:t>duration of infertility</a:t>
                  </a:r>
                </a:p>
              </p:txBody>
            </p:sp>
            <p:sp>
              <p:nvSpPr>
                <p:cNvPr id="122" name="Rectangle 121"/>
                <p:cNvSpPr/>
                <p:nvPr/>
              </p:nvSpPr>
              <p:spPr>
                <a:xfrm>
                  <a:off x="1887022" y="2752464"/>
                  <a:ext cx="551754" cy="369332"/>
                </a:xfrm>
                <a:prstGeom prst="rect">
                  <a:avLst/>
                </a:prstGeom>
              </p:spPr>
              <p:txBody>
                <a:bodyPr wrap="none">
                  <a:spAutoFit/>
                </a:bodyPr>
                <a:lstStyle/>
                <a:p>
                  <a:r>
                    <a:rPr lang="en-GB" dirty="0" smtClean="0"/>
                    <a:t>BMI</a:t>
                  </a:r>
                  <a:endParaRPr lang="en-GB" dirty="0"/>
                </a:p>
              </p:txBody>
            </p:sp>
            <p:sp>
              <p:nvSpPr>
                <p:cNvPr id="123" name="Rectangle 122"/>
                <p:cNvSpPr/>
                <p:nvPr/>
              </p:nvSpPr>
              <p:spPr>
                <a:xfrm>
                  <a:off x="1074550" y="3222115"/>
                  <a:ext cx="663964" cy="523220"/>
                </a:xfrm>
                <a:prstGeom prst="rect">
                  <a:avLst/>
                </a:prstGeom>
              </p:spPr>
              <p:txBody>
                <a:bodyPr wrap="none">
                  <a:spAutoFit/>
                </a:bodyPr>
                <a:lstStyle/>
                <a:p>
                  <a:r>
                    <a:rPr lang="en-GB" sz="2800" dirty="0"/>
                    <a:t>age</a:t>
                  </a:r>
                </a:p>
              </p:txBody>
            </p:sp>
            <p:sp>
              <p:nvSpPr>
                <p:cNvPr id="124" name="Rectangle 123"/>
                <p:cNvSpPr/>
                <p:nvPr/>
              </p:nvSpPr>
              <p:spPr>
                <a:xfrm>
                  <a:off x="234253" y="3701876"/>
                  <a:ext cx="1460849" cy="369332"/>
                </a:xfrm>
                <a:prstGeom prst="rect">
                  <a:avLst/>
                </a:prstGeom>
              </p:spPr>
              <p:txBody>
                <a:bodyPr wrap="none">
                  <a:spAutoFit/>
                </a:bodyPr>
                <a:lstStyle/>
                <a:p>
                  <a:r>
                    <a:rPr lang="en-GB" dirty="0">
                      <a:solidFill>
                        <a:srgbClr val="FF0000"/>
                      </a:solidFill>
                    </a:rPr>
                    <a:t>culture media</a:t>
                  </a:r>
                </a:p>
              </p:txBody>
            </p:sp>
            <p:sp>
              <p:nvSpPr>
                <p:cNvPr id="125" name="Rectangle 124"/>
                <p:cNvSpPr/>
                <p:nvPr/>
              </p:nvSpPr>
              <p:spPr>
                <a:xfrm>
                  <a:off x="2175723" y="2259424"/>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sp>
              <p:nvSpPr>
                <p:cNvPr id="126" name="Rectangle 125"/>
                <p:cNvSpPr/>
                <p:nvPr/>
              </p:nvSpPr>
              <p:spPr>
                <a:xfrm>
                  <a:off x="588247" y="2989944"/>
                  <a:ext cx="399468" cy="769441"/>
                </a:xfrm>
                <a:prstGeom prst="rect">
                  <a:avLst/>
                </a:prstGeom>
              </p:spPr>
              <p:txBody>
                <a:bodyPr wrap="none">
                  <a:spAutoFit/>
                </a:bodyPr>
                <a:lstStyle/>
                <a:p>
                  <a:r>
                    <a:rPr lang="en-GB" sz="4400" dirty="0">
                      <a:solidFill>
                        <a:schemeClr val="accent1">
                          <a:lumMod val="60000"/>
                          <a:lumOff val="40000"/>
                        </a:schemeClr>
                      </a:solidFill>
                      <a:latin typeface="Agency FB" panose="020B0503020202020204" pitchFamily="34" charset="0"/>
                    </a:rPr>
                    <a:t>?</a:t>
                  </a:r>
                </a:p>
              </p:txBody>
            </p:sp>
            <p:sp>
              <p:nvSpPr>
                <p:cNvPr id="127" name="Rectangle 126"/>
                <p:cNvSpPr/>
                <p:nvPr/>
              </p:nvSpPr>
              <p:spPr>
                <a:xfrm>
                  <a:off x="2072532" y="3270775"/>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grpSp>
          <p:sp>
            <p:nvSpPr>
              <p:cNvPr id="120" name="Rectangle 119"/>
              <p:cNvSpPr/>
              <p:nvPr/>
            </p:nvSpPr>
            <p:spPr>
              <a:xfrm>
                <a:off x="843348" y="1313328"/>
                <a:ext cx="420308" cy="830997"/>
              </a:xfrm>
              <a:prstGeom prst="rect">
                <a:avLst/>
              </a:prstGeom>
            </p:spPr>
            <p:txBody>
              <a:bodyPr wrap="none">
                <a:spAutoFit/>
              </a:bodyPr>
              <a:lstStyle/>
              <a:p>
                <a:r>
                  <a:rPr lang="en-GB" sz="4800" dirty="0">
                    <a:solidFill>
                      <a:schemeClr val="accent1">
                        <a:lumMod val="60000"/>
                        <a:lumOff val="40000"/>
                      </a:schemeClr>
                    </a:solidFill>
                    <a:latin typeface="Agency FB" panose="020B0503020202020204" pitchFamily="34" charset="0"/>
                  </a:rPr>
                  <a:t>?</a:t>
                </a:r>
              </a:p>
            </p:txBody>
          </p:sp>
        </p:grpSp>
      </p:grpSp>
      <p:cxnSp>
        <p:nvCxnSpPr>
          <p:cNvPr id="53" name="Straight Connector 52"/>
          <p:cNvCxnSpPr/>
          <p:nvPr/>
        </p:nvCxnSpPr>
        <p:spPr>
          <a:xfrm flipH="1">
            <a:off x="293890" y="4087652"/>
            <a:ext cx="1571855" cy="23171"/>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H="1">
            <a:off x="1134187" y="3691031"/>
            <a:ext cx="7315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554182" y="3582501"/>
            <a:ext cx="4931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2132169" y="3640107"/>
            <a:ext cx="2721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a:xfrm>
            <a:off x="2021662" y="3157613"/>
            <a:ext cx="4931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a:off x="2094907" y="2646062"/>
            <a:ext cx="4931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a:endCxn id="112" idx="2"/>
          </p:cNvCxnSpPr>
          <p:nvPr/>
        </p:nvCxnSpPr>
        <p:spPr>
          <a:xfrm>
            <a:off x="217055" y="2825047"/>
            <a:ext cx="2154721" cy="1154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V="1">
            <a:off x="278329" y="2282674"/>
            <a:ext cx="2063163" cy="34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a:off x="902985" y="1870585"/>
            <a:ext cx="4931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a:off x="10194723" y="1867175"/>
            <a:ext cx="4931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9701553" y="2227738"/>
            <a:ext cx="196196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1313738" y="3115914"/>
            <a:ext cx="4931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9939622" y="3547488"/>
            <a:ext cx="4931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0553307" y="3703677"/>
            <a:ext cx="4931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a:off x="11423907" y="3622074"/>
            <a:ext cx="23960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a:xfrm>
            <a:off x="9701553" y="4056145"/>
            <a:ext cx="1344924" cy="1506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a:off x="9570067" y="2751458"/>
            <a:ext cx="199025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a:xfrm>
            <a:off x="11560323" y="2575349"/>
            <a:ext cx="135740" cy="709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1754739" y="5858093"/>
            <a:ext cx="11297849" cy="584775"/>
          </a:xfrm>
          <a:prstGeom prst="rect">
            <a:avLst/>
          </a:prstGeom>
          <a:noFill/>
        </p:spPr>
        <p:txBody>
          <a:bodyPr wrap="square" rtlCol="0">
            <a:spAutoFit/>
          </a:bodyPr>
          <a:lstStyle/>
          <a:p>
            <a:r>
              <a:rPr lang="en-GB" sz="3200" dirty="0" smtClean="0"/>
              <a:t>“But not everything will be perfectly balanced!”</a:t>
            </a:r>
            <a:endParaRPr lang="en-GB" sz="3200" dirty="0"/>
          </a:p>
        </p:txBody>
      </p:sp>
    </p:spTree>
    <p:extLst>
      <p:ext uri="{BB962C8B-B14F-4D97-AF65-F5344CB8AC3E}">
        <p14:creationId xmlns:p14="http://schemas.microsoft.com/office/powerpoint/2010/main" val="188868278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Rectangle 141"/>
          <p:cNvSpPr/>
          <p:nvPr/>
        </p:nvSpPr>
        <p:spPr>
          <a:xfrm>
            <a:off x="562524" y="1544986"/>
            <a:ext cx="10852727" cy="6858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5" name="Group 24"/>
          <p:cNvGrpSpPr/>
          <p:nvPr/>
        </p:nvGrpSpPr>
        <p:grpSpPr>
          <a:xfrm>
            <a:off x="2818152" y="2176341"/>
            <a:ext cx="1584547" cy="2185734"/>
            <a:chOff x="1815829" y="1261360"/>
            <a:chExt cx="1584547" cy="2185734"/>
          </a:xfrm>
        </p:grpSpPr>
        <p:grpSp>
          <p:nvGrpSpPr>
            <p:cNvPr id="6" name="Group 5"/>
            <p:cNvGrpSpPr/>
            <p:nvPr/>
          </p:nvGrpSpPr>
          <p:grpSpPr>
            <a:xfrm>
              <a:off x="2393504" y="2009302"/>
              <a:ext cx="431428" cy="575117"/>
              <a:chOff x="2887410" y="414748"/>
              <a:chExt cx="431428" cy="575117"/>
            </a:xfrm>
          </p:grpSpPr>
          <p:sp>
            <p:nvSpPr>
              <p:cNvPr id="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 name="Group 6"/>
            <p:cNvGrpSpPr/>
            <p:nvPr/>
          </p:nvGrpSpPr>
          <p:grpSpPr>
            <a:xfrm>
              <a:off x="2968948" y="1718435"/>
              <a:ext cx="431428" cy="575117"/>
              <a:chOff x="2887410" y="414748"/>
              <a:chExt cx="431428" cy="575117"/>
            </a:xfrm>
          </p:grpSpPr>
          <p:sp>
            <p:nvSpPr>
              <p:cNvPr id="8"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 name="Group 9"/>
            <p:cNvGrpSpPr/>
            <p:nvPr/>
          </p:nvGrpSpPr>
          <p:grpSpPr>
            <a:xfrm>
              <a:off x="1890068" y="1737899"/>
              <a:ext cx="431428" cy="575117"/>
              <a:chOff x="2887410" y="414748"/>
              <a:chExt cx="431428" cy="575117"/>
            </a:xfrm>
          </p:grpSpPr>
          <p:sp>
            <p:nvSpPr>
              <p:cNvPr id="11"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 name="Group 12"/>
            <p:cNvGrpSpPr/>
            <p:nvPr/>
          </p:nvGrpSpPr>
          <p:grpSpPr>
            <a:xfrm>
              <a:off x="2825242" y="2584419"/>
              <a:ext cx="431428" cy="575117"/>
              <a:chOff x="2887410" y="414748"/>
              <a:chExt cx="431428" cy="575117"/>
            </a:xfrm>
          </p:grpSpPr>
          <p:sp>
            <p:nvSpPr>
              <p:cNvPr id="1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6" name="Group 15"/>
            <p:cNvGrpSpPr/>
            <p:nvPr/>
          </p:nvGrpSpPr>
          <p:grpSpPr>
            <a:xfrm>
              <a:off x="2343351" y="2871977"/>
              <a:ext cx="431428" cy="575117"/>
              <a:chOff x="2887410" y="414748"/>
              <a:chExt cx="431428" cy="575117"/>
            </a:xfrm>
          </p:grpSpPr>
          <p:sp>
            <p:nvSpPr>
              <p:cNvPr id="17"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 name="Group 18"/>
            <p:cNvGrpSpPr/>
            <p:nvPr/>
          </p:nvGrpSpPr>
          <p:grpSpPr>
            <a:xfrm>
              <a:off x="1815829" y="2440876"/>
              <a:ext cx="431428" cy="575117"/>
              <a:chOff x="2887410" y="414748"/>
              <a:chExt cx="431428" cy="575117"/>
            </a:xfrm>
          </p:grpSpPr>
          <p:sp>
            <p:nvSpPr>
              <p:cNvPr id="20"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 name="Group 21"/>
            <p:cNvGrpSpPr/>
            <p:nvPr/>
          </p:nvGrpSpPr>
          <p:grpSpPr>
            <a:xfrm>
              <a:off x="2434983" y="1261360"/>
              <a:ext cx="431428" cy="575117"/>
              <a:chOff x="2887410" y="414748"/>
              <a:chExt cx="431428" cy="575117"/>
            </a:xfrm>
          </p:grpSpPr>
          <p:sp>
            <p:nvSpPr>
              <p:cNvPr id="23"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6" name="Group 25"/>
          <p:cNvGrpSpPr/>
          <p:nvPr/>
        </p:nvGrpSpPr>
        <p:grpSpPr>
          <a:xfrm>
            <a:off x="7560137" y="2083722"/>
            <a:ext cx="1584547" cy="2185734"/>
            <a:chOff x="1815829" y="1261360"/>
            <a:chExt cx="1584547" cy="2185734"/>
          </a:xfrm>
        </p:grpSpPr>
        <p:grpSp>
          <p:nvGrpSpPr>
            <p:cNvPr id="27" name="Group 26"/>
            <p:cNvGrpSpPr/>
            <p:nvPr/>
          </p:nvGrpSpPr>
          <p:grpSpPr>
            <a:xfrm>
              <a:off x="2393504" y="2009302"/>
              <a:ext cx="431428" cy="575117"/>
              <a:chOff x="2887410" y="414748"/>
              <a:chExt cx="431428" cy="575117"/>
            </a:xfrm>
          </p:grpSpPr>
          <p:sp>
            <p:nvSpPr>
              <p:cNvPr id="46"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Oval 46"/>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8" name="Group 27"/>
            <p:cNvGrpSpPr/>
            <p:nvPr/>
          </p:nvGrpSpPr>
          <p:grpSpPr>
            <a:xfrm>
              <a:off x="2968948" y="1718435"/>
              <a:ext cx="431428" cy="575117"/>
              <a:chOff x="2887410" y="414748"/>
              <a:chExt cx="431428" cy="575117"/>
            </a:xfrm>
          </p:grpSpPr>
          <p:sp>
            <p:nvSpPr>
              <p:cNvPr id="4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Oval 4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9" name="Group 28"/>
            <p:cNvGrpSpPr/>
            <p:nvPr/>
          </p:nvGrpSpPr>
          <p:grpSpPr>
            <a:xfrm>
              <a:off x="1890068" y="1737899"/>
              <a:ext cx="431428" cy="575117"/>
              <a:chOff x="2887410" y="414748"/>
              <a:chExt cx="431428" cy="575117"/>
            </a:xfrm>
          </p:grpSpPr>
          <p:sp>
            <p:nvSpPr>
              <p:cNvPr id="42"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Oval 42"/>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0" name="Group 29"/>
            <p:cNvGrpSpPr/>
            <p:nvPr/>
          </p:nvGrpSpPr>
          <p:grpSpPr>
            <a:xfrm>
              <a:off x="2825242" y="2584419"/>
              <a:ext cx="431428" cy="575117"/>
              <a:chOff x="2887410" y="414748"/>
              <a:chExt cx="431428" cy="575117"/>
            </a:xfrm>
          </p:grpSpPr>
          <p:sp>
            <p:nvSpPr>
              <p:cNvPr id="40"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Oval 40"/>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1" name="Group 30"/>
            <p:cNvGrpSpPr/>
            <p:nvPr/>
          </p:nvGrpSpPr>
          <p:grpSpPr>
            <a:xfrm>
              <a:off x="2343351" y="2871977"/>
              <a:ext cx="431428" cy="575117"/>
              <a:chOff x="2887410" y="414748"/>
              <a:chExt cx="431428" cy="575117"/>
            </a:xfrm>
          </p:grpSpPr>
          <p:sp>
            <p:nvSpPr>
              <p:cNvPr id="38"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Oval 38"/>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2" name="Group 31"/>
            <p:cNvGrpSpPr/>
            <p:nvPr/>
          </p:nvGrpSpPr>
          <p:grpSpPr>
            <a:xfrm>
              <a:off x="1815829" y="2440876"/>
              <a:ext cx="431428" cy="575117"/>
              <a:chOff x="2887410" y="414748"/>
              <a:chExt cx="431428" cy="575117"/>
            </a:xfrm>
          </p:grpSpPr>
          <p:sp>
            <p:nvSpPr>
              <p:cNvPr id="36"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Oval 36"/>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3" name="Group 32"/>
            <p:cNvGrpSpPr/>
            <p:nvPr/>
          </p:nvGrpSpPr>
          <p:grpSpPr>
            <a:xfrm>
              <a:off x="2434983" y="1261360"/>
              <a:ext cx="431428" cy="575117"/>
              <a:chOff x="2887410" y="414748"/>
              <a:chExt cx="431428" cy="575117"/>
            </a:xfrm>
          </p:grpSpPr>
          <p:sp>
            <p:nvSpPr>
              <p:cNvPr id="34" name="Oval 4"/>
              <p:cNvSpPr/>
              <p:nvPr/>
            </p:nvSpPr>
            <p:spPr>
              <a:xfrm>
                <a:off x="2887410" y="698998"/>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Oval 34"/>
              <p:cNvSpPr/>
              <p:nvPr/>
            </p:nvSpPr>
            <p:spPr>
              <a:xfrm>
                <a:off x="2959418" y="414748"/>
                <a:ext cx="287412" cy="28803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48" name="Rectangle 47"/>
          <p:cNvSpPr/>
          <p:nvPr/>
        </p:nvSpPr>
        <p:spPr>
          <a:xfrm>
            <a:off x="121328" y="281958"/>
            <a:ext cx="11707244" cy="584775"/>
          </a:xfrm>
          <a:prstGeom prst="rect">
            <a:avLst/>
          </a:prstGeom>
        </p:spPr>
        <p:txBody>
          <a:bodyPr wrap="square">
            <a:spAutoFit/>
          </a:bodyPr>
          <a:lstStyle/>
          <a:p>
            <a:r>
              <a:rPr lang="en-GB" sz="3200" dirty="0" smtClean="0"/>
              <a:t>In RCTs, we </a:t>
            </a:r>
            <a:r>
              <a:rPr lang="en-GB" sz="3200" b="1" dirty="0" smtClean="0"/>
              <a:t>randomly</a:t>
            </a:r>
            <a:r>
              <a:rPr lang="en-GB" sz="3200" dirty="0" smtClean="0"/>
              <a:t> allocate to groups</a:t>
            </a:r>
            <a:endParaRPr lang="en-GB" sz="3200" dirty="0"/>
          </a:p>
        </p:txBody>
      </p:sp>
      <p:sp>
        <p:nvSpPr>
          <p:cNvPr id="49" name="TextBox 48"/>
          <p:cNvSpPr txBox="1"/>
          <p:nvPr/>
        </p:nvSpPr>
        <p:spPr>
          <a:xfrm>
            <a:off x="2715849" y="1491402"/>
            <a:ext cx="1791384" cy="523220"/>
          </a:xfrm>
          <a:prstGeom prst="rect">
            <a:avLst/>
          </a:prstGeom>
          <a:noFill/>
        </p:spPr>
        <p:txBody>
          <a:bodyPr wrap="square" rtlCol="0">
            <a:spAutoFit/>
          </a:bodyPr>
          <a:lstStyle/>
          <a:p>
            <a:pPr algn="ctr"/>
            <a:r>
              <a:rPr lang="en-GB" sz="2800" dirty="0" smtClean="0"/>
              <a:t>Group A</a:t>
            </a:r>
            <a:endParaRPr lang="en-GB" sz="2800" dirty="0"/>
          </a:p>
        </p:txBody>
      </p:sp>
      <p:sp>
        <p:nvSpPr>
          <p:cNvPr id="50" name="Rectangle 49"/>
          <p:cNvSpPr/>
          <p:nvPr/>
        </p:nvSpPr>
        <p:spPr>
          <a:xfrm>
            <a:off x="7816846" y="1495318"/>
            <a:ext cx="1443730" cy="523220"/>
          </a:xfrm>
          <a:prstGeom prst="rect">
            <a:avLst/>
          </a:prstGeom>
        </p:spPr>
        <p:txBody>
          <a:bodyPr wrap="none">
            <a:spAutoFit/>
          </a:bodyPr>
          <a:lstStyle/>
          <a:p>
            <a:pPr algn="ctr"/>
            <a:r>
              <a:rPr lang="en-GB" sz="2800" dirty="0"/>
              <a:t>Group </a:t>
            </a:r>
            <a:r>
              <a:rPr lang="en-GB" sz="2800" dirty="0" smtClean="0"/>
              <a:t>B</a:t>
            </a:r>
            <a:endParaRPr lang="en-GB" sz="2800" dirty="0"/>
          </a:p>
        </p:txBody>
      </p:sp>
      <p:sp>
        <p:nvSpPr>
          <p:cNvPr id="81" name="Down Arrow 80"/>
          <p:cNvSpPr/>
          <p:nvPr/>
        </p:nvSpPr>
        <p:spPr>
          <a:xfrm>
            <a:off x="3402417" y="4520959"/>
            <a:ext cx="317941" cy="554182"/>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Down Arrow 81"/>
          <p:cNvSpPr/>
          <p:nvPr/>
        </p:nvSpPr>
        <p:spPr>
          <a:xfrm>
            <a:off x="8236034" y="4490537"/>
            <a:ext cx="317941" cy="554182"/>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Oval 4"/>
          <p:cNvSpPr/>
          <p:nvPr/>
        </p:nvSpPr>
        <p:spPr>
          <a:xfrm>
            <a:off x="3561388" y="5410552"/>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Oval 83"/>
          <p:cNvSpPr/>
          <p:nvPr/>
        </p:nvSpPr>
        <p:spPr>
          <a:xfrm>
            <a:off x="3633396"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Oval 84"/>
          <p:cNvSpPr/>
          <p:nvPr/>
        </p:nvSpPr>
        <p:spPr>
          <a:xfrm>
            <a:off x="3012653"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Oval 4"/>
          <p:cNvSpPr/>
          <p:nvPr/>
        </p:nvSpPr>
        <p:spPr>
          <a:xfrm>
            <a:off x="2950250" y="5410551"/>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9" name="Group 88"/>
          <p:cNvGrpSpPr/>
          <p:nvPr/>
        </p:nvGrpSpPr>
        <p:grpSpPr>
          <a:xfrm>
            <a:off x="4147524" y="5122520"/>
            <a:ext cx="431428" cy="578897"/>
            <a:chOff x="4147524" y="5122520"/>
            <a:chExt cx="431428" cy="578897"/>
          </a:xfrm>
        </p:grpSpPr>
        <p:sp>
          <p:nvSpPr>
            <p:cNvPr id="87"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Oval 87"/>
            <p:cNvSpPr/>
            <p:nvPr/>
          </p:nvSpPr>
          <p:spPr>
            <a:xfrm>
              <a:off x="4219821"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0" name="Group 89"/>
          <p:cNvGrpSpPr/>
          <p:nvPr/>
        </p:nvGrpSpPr>
        <p:grpSpPr>
          <a:xfrm>
            <a:off x="4347483" y="5454891"/>
            <a:ext cx="272076" cy="376882"/>
            <a:chOff x="4147524" y="5122520"/>
            <a:chExt cx="431428" cy="578897"/>
          </a:xfrm>
          <a:solidFill>
            <a:schemeClr val="bg1">
              <a:lumMod val="95000"/>
            </a:schemeClr>
          </a:solidFill>
        </p:grpSpPr>
        <p:sp>
          <p:nvSpPr>
            <p:cNvPr id="91"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Oval 91"/>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3" name="Group 92"/>
          <p:cNvGrpSpPr/>
          <p:nvPr/>
        </p:nvGrpSpPr>
        <p:grpSpPr>
          <a:xfrm>
            <a:off x="3731422" y="5455814"/>
            <a:ext cx="272076" cy="376882"/>
            <a:chOff x="4147524" y="5122520"/>
            <a:chExt cx="431428" cy="578897"/>
          </a:xfrm>
          <a:solidFill>
            <a:schemeClr val="bg1">
              <a:lumMod val="95000"/>
            </a:schemeClr>
          </a:solidFill>
        </p:grpSpPr>
        <p:sp>
          <p:nvSpPr>
            <p:cNvPr id="94"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Oval 94"/>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6" name="Group 95"/>
          <p:cNvGrpSpPr/>
          <p:nvPr/>
        </p:nvGrpSpPr>
        <p:grpSpPr>
          <a:xfrm>
            <a:off x="3115361" y="5455814"/>
            <a:ext cx="272076" cy="376882"/>
            <a:chOff x="4147524" y="5122520"/>
            <a:chExt cx="431428" cy="578897"/>
          </a:xfrm>
          <a:solidFill>
            <a:schemeClr val="bg1">
              <a:lumMod val="95000"/>
            </a:schemeClr>
          </a:solidFill>
        </p:grpSpPr>
        <p:sp>
          <p:nvSpPr>
            <p:cNvPr id="97"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Oval 97"/>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9" name="Group 98"/>
          <p:cNvGrpSpPr/>
          <p:nvPr/>
        </p:nvGrpSpPr>
        <p:grpSpPr>
          <a:xfrm>
            <a:off x="8204468" y="5121101"/>
            <a:ext cx="431428" cy="578897"/>
            <a:chOff x="4147524" y="5122520"/>
            <a:chExt cx="431428" cy="578897"/>
          </a:xfrm>
        </p:grpSpPr>
        <p:sp>
          <p:nvSpPr>
            <p:cNvPr id="100"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Oval 100"/>
            <p:cNvSpPr/>
            <p:nvPr/>
          </p:nvSpPr>
          <p:spPr>
            <a:xfrm>
              <a:off x="4219821" y="5122520"/>
              <a:ext cx="287412" cy="288032"/>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2" name="Group 101"/>
          <p:cNvGrpSpPr/>
          <p:nvPr/>
        </p:nvGrpSpPr>
        <p:grpSpPr>
          <a:xfrm>
            <a:off x="8402673" y="5453968"/>
            <a:ext cx="272076" cy="376882"/>
            <a:chOff x="4147524" y="5122520"/>
            <a:chExt cx="431428" cy="578897"/>
          </a:xfrm>
          <a:solidFill>
            <a:schemeClr val="bg1">
              <a:lumMod val="95000"/>
            </a:schemeClr>
          </a:solidFill>
        </p:grpSpPr>
        <p:sp>
          <p:nvSpPr>
            <p:cNvPr id="103" name="Oval 4"/>
            <p:cNvSpPr/>
            <p:nvPr/>
          </p:nvSpPr>
          <p:spPr>
            <a:xfrm>
              <a:off x="4147524" y="5410550"/>
              <a:ext cx="431428" cy="290867"/>
            </a:xfrm>
            <a:custGeom>
              <a:avLst/>
              <a:gdLst/>
              <a:ahLst/>
              <a:cxnLst/>
              <a:rect l="l" t="t" r="r" b="b"/>
              <a:pathLst>
                <a:path w="431428" h="290867">
                  <a:moveTo>
                    <a:pt x="215714" y="0"/>
                  </a:moveTo>
                  <a:cubicBezTo>
                    <a:pt x="334850" y="0"/>
                    <a:pt x="431428" y="97564"/>
                    <a:pt x="431428" y="217915"/>
                  </a:cubicBezTo>
                  <a:cubicBezTo>
                    <a:pt x="431428" y="243610"/>
                    <a:pt x="427026" y="268266"/>
                    <a:pt x="418124" y="290867"/>
                  </a:cubicBezTo>
                  <a:lnTo>
                    <a:pt x="13304" y="290867"/>
                  </a:lnTo>
                  <a:cubicBezTo>
                    <a:pt x="4402" y="268266"/>
                    <a:pt x="0" y="243610"/>
                    <a:pt x="0" y="217915"/>
                  </a:cubicBezTo>
                  <a:cubicBezTo>
                    <a:pt x="0" y="97564"/>
                    <a:pt x="96578" y="0"/>
                    <a:pt x="215714" y="0"/>
                  </a:cubicBez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Oval 103"/>
            <p:cNvSpPr/>
            <p:nvPr/>
          </p:nvSpPr>
          <p:spPr>
            <a:xfrm>
              <a:off x="4219821" y="5122520"/>
              <a:ext cx="287412" cy="288032"/>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Oval 1"/>
          <p:cNvSpPr/>
          <p:nvPr/>
        </p:nvSpPr>
        <p:spPr>
          <a:xfrm>
            <a:off x="5320145" y="914400"/>
            <a:ext cx="1690255" cy="1453572"/>
          </a:xfrm>
          <a:prstGeom prst="ellipse">
            <a:avLst/>
          </a:prstGeom>
          <a:solidFill>
            <a:schemeClr val="bg1"/>
          </a:solidFill>
          <a:ln w="444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p:cNvSpPr txBox="1"/>
          <p:nvPr/>
        </p:nvSpPr>
        <p:spPr>
          <a:xfrm>
            <a:off x="5875769" y="1120988"/>
            <a:ext cx="1025236" cy="1015663"/>
          </a:xfrm>
          <a:prstGeom prst="rect">
            <a:avLst/>
          </a:prstGeom>
          <a:noFill/>
        </p:spPr>
        <p:txBody>
          <a:bodyPr wrap="square" rtlCol="0">
            <a:spAutoFit/>
          </a:bodyPr>
          <a:lstStyle/>
          <a:p>
            <a:r>
              <a:rPr lang="en-GB" sz="6000" dirty="0" smtClean="0"/>
              <a:t>R</a:t>
            </a:r>
            <a:endParaRPr lang="en-GB" sz="6000" dirty="0"/>
          </a:p>
        </p:txBody>
      </p:sp>
      <p:cxnSp>
        <p:nvCxnSpPr>
          <p:cNvPr id="52" name="Straight Arrow Connector 51"/>
          <p:cNvCxnSpPr>
            <a:stCxn id="2" idx="2"/>
          </p:cNvCxnSpPr>
          <p:nvPr/>
        </p:nvCxnSpPr>
        <p:spPr>
          <a:xfrm flipH="1">
            <a:off x="4483521" y="1641186"/>
            <a:ext cx="836624" cy="495465"/>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2" idx="6"/>
          </p:cNvCxnSpPr>
          <p:nvPr/>
        </p:nvCxnSpPr>
        <p:spPr>
          <a:xfrm>
            <a:off x="7010400" y="1641186"/>
            <a:ext cx="621745" cy="586552"/>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Rectangle 77"/>
          <p:cNvSpPr/>
          <p:nvPr/>
        </p:nvSpPr>
        <p:spPr>
          <a:xfrm>
            <a:off x="163317" y="1491402"/>
            <a:ext cx="2470302" cy="3063734"/>
          </a:xfrm>
          <a:prstGeom prst="rect">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9" name="Group 78"/>
          <p:cNvGrpSpPr/>
          <p:nvPr/>
        </p:nvGrpSpPr>
        <p:grpSpPr>
          <a:xfrm>
            <a:off x="121328" y="1521165"/>
            <a:ext cx="2386864" cy="2757880"/>
            <a:chOff x="0" y="1417956"/>
            <a:chExt cx="2386864" cy="2757880"/>
          </a:xfrm>
        </p:grpSpPr>
        <p:sp>
          <p:nvSpPr>
            <p:cNvPr id="80" name="Rectangle 79"/>
            <p:cNvSpPr/>
            <p:nvPr/>
          </p:nvSpPr>
          <p:spPr>
            <a:xfrm>
              <a:off x="0" y="2498554"/>
              <a:ext cx="2282997" cy="369332"/>
            </a:xfrm>
            <a:prstGeom prst="rect">
              <a:avLst/>
            </a:prstGeom>
          </p:spPr>
          <p:txBody>
            <a:bodyPr wrap="none">
              <a:spAutoFit/>
            </a:bodyPr>
            <a:lstStyle/>
            <a:p>
              <a:r>
                <a:rPr lang="en-GB" dirty="0">
                  <a:solidFill>
                    <a:srgbClr val="00B0F0"/>
                  </a:solidFill>
                </a:rPr>
                <a:t>social economic status</a:t>
              </a:r>
            </a:p>
          </p:txBody>
        </p:sp>
        <p:grpSp>
          <p:nvGrpSpPr>
            <p:cNvPr id="105" name="Group 104"/>
            <p:cNvGrpSpPr/>
            <p:nvPr/>
          </p:nvGrpSpPr>
          <p:grpSpPr>
            <a:xfrm>
              <a:off x="157001" y="1417956"/>
              <a:ext cx="2229863" cy="2757880"/>
              <a:chOff x="218692" y="1313328"/>
              <a:chExt cx="2229863" cy="2757880"/>
            </a:xfrm>
          </p:grpSpPr>
          <p:grpSp>
            <p:nvGrpSpPr>
              <p:cNvPr id="106" name="Group 105"/>
              <p:cNvGrpSpPr/>
              <p:nvPr/>
            </p:nvGrpSpPr>
            <p:grpSpPr>
              <a:xfrm>
                <a:off x="218692" y="1858406"/>
                <a:ext cx="2229863" cy="2212802"/>
                <a:chOff x="218692" y="1858406"/>
                <a:chExt cx="2229863" cy="2212802"/>
              </a:xfrm>
            </p:grpSpPr>
            <p:sp>
              <p:nvSpPr>
                <p:cNvPr id="108" name="Rectangle 107"/>
                <p:cNvSpPr/>
                <p:nvPr/>
              </p:nvSpPr>
              <p:spPr>
                <a:xfrm>
                  <a:off x="218692" y="1858406"/>
                  <a:ext cx="2126672" cy="369332"/>
                </a:xfrm>
                <a:prstGeom prst="rect">
                  <a:avLst/>
                </a:prstGeom>
              </p:spPr>
              <p:txBody>
                <a:bodyPr wrap="none">
                  <a:spAutoFit/>
                </a:bodyPr>
                <a:lstStyle/>
                <a:p>
                  <a:r>
                    <a:rPr lang="en-GB" dirty="0"/>
                    <a:t>duration of infertility</a:t>
                  </a:r>
                </a:p>
              </p:txBody>
            </p:sp>
            <p:sp>
              <p:nvSpPr>
                <p:cNvPr id="109" name="Rectangle 108"/>
                <p:cNvSpPr/>
                <p:nvPr/>
              </p:nvSpPr>
              <p:spPr>
                <a:xfrm>
                  <a:off x="1887022" y="2752464"/>
                  <a:ext cx="551754" cy="369332"/>
                </a:xfrm>
                <a:prstGeom prst="rect">
                  <a:avLst/>
                </a:prstGeom>
              </p:spPr>
              <p:txBody>
                <a:bodyPr wrap="none">
                  <a:spAutoFit/>
                </a:bodyPr>
                <a:lstStyle/>
                <a:p>
                  <a:r>
                    <a:rPr lang="en-GB" dirty="0" smtClean="0"/>
                    <a:t>BMI</a:t>
                  </a:r>
                  <a:endParaRPr lang="en-GB" dirty="0"/>
                </a:p>
              </p:txBody>
            </p:sp>
            <p:sp>
              <p:nvSpPr>
                <p:cNvPr id="110" name="Rectangle 109"/>
                <p:cNvSpPr/>
                <p:nvPr/>
              </p:nvSpPr>
              <p:spPr>
                <a:xfrm>
                  <a:off x="1074550" y="3222115"/>
                  <a:ext cx="663964" cy="523220"/>
                </a:xfrm>
                <a:prstGeom prst="rect">
                  <a:avLst/>
                </a:prstGeom>
              </p:spPr>
              <p:txBody>
                <a:bodyPr wrap="none">
                  <a:spAutoFit/>
                </a:bodyPr>
                <a:lstStyle/>
                <a:p>
                  <a:r>
                    <a:rPr lang="en-GB" sz="2800" dirty="0"/>
                    <a:t>age</a:t>
                  </a:r>
                </a:p>
              </p:txBody>
            </p:sp>
            <p:sp>
              <p:nvSpPr>
                <p:cNvPr id="111" name="Rectangle 110"/>
                <p:cNvSpPr/>
                <p:nvPr/>
              </p:nvSpPr>
              <p:spPr>
                <a:xfrm>
                  <a:off x="234253" y="3701876"/>
                  <a:ext cx="1460849" cy="369332"/>
                </a:xfrm>
                <a:prstGeom prst="rect">
                  <a:avLst/>
                </a:prstGeom>
              </p:spPr>
              <p:txBody>
                <a:bodyPr wrap="none">
                  <a:spAutoFit/>
                </a:bodyPr>
                <a:lstStyle/>
                <a:p>
                  <a:r>
                    <a:rPr lang="en-GB" dirty="0">
                      <a:solidFill>
                        <a:srgbClr val="FF0000"/>
                      </a:solidFill>
                    </a:rPr>
                    <a:t>culture media</a:t>
                  </a:r>
                </a:p>
              </p:txBody>
            </p:sp>
            <p:sp>
              <p:nvSpPr>
                <p:cNvPr id="112" name="Rectangle 111"/>
                <p:cNvSpPr/>
                <p:nvPr/>
              </p:nvSpPr>
              <p:spPr>
                <a:xfrm>
                  <a:off x="2175723" y="2259424"/>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sp>
              <p:nvSpPr>
                <p:cNvPr id="113" name="Rectangle 112"/>
                <p:cNvSpPr/>
                <p:nvPr/>
              </p:nvSpPr>
              <p:spPr>
                <a:xfrm>
                  <a:off x="588247" y="2989944"/>
                  <a:ext cx="399468" cy="769441"/>
                </a:xfrm>
                <a:prstGeom prst="rect">
                  <a:avLst/>
                </a:prstGeom>
              </p:spPr>
              <p:txBody>
                <a:bodyPr wrap="none">
                  <a:spAutoFit/>
                </a:bodyPr>
                <a:lstStyle/>
                <a:p>
                  <a:r>
                    <a:rPr lang="en-GB" sz="4400" dirty="0">
                      <a:solidFill>
                        <a:schemeClr val="accent1">
                          <a:lumMod val="60000"/>
                          <a:lumOff val="40000"/>
                        </a:schemeClr>
                      </a:solidFill>
                      <a:latin typeface="Agency FB" panose="020B0503020202020204" pitchFamily="34" charset="0"/>
                    </a:rPr>
                    <a:t>?</a:t>
                  </a:r>
                </a:p>
              </p:txBody>
            </p:sp>
            <p:sp>
              <p:nvSpPr>
                <p:cNvPr id="114" name="Rectangle 113"/>
                <p:cNvSpPr/>
                <p:nvPr/>
              </p:nvSpPr>
              <p:spPr>
                <a:xfrm>
                  <a:off x="2072532" y="3270775"/>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grpSp>
          <p:sp>
            <p:nvSpPr>
              <p:cNvPr id="107" name="Rectangle 106"/>
              <p:cNvSpPr/>
              <p:nvPr/>
            </p:nvSpPr>
            <p:spPr>
              <a:xfrm>
                <a:off x="843348" y="1313328"/>
                <a:ext cx="420308" cy="830997"/>
              </a:xfrm>
              <a:prstGeom prst="rect">
                <a:avLst/>
              </a:prstGeom>
            </p:spPr>
            <p:txBody>
              <a:bodyPr wrap="none">
                <a:spAutoFit/>
              </a:bodyPr>
              <a:lstStyle/>
              <a:p>
                <a:r>
                  <a:rPr lang="en-GB" sz="4800" dirty="0">
                    <a:solidFill>
                      <a:schemeClr val="accent1">
                        <a:lumMod val="60000"/>
                        <a:lumOff val="40000"/>
                      </a:schemeClr>
                    </a:solidFill>
                    <a:latin typeface="Agency FB" panose="020B0503020202020204" pitchFamily="34" charset="0"/>
                  </a:rPr>
                  <a:t>?</a:t>
                </a:r>
              </a:p>
            </p:txBody>
          </p:sp>
        </p:grpSp>
      </p:grpSp>
      <p:sp>
        <p:nvSpPr>
          <p:cNvPr id="115" name="Rectangle 114"/>
          <p:cNvSpPr/>
          <p:nvPr/>
        </p:nvSpPr>
        <p:spPr>
          <a:xfrm>
            <a:off x="9455055" y="1421914"/>
            <a:ext cx="2470302" cy="3063734"/>
          </a:xfrm>
          <a:prstGeom prst="rect">
            <a:avLst/>
          </a:prstGeom>
          <a:solidFill>
            <a:schemeClr val="bg1"/>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6" name="Group 115"/>
          <p:cNvGrpSpPr/>
          <p:nvPr/>
        </p:nvGrpSpPr>
        <p:grpSpPr>
          <a:xfrm>
            <a:off x="9413066" y="1451677"/>
            <a:ext cx="2386864" cy="2757880"/>
            <a:chOff x="0" y="1417956"/>
            <a:chExt cx="2386864" cy="2757880"/>
          </a:xfrm>
        </p:grpSpPr>
        <p:sp>
          <p:nvSpPr>
            <p:cNvPr id="117" name="Rectangle 116"/>
            <p:cNvSpPr/>
            <p:nvPr/>
          </p:nvSpPr>
          <p:spPr>
            <a:xfrm>
              <a:off x="0" y="2498554"/>
              <a:ext cx="2282997" cy="369332"/>
            </a:xfrm>
            <a:prstGeom prst="rect">
              <a:avLst/>
            </a:prstGeom>
          </p:spPr>
          <p:txBody>
            <a:bodyPr wrap="none">
              <a:spAutoFit/>
            </a:bodyPr>
            <a:lstStyle/>
            <a:p>
              <a:r>
                <a:rPr lang="en-GB" dirty="0">
                  <a:solidFill>
                    <a:srgbClr val="00B0F0"/>
                  </a:solidFill>
                </a:rPr>
                <a:t>social economic status</a:t>
              </a:r>
            </a:p>
          </p:txBody>
        </p:sp>
        <p:grpSp>
          <p:nvGrpSpPr>
            <p:cNvPr id="118" name="Group 117"/>
            <p:cNvGrpSpPr/>
            <p:nvPr/>
          </p:nvGrpSpPr>
          <p:grpSpPr>
            <a:xfrm>
              <a:off x="157001" y="1417956"/>
              <a:ext cx="2229863" cy="2757880"/>
              <a:chOff x="218692" y="1313328"/>
              <a:chExt cx="2229863" cy="2757880"/>
            </a:xfrm>
          </p:grpSpPr>
          <p:grpSp>
            <p:nvGrpSpPr>
              <p:cNvPr id="119" name="Group 118"/>
              <p:cNvGrpSpPr/>
              <p:nvPr/>
            </p:nvGrpSpPr>
            <p:grpSpPr>
              <a:xfrm>
                <a:off x="218692" y="1858406"/>
                <a:ext cx="2229863" cy="2212802"/>
                <a:chOff x="218692" y="1858406"/>
                <a:chExt cx="2229863" cy="2212802"/>
              </a:xfrm>
            </p:grpSpPr>
            <p:sp>
              <p:nvSpPr>
                <p:cNvPr id="121" name="Rectangle 120"/>
                <p:cNvSpPr/>
                <p:nvPr/>
              </p:nvSpPr>
              <p:spPr>
                <a:xfrm>
                  <a:off x="218692" y="1858406"/>
                  <a:ext cx="2126672" cy="369332"/>
                </a:xfrm>
                <a:prstGeom prst="rect">
                  <a:avLst/>
                </a:prstGeom>
              </p:spPr>
              <p:txBody>
                <a:bodyPr wrap="none">
                  <a:spAutoFit/>
                </a:bodyPr>
                <a:lstStyle/>
                <a:p>
                  <a:r>
                    <a:rPr lang="en-GB" dirty="0"/>
                    <a:t>duration of infertility</a:t>
                  </a:r>
                </a:p>
              </p:txBody>
            </p:sp>
            <p:sp>
              <p:nvSpPr>
                <p:cNvPr id="122" name="Rectangle 121"/>
                <p:cNvSpPr/>
                <p:nvPr/>
              </p:nvSpPr>
              <p:spPr>
                <a:xfrm>
                  <a:off x="1887022" y="2752464"/>
                  <a:ext cx="551754" cy="369332"/>
                </a:xfrm>
                <a:prstGeom prst="rect">
                  <a:avLst/>
                </a:prstGeom>
              </p:spPr>
              <p:txBody>
                <a:bodyPr wrap="none">
                  <a:spAutoFit/>
                </a:bodyPr>
                <a:lstStyle/>
                <a:p>
                  <a:r>
                    <a:rPr lang="en-GB" dirty="0" smtClean="0"/>
                    <a:t>BMI</a:t>
                  </a:r>
                  <a:endParaRPr lang="en-GB" dirty="0"/>
                </a:p>
              </p:txBody>
            </p:sp>
            <p:sp>
              <p:nvSpPr>
                <p:cNvPr id="123" name="Rectangle 122"/>
                <p:cNvSpPr/>
                <p:nvPr/>
              </p:nvSpPr>
              <p:spPr>
                <a:xfrm>
                  <a:off x="1074550" y="3222115"/>
                  <a:ext cx="663964" cy="523220"/>
                </a:xfrm>
                <a:prstGeom prst="rect">
                  <a:avLst/>
                </a:prstGeom>
              </p:spPr>
              <p:txBody>
                <a:bodyPr wrap="none">
                  <a:spAutoFit/>
                </a:bodyPr>
                <a:lstStyle/>
                <a:p>
                  <a:r>
                    <a:rPr lang="en-GB" sz="2800" dirty="0"/>
                    <a:t>age</a:t>
                  </a:r>
                </a:p>
              </p:txBody>
            </p:sp>
            <p:sp>
              <p:nvSpPr>
                <p:cNvPr id="124" name="Rectangle 123"/>
                <p:cNvSpPr/>
                <p:nvPr/>
              </p:nvSpPr>
              <p:spPr>
                <a:xfrm>
                  <a:off x="234253" y="3701876"/>
                  <a:ext cx="1460849" cy="369332"/>
                </a:xfrm>
                <a:prstGeom prst="rect">
                  <a:avLst/>
                </a:prstGeom>
              </p:spPr>
              <p:txBody>
                <a:bodyPr wrap="none">
                  <a:spAutoFit/>
                </a:bodyPr>
                <a:lstStyle/>
                <a:p>
                  <a:r>
                    <a:rPr lang="en-GB" dirty="0">
                      <a:solidFill>
                        <a:srgbClr val="FF0000"/>
                      </a:solidFill>
                    </a:rPr>
                    <a:t>culture media</a:t>
                  </a:r>
                </a:p>
              </p:txBody>
            </p:sp>
            <p:sp>
              <p:nvSpPr>
                <p:cNvPr id="125" name="Rectangle 124"/>
                <p:cNvSpPr/>
                <p:nvPr/>
              </p:nvSpPr>
              <p:spPr>
                <a:xfrm>
                  <a:off x="2175723" y="2259424"/>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sp>
              <p:nvSpPr>
                <p:cNvPr id="126" name="Rectangle 125"/>
                <p:cNvSpPr/>
                <p:nvPr/>
              </p:nvSpPr>
              <p:spPr>
                <a:xfrm>
                  <a:off x="588247" y="2989944"/>
                  <a:ext cx="399468" cy="769441"/>
                </a:xfrm>
                <a:prstGeom prst="rect">
                  <a:avLst/>
                </a:prstGeom>
              </p:spPr>
              <p:txBody>
                <a:bodyPr wrap="none">
                  <a:spAutoFit/>
                </a:bodyPr>
                <a:lstStyle/>
                <a:p>
                  <a:r>
                    <a:rPr lang="en-GB" sz="4400" dirty="0">
                      <a:solidFill>
                        <a:schemeClr val="accent1">
                          <a:lumMod val="60000"/>
                          <a:lumOff val="40000"/>
                        </a:schemeClr>
                      </a:solidFill>
                      <a:latin typeface="Agency FB" panose="020B0503020202020204" pitchFamily="34" charset="0"/>
                    </a:rPr>
                    <a:t>?</a:t>
                  </a:r>
                </a:p>
              </p:txBody>
            </p:sp>
            <p:sp>
              <p:nvSpPr>
                <p:cNvPr id="127" name="Rectangle 126"/>
                <p:cNvSpPr/>
                <p:nvPr/>
              </p:nvSpPr>
              <p:spPr>
                <a:xfrm>
                  <a:off x="2072532" y="3270775"/>
                  <a:ext cx="272832" cy="369332"/>
                </a:xfrm>
                <a:prstGeom prst="rect">
                  <a:avLst/>
                </a:prstGeom>
              </p:spPr>
              <p:txBody>
                <a:bodyPr wrap="none">
                  <a:spAutoFit/>
                </a:bodyPr>
                <a:lstStyle/>
                <a:p>
                  <a:r>
                    <a:rPr lang="en-GB" dirty="0">
                      <a:solidFill>
                        <a:schemeClr val="accent1">
                          <a:lumMod val="60000"/>
                          <a:lumOff val="40000"/>
                        </a:schemeClr>
                      </a:solidFill>
                      <a:latin typeface="Agency FB" panose="020B0503020202020204" pitchFamily="34" charset="0"/>
                    </a:rPr>
                    <a:t>?</a:t>
                  </a:r>
                </a:p>
              </p:txBody>
            </p:sp>
          </p:grpSp>
          <p:sp>
            <p:nvSpPr>
              <p:cNvPr id="120" name="Rectangle 119"/>
              <p:cNvSpPr/>
              <p:nvPr/>
            </p:nvSpPr>
            <p:spPr>
              <a:xfrm>
                <a:off x="843348" y="1313328"/>
                <a:ext cx="420308" cy="830997"/>
              </a:xfrm>
              <a:prstGeom prst="rect">
                <a:avLst/>
              </a:prstGeom>
            </p:spPr>
            <p:txBody>
              <a:bodyPr wrap="none">
                <a:spAutoFit/>
              </a:bodyPr>
              <a:lstStyle/>
              <a:p>
                <a:r>
                  <a:rPr lang="en-GB" sz="4800" dirty="0">
                    <a:solidFill>
                      <a:schemeClr val="accent1">
                        <a:lumMod val="60000"/>
                        <a:lumOff val="40000"/>
                      </a:schemeClr>
                    </a:solidFill>
                    <a:latin typeface="Agency FB" panose="020B0503020202020204" pitchFamily="34" charset="0"/>
                  </a:rPr>
                  <a:t>?</a:t>
                </a:r>
              </a:p>
            </p:txBody>
          </p:sp>
        </p:grpSp>
      </p:grpSp>
      <p:cxnSp>
        <p:nvCxnSpPr>
          <p:cNvPr id="53" name="Straight Connector 52"/>
          <p:cNvCxnSpPr/>
          <p:nvPr/>
        </p:nvCxnSpPr>
        <p:spPr>
          <a:xfrm flipH="1">
            <a:off x="293890" y="4087652"/>
            <a:ext cx="1571855" cy="23171"/>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H="1">
            <a:off x="1134187" y="3691031"/>
            <a:ext cx="7315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554182" y="3582501"/>
            <a:ext cx="4931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2132169" y="3640107"/>
            <a:ext cx="2721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a:xfrm>
            <a:off x="2021662" y="3157613"/>
            <a:ext cx="4931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a:off x="2094907" y="2646062"/>
            <a:ext cx="4931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a:endCxn id="112" idx="2"/>
          </p:cNvCxnSpPr>
          <p:nvPr/>
        </p:nvCxnSpPr>
        <p:spPr>
          <a:xfrm>
            <a:off x="217055" y="2825047"/>
            <a:ext cx="2154721" cy="1154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V="1">
            <a:off x="278329" y="2282674"/>
            <a:ext cx="2063163" cy="34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a:off x="902985" y="1870585"/>
            <a:ext cx="4931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a:off x="10194723" y="1867175"/>
            <a:ext cx="4931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9701553" y="2227738"/>
            <a:ext cx="196196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1313738" y="3115914"/>
            <a:ext cx="4931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9939622" y="3547488"/>
            <a:ext cx="4931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0553307" y="3703677"/>
            <a:ext cx="4931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a:off x="11423907" y="3622074"/>
            <a:ext cx="23960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a:xfrm>
            <a:off x="9701553" y="4056145"/>
            <a:ext cx="1344924" cy="1506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a:off x="9570067" y="2751458"/>
            <a:ext cx="199025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a:xfrm>
            <a:off x="11560323" y="2575349"/>
            <a:ext cx="135740" cy="709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163317" y="5784807"/>
            <a:ext cx="12330545" cy="646331"/>
          </a:xfrm>
          <a:prstGeom prst="rect">
            <a:avLst/>
          </a:prstGeom>
          <a:noFill/>
        </p:spPr>
        <p:txBody>
          <a:bodyPr wrap="square" rtlCol="0">
            <a:spAutoFit/>
          </a:bodyPr>
          <a:lstStyle/>
          <a:p>
            <a:r>
              <a:rPr lang="en-GB" dirty="0" smtClean="0"/>
              <a:t>RCTs do not require ‘balance’ on variables. The point is any </a:t>
            </a:r>
            <a:r>
              <a:rPr lang="en-GB" b="1" dirty="0" smtClean="0"/>
              <a:t>imbalance is random.  </a:t>
            </a:r>
            <a:r>
              <a:rPr lang="en-GB" dirty="0" smtClean="0"/>
              <a:t>Analysis can then distinguish treatment effect from noise.</a:t>
            </a:r>
            <a:endParaRPr lang="en-GB" dirty="0"/>
          </a:p>
        </p:txBody>
      </p:sp>
    </p:spTree>
    <p:extLst>
      <p:ext uri="{BB962C8B-B14F-4D97-AF65-F5344CB8AC3E}">
        <p14:creationId xmlns:p14="http://schemas.microsoft.com/office/powerpoint/2010/main" val="4030062514"/>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Dealing with confounding using randomisation</a:t>
            </a:r>
            <a:endParaRPr lang="en-GB" dirty="0"/>
          </a:p>
        </p:txBody>
      </p:sp>
      <p:sp>
        <p:nvSpPr>
          <p:cNvPr id="3" name="TextBox 2"/>
          <p:cNvSpPr txBox="1"/>
          <p:nvPr/>
        </p:nvSpPr>
        <p:spPr>
          <a:xfrm>
            <a:off x="430823" y="1688123"/>
            <a:ext cx="11579469" cy="2677656"/>
          </a:xfrm>
          <a:prstGeom prst="rect">
            <a:avLst/>
          </a:prstGeom>
          <a:noFill/>
        </p:spPr>
        <p:txBody>
          <a:bodyPr wrap="square" rtlCol="0">
            <a:spAutoFit/>
          </a:bodyPr>
          <a:lstStyle/>
          <a:p>
            <a:pPr marL="285750" indent="-285750">
              <a:buFont typeface="Arial" panose="020B0604020202020204" pitchFamily="34" charset="0"/>
              <a:buChar char="•"/>
            </a:pPr>
            <a:r>
              <a:rPr lang="en-GB" sz="2400" dirty="0" smtClean="0"/>
              <a:t>When we randomly allocate participants to treatment or control groups, </a:t>
            </a:r>
            <a:r>
              <a:rPr lang="en-GB" sz="2400" b="1" dirty="0" smtClean="0"/>
              <a:t>there is no confounding. </a:t>
            </a:r>
          </a:p>
          <a:p>
            <a:endParaRPr lang="en-GB" sz="2400" b="1" dirty="0" smtClean="0"/>
          </a:p>
          <a:p>
            <a:pPr marL="285750" indent="-285750">
              <a:buFont typeface="Arial" panose="020B0604020202020204" pitchFamily="34" charset="0"/>
              <a:buChar char="•"/>
            </a:pPr>
            <a:endParaRPr lang="en-GB" sz="2400" dirty="0"/>
          </a:p>
          <a:p>
            <a:pPr marL="285750" indent="-285750">
              <a:buFont typeface="Arial" panose="020B0604020202020204" pitchFamily="34" charset="0"/>
              <a:buChar char="•"/>
            </a:pPr>
            <a:r>
              <a:rPr lang="en-GB" sz="2400" dirty="0" smtClean="0"/>
              <a:t>This doesn’t mean (doesn’t require) that the two groups are identical – as long as differences are </a:t>
            </a:r>
            <a:r>
              <a:rPr lang="en-GB" sz="2400" i="1" dirty="0" smtClean="0"/>
              <a:t>random, </a:t>
            </a:r>
            <a:r>
              <a:rPr lang="en-GB" sz="2400" dirty="0" smtClean="0"/>
              <a:t>our statistical tests will tell us allow us to consider whether we have evidence that a treatment works.</a:t>
            </a:r>
            <a:endParaRPr lang="en-GB" sz="2400" i="1" dirty="0"/>
          </a:p>
        </p:txBody>
      </p:sp>
    </p:spTree>
    <p:extLst>
      <p:ext uri="{BB962C8B-B14F-4D97-AF65-F5344CB8AC3E}">
        <p14:creationId xmlns:p14="http://schemas.microsoft.com/office/powerpoint/2010/main" val="3227900335"/>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Merits of RCTs vs NRSI</a:t>
            </a:r>
            <a:endParaRPr lang="en-GB" dirty="0"/>
          </a:p>
        </p:txBody>
      </p:sp>
      <p:sp>
        <p:nvSpPr>
          <p:cNvPr id="3" name="Content Placeholder 2"/>
          <p:cNvSpPr>
            <a:spLocks noGrp="1"/>
          </p:cNvSpPr>
          <p:nvPr>
            <p:ph idx="1"/>
          </p:nvPr>
        </p:nvSpPr>
        <p:spPr/>
        <p:txBody>
          <a:bodyPr/>
          <a:lstStyle/>
          <a:p>
            <a:r>
              <a:rPr lang="en-GB" dirty="0" smtClean="0"/>
              <a:t>“NRSI studies can be larger”. True for observational NRSI, but size does not mitigate confounding in any way. Actually, in presence of confounding, increasing sample size makes you </a:t>
            </a:r>
            <a:r>
              <a:rPr lang="en-GB" b="1" dirty="0" smtClean="0"/>
              <a:t>less</a:t>
            </a:r>
            <a:r>
              <a:rPr lang="en-GB" dirty="0" smtClean="0"/>
              <a:t> likely to get the right answer, not more likely. </a:t>
            </a:r>
          </a:p>
          <a:p>
            <a:pPr marL="0" indent="0">
              <a:buNone/>
            </a:pPr>
            <a:endParaRPr lang="en-GB" dirty="0" smtClean="0"/>
          </a:p>
          <a:p>
            <a:r>
              <a:rPr lang="en-GB" dirty="0" smtClean="0"/>
              <a:t>“Patients in observational NRSI are more representative”. True, but this actually doesn’t mean the results are more likely to represent what would happen in real clinical populations. The wrong answer doesn’t generalise to anybody.</a:t>
            </a:r>
          </a:p>
          <a:p>
            <a:endParaRPr lang="en-GB" dirty="0"/>
          </a:p>
          <a:p>
            <a:r>
              <a:rPr lang="en-GB" dirty="0" smtClean="0"/>
              <a:t>Also worth noting that NRSI based on large retrospective datasets require that we use treatments on many patients before we know whether they work and whether they are harmful.</a:t>
            </a:r>
            <a:endParaRPr lang="en-GB" dirty="0"/>
          </a:p>
        </p:txBody>
      </p:sp>
    </p:spTree>
    <p:extLst>
      <p:ext uri="{BB962C8B-B14F-4D97-AF65-F5344CB8AC3E}">
        <p14:creationId xmlns:p14="http://schemas.microsoft.com/office/powerpoint/2010/main" val="199273115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6808" y="2540276"/>
            <a:ext cx="10058400" cy="1450757"/>
          </a:xfrm>
        </p:spPr>
        <p:txBody>
          <a:bodyPr/>
          <a:lstStyle/>
          <a:p>
            <a:r>
              <a:rPr lang="en-GB" dirty="0" smtClean="0"/>
              <a:t>Control groups, recruitment, and ethical issues in clinical trials</a:t>
            </a:r>
            <a:endParaRPr lang="en-GB" dirty="0"/>
          </a:p>
        </p:txBody>
      </p:sp>
      <p:sp>
        <p:nvSpPr>
          <p:cNvPr id="4" name="Slide Number Placeholder 3"/>
          <p:cNvSpPr>
            <a:spLocks noGrp="1"/>
          </p:cNvSpPr>
          <p:nvPr>
            <p:ph type="sldNum" sz="quarter" idx="10"/>
          </p:nvPr>
        </p:nvSpPr>
        <p:spPr/>
        <p:txBody>
          <a:bodyPr/>
          <a:lstStyle/>
          <a:p>
            <a:fld id="{295AAB7A-98F7-42CD-A204-DDD6725CD545}" type="slidenum">
              <a:rPr lang="en-GB" smtClean="0"/>
              <a:t>73</a:t>
            </a:fld>
            <a:endParaRPr lang="en-GB"/>
          </a:p>
        </p:txBody>
      </p:sp>
      <p:sp>
        <p:nvSpPr>
          <p:cNvPr id="5" name="Rectangle 4"/>
          <p:cNvSpPr/>
          <p:nvPr/>
        </p:nvSpPr>
        <p:spPr>
          <a:xfrm>
            <a:off x="923636" y="1422400"/>
            <a:ext cx="10584873" cy="6003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254817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593099"/>
            <a:ext cx="8229600" cy="776922"/>
          </a:xfrm>
        </p:spPr>
        <p:txBody>
          <a:bodyPr/>
          <a:lstStyle/>
          <a:p>
            <a:r>
              <a:rPr lang="en-GB" dirty="0"/>
              <a:t>C</a:t>
            </a:r>
            <a:r>
              <a:rPr lang="en-GB" dirty="0" smtClean="0"/>
              <a:t>ontrol groups</a:t>
            </a:r>
            <a:endParaRPr lang="en-GB" dirty="0"/>
          </a:p>
        </p:txBody>
      </p:sp>
      <p:sp>
        <p:nvSpPr>
          <p:cNvPr id="3" name="Content Placeholder 2"/>
          <p:cNvSpPr>
            <a:spLocks noGrp="1"/>
          </p:cNvSpPr>
          <p:nvPr>
            <p:ph idx="1"/>
          </p:nvPr>
        </p:nvSpPr>
        <p:spPr/>
        <p:txBody>
          <a:bodyPr>
            <a:normAutofit lnSpcReduction="10000"/>
          </a:bodyPr>
          <a:lstStyle/>
          <a:p>
            <a:r>
              <a:rPr lang="en-GB" dirty="0"/>
              <a:t>The simplest of clinical trial is a </a:t>
            </a:r>
            <a:r>
              <a:rPr lang="en-GB" i="1" dirty="0"/>
              <a:t>case series</a:t>
            </a:r>
            <a:r>
              <a:rPr lang="en-GB" dirty="0"/>
              <a:t> evaluation in which a group of patients who receive a new treatment are followed up and the outcome of treatment recorded.</a:t>
            </a:r>
          </a:p>
          <a:p>
            <a:pPr marL="0" indent="0">
              <a:buNone/>
            </a:pPr>
            <a:endParaRPr lang="en-GB" sz="800" dirty="0"/>
          </a:p>
          <a:p>
            <a:r>
              <a:rPr lang="en-GB" dirty="0"/>
              <a:t>The problem with case series evaluations of treatments is that it is impossible to know whether the observed outcome is </a:t>
            </a:r>
          </a:p>
          <a:p>
            <a:pPr lvl="1"/>
            <a:r>
              <a:rPr lang="en-GB" dirty="0"/>
              <a:t>the </a:t>
            </a:r>
            <a:r>
              <a:rPr lang="en-GB" dirty="0" smtClean="0"/>
              <a:t>consequence </a:t>
            </a:r>
            <a:r>
              <a:rPr lang="en-GB" dirty="0"/>
              <a:t>of the treatment or </a:t>
            </a:r>
          </a:p>
          <a:p>
            <a:pPr lvl="1"/>
            <a:r>
              <a:rPr lang="en-GB" dirty="0"/>
              <a:t>the natural course </a:t>
            </a:r>
            <a:r>
              <a:rPr lang="en-GB" dirty="0" smtClean="0"/>
              <a:t>of </a:t>
            </a:r>
            <a:r>
              <a:rPr lang="en-GB" dirty="0"/>
              <a:t>the disease, </a:t>
            </a:r>
            <a:endParaRPr lang="en-GB" dirty="0" smtClean="0"/>
          </a:p>
          <a:p>
            <a:pPr marL="400050" lvl="1" indent="0">
              <a:buNone/>
            </a:pPr>
            <a:r>
              <a:rPr lang="en-GB" dirty="0" smtClean="0"/>
              <a:t>as </a:t>
            </a:r>
            <a:r>
              <a:rPr lang="en-GB" dirty="0"/>
              <a:t>some conditions can resolve without treatment. e.g. acute viral infections such as the common cold. </a:t>
            </a:r>
            <a:endParaRPr lang="en-GB" dirty="0" smtClean="0"/>
          </a:p>
          <a:p>
            <a:pPr marL="400050" lvl="1" indent="0">
              <a:buNone/>
            </a:pPr>
            <a:r>
              <a:rPr lang="en-GB" dirty="0" smtClean="0"/>
              <a:t>Better name for case series might be </a:t>
            </a:r>
            <a:r>
              <a:rPr lang="en-GB" b="1" dirty="0" smtClean="0"/>
              <a:t>superstitious thinking!</a:t>
            </a:r>
            <a:endParaRPr lang="en-GB" dirty="0" smtClean="0"/>
          </a:p>
          <a:p>
            <a:pPr marL="400050" lvl="1" indent="0">
              <a:buNone/>
            </a:pPr>
            <a:endParaRPr lang="en-GB" sz="800" dirty="0"/>
          </a:p>
          <a:p>
            <a:pPr marL="285750"/>
            <a:r>
              <a:rPr lang="en-GB" dirty="0" smtClean="0"/>
              <a:t>Don’t need a control group if completely predictable results</a:t>
            </a:r>
          </a:p>
          <a:p>
            <a:pPr marL="685800" lvl="1"/>
            <a:r>
              <a:rPr lang="en-GB" dirty="0" smtClean="0"/>
              <a:t>Should we use parachutes when jumping from a plane?</a:t>
            </a:r>
          </a:p>
          <a:p>
            <a:pPr marL="685800" lvl="1"/>
            <a:r>
              <a:rPr lang="en-GB" b="1" dirty="0" smtClean="0"/>
              <a:t>But we don’t have a lot of ‘parachutes’ left in medicine.</a:t>
            </a:r>
            <a:endParaRPr lang="en-GB" b="1" dirty="0"/>
          </a:p>
          <a:p>
            <a:endParaRPr lang="en-GB" dirty="0" smtClean="0"/>
          </a:p>
        </p:txBody>
      </p:sp>
      <p:sp>
        <p:nvSpPr>
          <p:cNvPr id="5" name="Slide Number Placeholder 4"/>
          <p:cNvSpPr>
            <a:spLocks noGrp="1"/>
          </p:cNvSpPr>
          <p:nvPr>
            <p:ph type="sldNum" sz="quarter" idx="10"/>
          </p:nvPr>
        </p:nvSpPr>
        <p:spPr/>
        <p:txBody>
          <a:bodyPr/>
          <a:lstStyle/>
          <a:p>
            <a:fld id="{295AAB7A-98F7-42CD-A204-DDD6725CD545}" type="slidenum">
              <a:rPr lang="en-GB" smtClean="0"/>
              <a:t>74</a:t>
            </a:fld>
            <a:endParaRPr lang="en-GB"/>
          </a:p>
        </p:txBody>
      </p:sp>
    </p:spTree>
    <p:extLst>
      <p:ext uri="{BB962C8B-B14F-4D97-AF65-F5344CB8AC3E}">
        <p14:creationId xmlns:p14="http://schemas.microsoft.com/office/powerpoint/2010/main" val="36742539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27038"/>
            <a:ext cx="8229600" cy="822642"/>
          </a:xfrm>
        </p:spPr>
        <p:txBody>
          <a:bodyPr/>
          <a:lstStyle/>
          <a:p>
            <a:r>
              <a:rPr lang="en-GB" dirty="0"/>
              <a:t>Control </a:t>
            </a:r>
            <a:r>
              <a:rPr lang="en-GB" dirty="0" smtClean="0"/>
              <a:t>groups</a:t>
            </a:r>
            <a:endParaRPr lang="en-GB" dirty="0"/>
          </a:p>
        </p:txBody>
      </p:sp>
      <p:sp>
        <p:nvSpPr>
          <p:cNvPr id="3" name="Content Placeholder 2"/>
          <p:cNvSpPr>
            <a:spLocks noGrp="1"/>
          </p:cNvSpPr>
          <p:nvPr>
            <p:ph idx="1"/>
          </p:nvPr>
        </p:nvSpPr>
        <p:spPr/>
        <p:txBody>
          <a:bodyPr/>
          <a:lstStyle/>
          <a:p>
            <a:r>
              <a:rPr lang="en-GB" dirty="0" smtClean="0"/>
              <a:t>We need a </a:t>
            </a:r>
            <a:r>
              <a:rPr lang="en-GB" dirty="0"/>
              <a:t>control treatment against which a new treatment may be compared</a:t>
            </a:r>
            <a:r>
              <a:rPr lang="en-GB" dirty="0" smtClean="0"/>
              <a:t>.</a:t>
            </a:r>
          </a:p>
          <a:p>
            <a:endParaRPr lang="en-GB" sz="800" dirty="0"/>
          </a:p>
          <a:p>
            <a:r>
              <a:rPr lang="en-GB" dirty="0" smtClean="0"/>
              <a:t>In </a:t>
            </a:r>
            <a:r>
              <a:rPr lang="en-GB" dirty="0"/>
              <a:t>most circumstances the control should be the current standard treatment if there is one. The effect of a new treatment is then measured relative to </a:t>
            </a:r>
            <a:r>
              <a:rPr lang="en-GB" dirty="0" smtClean="0"/>
              <a:t>control.</a:t>
            </a:r>
            <a:endParaRPr lang="en-GB" dirty="0"/>
          </a:p>
          <a:p>
            <a:pPr marL="0" indent="0">
              <a:buNone/>
            </a:pPr>
            <a:endParaRPr lang="en-GB" sz="800" dirty="0"/>
          </a:p>
          <a:p>
            <a:r>
              <a:rPr lang="en-GB" dirty="0" smtClean="0"/>
              <a:t>Control group can be:</a:t>
            </a:r>
          </a:p>
          <a:p>
            <a:pPr lvl="1"/>
            <a:r>
              <a:rPr lang="en-GB" dirty="0" smtClean="0"/>
              <a:t>Usual practice</a:t>
            </a:r>
          </a:p>
          <a:p>
            <a:pPr lvl="1"/>
            <a:r>
              <a:rPr lang="en-GB" dirty="0" smtClean="0"/>
              <a:t>No intervention (this might be usual practice)</a:t>
            </a:r>
          </a:p>
          <a:p>
            <a:pPr lvl="1"/>
            <a:r>
              <a:rPr lang="en-GB" dirty="0" smtClean="0"/>
              <a:t>Placebo (a dummy drug or treatment which looks, tastes, feels, smells … just like the real treatment, but is ‘inert’).</a:t>
            </a:r>
            <a:endParaRPr lang="en-GB" dirty="0"/>
          </a:p>
        </p:txBody>
      </p:sp>
      <p:sp>
        <p:nvSpPr>
          <p:cNvPr id="5" name="Slide Number Placeholder 4"/>
          <p:cNvSpPr>
            <a:spLocks noGrp="1"/>
          </p:cNvSpPr>
          <p:nvPr>
            <p:ph type="sldNum" sz="quarter" idx="10"/>
          </p:nvPr>
        </p:nvSpPr>
        <p:spPr/>
        <p:txBody>
          <a:bodyPr/>
          <a:lstStyle/>
          <a:p>
            <a:fld id="{295AAB7A-98F7-42CD-A204-DDD6725CD545}" type="slidenum">
              <a:rPr lang="en-GB" smtClean="0"/>
              <a:t>75</a:t>
            </a:fld>
            <a:endParaRPr lang="en-GB"/>
          </a:p>
        </p:txBody>
      </p:sp>
    </p:spTree>
    <p:extLst>
      <p:ext uri="{BB962C8B-B14F-4D97-AF65-F5344CB8AC3E}">
        <p14:creationId xmlns:p14="http://schemas.microsoft.com/office/powerpoint/2010/main" val="987766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516899"/>
            <a:ext cx="8229600" cy="853122"/>
          </a:xfrm>
        </p:spPr>
        <p:txBody>
          <a:bodyPr/>
          <a:lstStyle/>
          <a:p>
            <a:r>
              <a:rPr lang="en-GB" dirty="0" smtClean="0"/>
              <a:t>Eligibility criteria</a:t>
            </a:r>
            <a:endParaRPr lang="en-GB" dirty="0"/>
          </a:p>
        </p:txBody>
      </p:sp>
      <p:sp>
        <p:nvSpPr>
          <p:cNvPr id="3" name="Content Placeholder 2"/>
          <p:cNvSpPr>
            <a:spLocks noGrp="1"/>
          </p:cNvSpPr>
          <p:nvPr>
            <p:ph idx="1"/>
          </p:nvPr>
        </p:nvSpPr>
        <p:spPr/>
        <p:txBody>
          <a:bodyPr/>
          <a:lstStyle/>
          <a:p>
            <a:r>
              <a:rPr lang="en-GB" dirty="0" smtClean="0"/>
              <a:t>We use decision rules known as eligibility </a:t>
            </a:r>
            <a:r>
              <a:rPr lang="en-GB" dirty="0"/>
              <a:t>criteria to select potential participants for the trial. </a:t>
            </a:r>
            <a:endParaRPr lang="en-GB" dirty="0" smtClean="0"/>
          </a:p>
          <a:p>
            <a:endParaRPr lang="en-GB" sz="1200" dirty="0"/>
          </a:p>
          <a:p>
            <a:r>
              <a:rPr lang="en-GB" dirty="0" smtClean="0"/>
              <a:t>There are two types of eligibility criteria:</a:t>
            </a:r>
          </a:p>
          <a:p>
            <a:pPr lvl="1"/>
            <a:r>
              <a:rPr lang="en-GB" dirty="0" smtClean="0"/>
              <a:t>Inclusion criteria</a:t>
            </a:r>
          </a:p>
          <a:p>
            <a:pPr lvl="1"/>
            <a:r>
              <a:rPr lang="en-GB" dirty="0" smtClean="0"/>
              <a:t>Exclusion </a:t>
            </a:r>
            <a:r>
              <a:rPr lang="en-GB" dirty="0"/>
              <a:t>criteria</a:t>
            </a:r>
            <a:endParaRPr lang="en-GB" dirty="0" smtClean="0"/>
          </a:p>
          <a:p>
            <a:endParaRPr lang="en-GB" sz="1200" dirty="0"/>
          </a:p>
          <a:p>
            <a:r>
              <a:rPr lang="en-GB" dirty="0" smtClean="0"/>
              <a:t>“</a:t>
            </a:r>
            <a:r>
              <a:rPr lang="en-GB" dirty="0"/>
              <a:t>Eligible participants were all adults aged 18 or over with HIV who met the eligibility criteria for antiretroviral therapy according to the Malawian national HIV treatment guidelines (WHO clinical stage III or IV or any WHO stage with a CD4 count &lt;250/mm3) and who were starting treatment with a BMI &lt;18.5. Exclusion criteria were pregnancy and lactation or participation in another supplementary feeding programme</a:t>
            </a:r>
            <a:r>
              <a:rPr lang="en-GB" dirty="0" smtClean="0"/>
              <a:t>.”    BMJ </a:t>
            </a:r>
            <a:r>
              <a:rPr lang="en-GB" dirty="0"/>
              <a:t>2009;338:1867-75.</a:t>
            </a:r>
          </a:p>
        </p:txBody>
      </p:sp>
      <p:sp>
        <p:nvSpPr>
          <p:cNvPr id="5" name="Slide Number Placeholder 4"/>
          <p:cNvSpPr>
            <a:spLocks noGrp="1"/>
          </p:cNvSpPr>
          <p:nvPr>
            <p:ph type="sldNum" sz="quarter" idx="10"/>
          </p:nvPr>
        </p:nvSpPr>
        <p:spPr/>
        <p:txBody>
          <a:bodyPr/>
          <a:lstStyle/>
          <a:p>
            <a:fld id="{295AAB7A-98F7-42CD-A204-DDD6725CD545}" type="slidenum">
              <a:rPr lang="en-GB" smtClean="0"/>
              <a:t>76</a:t>
            </a:fld>
            <a:endParaRPr lang="en-GB"/>
          </a:p>
        </p:txBody>
      </p:sp>
    </p:spTree>
    <p:extLst>
      <p:ext uri="{BB962C8B-B14F-4D97-AF65-F5344CB8AC3E}">
        <p14:creationId xmlns:p14="http://schemas.microsoft.com/office/powerpoint/2010/main" val="30850925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3"/>
            <a:ext cx="10808393" cy="1450757"/>
          </a:xfrm>
        </p:spPr>
        <p:txBody>
          <a:bodyPr/>
          <a:lstStyle/>
          <a:p>
            <a:r>
              <a:rPr lang="en-GB" dirty="0" smtClean="0"/>
              <a:t>Ideal: recruitment to a randomised clinical trial</a:t>
            </a:r>
            <a:endParaRPr lang="en-GB" dirty="0"/>
          </a:p>
        </p:txBody>
      </p:sp>
      <p:sp>
        <p:nvSpPr>
          <p:cNvPr id="4" name="TextBox 3"/>
          <p:cNvSpPr txBox="1"/>
          <p:nvPr/>
        </p:nvSpPr>
        <p:spPr>
          <a:xfrm>
            <a:off x="6774873" y="1674542"/>
            <a:ext cx="2493819" cy="738664"/>
          </a:xfrm>
          <a:prstGeom prst="rect">
            <a:avLst/>
          </a:prstGeom>
          <a:noFill/>
        </p:spPr>
        <p:txBody>
          <a:bodyPr wrap="square" rtlCol="0">
            <a:spAutoFit/>
          </a:bodyPr>
          <a:lstStyle/>
          <a:p>
            <a:r>
              <a:rPr lang="en-GB" sz="1400" b="1" dirty="0"/>
              <a:t>Population P</a:t>
            </a:r>
          </a:p>
          <a:p>
            <a:r>
              <a:rPr lang="en-GB" sz="1400" dirty="0"/>
              <a:t>Population of patients as defined by eligibility criteria</a:t>
            </a:r>
          </a:p>
        </p:txBody>
      </p:sp>
      <p:sp>
        <p:nvSpPr>
          <p:cNvPr id="5" name="Oval 4"/>
          <p:cNvSpPr/>
          <p:nvPr/>
        </p:nvSpPr>
        <p:spPr bwMode="auto">
          <a:xfrm>
            <a:off x="3706762" y="1556744"/>
            <a:ext cx="2585884" cy="1189703"/>
          </a:xfrm>
          <a:prstGeom prst="ellipse">
            <a:avLst/>
          </a:prstGeom>
          <a:solidFill>
            <a:schemeClr val="accent1"/>
          </a:solidFill>
          <a:ln w="508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latin typeface="Verdana" pitchFamily="34" charset="0"/>
            </a:endParaRPr>
          </a:p>
        </p:txBody>
      </p:sp>
      <p:sp>
        <p:nvSpPr>
          <p:cNvPr id="7" name="Oval 6"/>
          <p:cNvSpPr/>
          <p:nvPr/>
        </p:nvSpPr>
        <p:spPr bwMode="auto">
          <a:xfrm>
            <a:off x="6448621" y="3440456"/>
            <a:ext cx="1643329" cy="807915"/>
          </a:xfrm>
          <a:prstGeom prst="ellipse">
            <a:avLst/>
          </a:prstGeom>
          <a:solidFill>
            <a:srgbClr val="FFFF00"/>
          </a:solidFill>
          <a:ln w="508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latin typeface="Verdana" pitchFamily="34" charset="0"/>
            </a:endParaRPr>
          </a:p>
        </p:txBody>
      </p:sp>
      <p:cxnSp>
        <p:nvCxnSpPr>
          <p:cNvPr id="9" name="Straight Arrow Connector 8"/>
          <p:cNvCxnSpPr>
            <a:stCxn id="5" idx="5"/>
            <a:endCxn id="7" idx="1"/>
          </p:cNvCxnSpPr>
          <p:nvPr/>
        </p:nvCxnSpPr>
        <p:spPr bwMode="auto">
          <a:xfrm>
            <a:off x="5913952" y="2572219"/>
            <a:ext cx="775328" cy="986553"/>
          </a:xfrm>
          <a:prstGeom prst="straightConnector1">
            <a:avLst/>
          </a:prstGeom>
          <a:solidFill>
            <a:schemeClr val="accent1"/>
          </a:solidFill>
          <a:ln w="50800" cap="flat" cmpd="sng" algn="ctr">
            <a:solidFill>
              <a:schemeClr val="tx1"/>
            </a:solidFill>
            <a:prstDash val="solid"/>
            <a:round/>
            <a:headEnd type="none" w="med" len="med"/>
            <a:tailEnd type="arrow"/>
          </a:ln>
          <a:effectLst/>
        </p:spPr>
      </p:cxnSp>
      <p:sp>
        <p:nvSpPr>
          <p:cNvPr id="10" name="TextBox 9"/>
          <p:cNvSpPr txBox="1"/>
          <p:nvPr/>
        </p:nvSpPr>
        <p:spPr>
          <a:xfrm>
            <a:off x="3752795" y="3391390"/>
            <a:ext cx="2493819" cy="738664"/>
          </a:xfrm>
          <a:prstGeom prst="rect">
            <a:avLst/>
          </a:prstGeom>
          <a:noFill/>
        </p:spPr>
        <p:txBody>
          <a:bodyPr wrap="square" rtlCol="0">
            <a:spAutoFit/>
          </a:bodyPr>
          <a:lstStyle/>
          <a:p>
            <a:r>
              <a:rPr lang="en-GB" sz="1400" b="1" dirty="0"/>
              <a:t>Sample A</a:t>
            </a:r>
          </a:p>
          <a:p>
            <a:r>
              <a:rPr lang="en-GB" sz="1400" dirty="0"/>
              <a:t>Patients approached to be recruited for the trial</a:t>
            </a:r>
          </a:p>
        </p:txBody>
      </p:sp>
      <p:sp>
        <p:nvSpPr>
          <p:cNvPr id="11" name="Oval 10"/>
          <p:cNvSpPr/>
          <p:nvPr/>
        </p:nvSpPr>
        <p:spPr bwMode="auto">
          <a:xfrm>
            <a:off x="8021782" y="4939876"/>
            <a:ext cx="1028813" cy="585855"/>
          </a:xfrm>
          <a:prstGeom prst="ellipse">
            <a:avLst/>
          </a:prstGeom>
          <a:solidFill>
            <a:srgbClr val="FF0000"/>
          </a:solidFill>
          <a:ln w="508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latin typeface="Verdana" pitchFamily="34" charset="0"/>
            </a:endParaRPr>
          </a:p>
        </p:txBody>
      </p:sp>
      <p:cxnSp>
        <p:nvCxnSpPr>
          <p:cNvPr id="13" name="Straight Arrow Connector 12"/>
          <p:cNvCxnSpPr>
            <a:stCxn id="7" idx="5"/>
            <a:endCxn id="11" idx="0"/>
          </p:cNvCxnSpPr>
          <p:nvPr/>
        </p:nvCxnSpPr>
        <p:spPr bwMode="auto">
          <a:xfrm>
            <a:off x="7851290" y="4130055"/>
            <a:ext cx="684899" cy="809821"/>
          </a:xfrm>
          <a:prstGeom prst="straightConnector1">
            <a:avLst/>
          </a:prstGeom>
          <a:solidFill>
            <a:schemeClr val="accent1"/>
          </a:solidFill>
          <a:ln w="50800" cap="flat" cmpd="sng" algn="ctr">
            <a:solidFill>
              <a:schemeClr val="tx1"/>
            </a:solidFill>
            <a:prstDash val="solid"/>
            <a:round/>
            <a:headEnd type="none" w="med" len="med"/>
            <a:tailEnd type="arrow"/>
          </a:ln>
          <a:effectLst/>
        </p:spPr>
      </p:cxnSp>
      <p:sp>
        <p:nvSpPr>
          <p:cNvPr id="14" name="TextBox 13"/>
          <p:cNvSpPr txBox="1"/>
          <p:nvPr/>
        </p:nvSpPr>
        <p:spPr>
          <a:xfrm>
            <a:off x="7370395" y="5679829"/>
            <a:ext cx="2493819" cy="738664"/>
          </a:xfrm>
          <a:prstGeom prst="rect">
            <a:avLst/>
          </a:prstGeom>
          <a:noFill/>
        </p:spPr>
        <p:txBody>
          <a:bodyPr wrap="square" rtlCol="0">
            <a:spAutoFit/>
          </a:bodyPr>
          <a:lstStyle/>
          <a:p>
            <a:r>
              <a:rPr lang="en-GB" sz="1400" dirty="0"/>
              <a:t>Eligible patients </a:t>
            </a:r>
            <a:r>
              <a:rPr lang="en-GB" sz="1400" b="1" dirty="0"/>
              <a:t>not</a:t>
            </a:r>
            <a:r>
              <a:rPr lang="en-GB" sz="1400" dirty="0"/>
              <a:t> entered into trial</a:t>
            </a:r>
          </a:p>
          <a:p>
            <a:r>
              <a:rPr lang="en-GB" sz="1400" dirty="0"/>
              <a:t>e.g. refuse consent</a:t>
            </a:r>
          </a:p>
        </p:txBody>
      </p:sp>
      <p:sp>
        <p:nvSpPr>
          <p:cNvPr id="15" name="Oval 14"/>
          <p:cNvSpPr/>
          <p:nvPr/>
        </p:nvSpPr>
        <p:spPr bwMode="auto">
          <a:xfrm>
            <a:off x="4999705" y="4782560"/>
            <a:ext cx="1209329" cy="743171"/>
          </a:xfrm>
          <a:prstGeom prst="ellipse">
            <a:avLst/>
          </a:prstGeom>
          <a:solidFill>
            <a:srgbClr val="FFC000"/>
          </a:solidFill>
          <a:ln w="508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latin typeface="Verdana" pitchFamily="34" charset="0"/>
            </a:endParaRPr>
          </a:p>
        </p:txBody>
      </p:sp>
      <p:cxnSp>
        <p:nvCxnSpPr>
          <p:cNvPr id="17" name="Straight Arrow Connector 16"/>
          <p:cNvCxnSpPr>
            <a:stCxn id="7" idx="3"/>
            <a:endCxn id="15" idx="7"/>
          </p:cNvCxnSpPr>
          <p:nvPr/>
        </p:nvCxnSpPr>
        <p:spPr bwMode="auto">
          <a:xfrm flipH="1">
            <a:off x="6031932" y="4130054"/>
            <a:ext cx="657349" cy="761340"/>
          </a:xfrm>
          <a:prstGeom prst="straightConnector1">
            <a:avLst/>
          </a:prstGeom>
          <a:solidFill>
            <a:schemeClr val="accent1"/>
          </a:solidFill>
          <a:ln w="50800" cap="flat" cmpd="sng" algn="ctr">
            <a:solidFill>
              <a:schemeClr val="tx1"/>
            </a:solidFill>
            <a:prstDash val="solid"/>
            <a:round/>
            <a:headEnd type="none" w="med" len="med"/>
            <a:tailEnd type="arrow"/>
          </a:ln>
          <a:effectLst/>
        </p:spPr>
      </p:cxnSp>
      <p:sp>
        <p:nvSpPr>
          <p:cNvPr id="19" name="TextBox 18"/>
          <p:cNvSpPr txBox="1"/>
          <p:nvPr/>
        </p:nvSpPr>
        <p:spPr>
          <a:xfrm>
            <a:off x="4524136" y="5679829"/>
            <a:ext cx="2165144" cy="738664"/>
          </a:xfrm>
          <a:prstGeom prst="rect">
            <a:avLst/>
          </a:prstGeom>
          <a:noFill/>
          <a:ln>
            <a:solidFill>
              <a:schemeClr val="tx1"/>
            </a:solidFill>
          </a:ln>
        </p:spPr>
        <p:txBody>
          <a:bodyPr wrap="square" rtlCol="0">
            <a:spAutoFit/>
          </a:bodyPr>
          <a:lstStyle/>
          <a:p>
            <a:r>
              <a:rPr lang="en-GB" sz="1400" b="1" dirty="0"/>
              <a:t>Sample B</a:t>
            </a:r>
            <a:endParaRPr lang="en-GB" sz="1400" dirty="0"/>
          </a:p>
          <a:p>
            <a:r>
              <a:rPr lang="en-GB" sz="1400" dirty="0"/>
              <a:t>Patients formally in the trial</a:t>
            </a:r>
          </a:p>
        </p:txBody>
      </p:sp>
      <p:sp>
        <p:nvSpPr>
          <p:cNvPr id="3" name="TextBox 2"/>
          <p:cNvSpPr txBox="1"/>
          <p:nvPr/>
        </p:nvSpPr>
        <p:spPr>
          <a:xfrm>
            <a:off x="1605280" y="2828350"/>
            <a:ext cx="2182762" cy="923330"/>
          </a:xfrm>
          <a:prstGeom prst="rect">
            <a:avLst/>
          </a:prstGeom>
          <a:noFill/>
        </p:spPr>
        <p:txBody>
          <a:bodyPr wrap="square" rtlCol="0">
            <a:spAutoFit/>
          </a:bodyPr>
          <a:lstStyle/>
          <a:p>
            <a:r>
              <a:rPr lang="en-GB" dirty="0"/>
              <a:t>Take a </a:t>
            </a:r>
            <a:r>
              <a:rPr lang="en-GB" b="1" dirty="0"/>
              <a:t>random sample </a:t>
            </a:r>
            <a:r>
              <a:rPr lang="en-GB" dirty="0"/>
              <a:t>from the target population</a:t>
            </a:r>
          </a:p>
        </p:txBody>
      </p:sp>
      <p:sp>
        <p:nvSpPr>
          <p:cNvPr id="6" name="Rectangle 5"/>
          <p:cNvSpPr/>
          <p:nvPr/>
        </p:nvSpPr>
        <p:spPr bwMode="auto">
          <a:xfrm>
            <a:off x="1605280" y="2628650"/>
            <a:ext cx="2101482" cy="2024631"/>
          </a:xfrm>
          <a:prstGeom prst="rect">
            <a:avLst/>
          </a:prstGeom>
          <a:noFill/>
          <a:ln w="50800" cap="flat" cmpd="sng" algn="ctr">
            <a:solidFill>
              <a:srgbClr val="FF66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latin typeface="Verdana" pitchFamily="34" charset="0"/>
            </a:endParaRPr>
          </a:p>
        </p:txBody>
      </p:sp>
      <p:sp>
        <p:nvSpPr>
          <p:cNvPr id="12" name="Slide Number Placeholder 11"/>
          <p:cNvSpPr>
            <a:spLocks noGrp="1"/>
          </p:cNvSpPr>
          <p:nvPr>
            <p:ph type="sldNum" sz="quarter" idx="10"/>
          </p:nvPr>
        </p:nvSpPr>
        <p:spPr/>
        <p:txBody>
          <a:bodyPr/>
          <a:lstStyle/>
          <a:p>
            <a:fld id="{295AAB7A-98F7-42CD-A204-DDD6725CD545}" type="slidenum">
              <a:rPr lang="en-GB" smtClean="0"/>
              <a:t>77</a:t>
            </a:fld>
            <a:endParaRPr lang="en-GB"/>
          </a:p>
        </p:txBody>
      </p:sp>
    </p:spTree>
    <p:extLst>
      <p:ext uri="{BB962C8B-B14F-4D97-AF65-F5344CB8AC3E}">
        <p14:creationId xmlns:p14="http://schemas.microsoft.com/office/powerpoint/2010/main" val="14136297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p:bldP spid="11" grpId="0" animBg="1"/>
      <p:bldP spid="14" grpId="0"/>
      <p:bldP spid="15" grpId="0" animBg="1"/>
      <p:bldP spid="19"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3"/>
            <a:ext cx="10808393" cy="1450757"/>
          </a:xfrm>
        </p:spPr>
        <p:txBody>
          <a:bodyPr/>
          <a:lstStyle/>
          <a:p>
            <a:r>
              <a:rPr lang="en-GB" dirty="0" smtClean="0"/>
              <a:t>Ideal: recruitment to a randomised clinical trial</a:t>
            </a:r>
            <a:endParaRPr lang="en-GB" dirty="0"/>
          </a:p>
        </p:txBody>
      </p:sp>
      <p:sp>
        <p:nvSpPr>
          <p:cNvPr id="4" name="TextBox 3"/>
          <p:cNvSpPr txBox="1"/>
          <p:nvPr/>
        </p:nvSpPr>
        <p:spPr>
          <a:xfrm>
            <a:off x="6774873" y="1674542"/>
            <a:ext cx="2493819" cy="738664"/>
          </a:xfrm>
          <a:prstGeom prst="rect">
            <a:avLst/>
          </a:prstGeom>
          <a:noFill/>
        </p:spPr>
        <p:txBody>
          <a:bodyPr wrap="square" rtlCol="0">
            <a:spAutoFit/>
          </a:bodyPr>
          <a:lstStyle/>
          <a:p>
            <a:r>
              <a:rPr lang="en-GB" sz="1400" b="1" dirty="0"/>
              <a:t>Population P</a:t>
            </a:r>
          </a:p>
          <a:p>
            <a:r>
              <a:rPr lang="en-GB" sz="1400" dirty="0"/>
              <a:t>Population of patients as defined by eligibility criteria</a:t>
            </a:r>
          </a:p>
        </p:txBody>
      </p:sp>
      <p:sp>
        <p:nvSpPr>
          <p:cNvPr id="5" name="Oval 4"/>
          <p:cNvSpPr/>
          <p:nvPr/>
        </p:nvSpPr>
        <p:spPr bwMode="auto">
          <a:xfrm>
            <a:off x="3706762" y="1556744"/>
            <a:ext cx="2585884" cy="1189703"/>
          </a:xfrm>
          <a:prstGeom prst="ellipse">
            <a:avLst/>
          </a:prstGeom>
          <a:solidFill>
            <a:schemeClr val="accent1"/>
          </a:solidFill>
          <a:ln w="508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latin typeface="Verdana" pitchFamily="34" charset="0"/>
            </a:endParaRPr>
          </a:p>
        </p:txBody>
      </p:sp>
      <p:sp>
        <p:nvSpPr>
          <p:cNvPr id="7" name="Oval 6"/>
          <p:cNvSpPr/>
          <p:nvPr/>
        </p:nvSpPr>
        <p:spPr bwMode="auto">
          <a:xfrm>
            <a:off x="6448621" y="3440456"/>
            <a:ext cx="1643329" cy="807915"/>
          </a:xfrm>
          <a:prstGeom prst="ellipse">
            <a:avLst/>
          </a:prstGeom>
          <a:solidFill>
            <a:srgbClr val="FFFF00"/>
          </a:solidFill>
          <a:ln w="508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latin typeface="Verdana" pitchFamily="34" charset="0"/>
            </a:endParaRPr>
          </a:p>
        </p:txBody>
      </p:sp>
      <p:cxnSp>
        <p:nvCxnSpPr>
          <p:cNvPr id="9" name="Straight Arrow Connector 8"/>
          <p:cNvCxnSpPr>
            <a:stCxn id="5" idx="5"/>
            <a:endCxn id="7" idx="1"/>
          </p:cNvCxnSpPr>
          <p:nvPr/>
        </p:nvCxnSpPr>
        <p:spPr bwMode="auto">
          <a:xfrm>
            <a:off x="5913952" y="2572219"/>
            <a:ext cx="775328" cy="986553"/>
          </a:xfrm>
          <a:prstGeom prst="straightConnector1">
            <a:avLst/>
          </a:prstGeom>
          <a:solidFill>
            <a:schemeClr val="accent1"/>
          </a:solidFill>
          <a:ln w="50800" cap="flat" cmpd="sng" algn="ctr">
            <a:solidFill>
              <a:schemeClr val="tx1"/>
            </a:solidFill>
            <a:prstDash val="solid"/>
            <a:round/>
            <a:headEnd type="none" w="med" len="med"/>
            <a:tailEnd type="arrow"/>
          </a:ln>
          <a:effectLst/>
        </p:spPr>
      </p:cxnSp>
      <p:sp>
        <p:nvSpPr>
          <p:cNvPr id="10" name="TextBox 9"/>
          <p:cNvSpPr txBox="1"/>
          <p:nvPr/>
        </p:nvSpPr>
        <p:spPr>
          <a:xfrm>
            <a:off x="3752795" y="3391390"/>
            <a:ext cx="2493819" cy="738664"/>
          </a:xfrm>
          <a:prstGeom prst="rect">
            <a:avLst/>
          </a:prstGeom>
          <a:noFill/>
        </p:spPr>
        <p:txBody>
          <a:bodyPr wrap="square" rtlCol="0">
            <a:spAutoFit/>
          </a:bodyPr>
          <a:lstStyle/>
          <a:p>
            <a:r>
              <a:rPr lang="en-GB" sz="1400" b="1" dirty="0"/>
              <a:t>Sample A</a:t>
            </a:r>
          </a:p>
          <a:p>
            <a:r>
              <a:rPr lang="en-GB" sz="1400" dirty="0"/>
              <a:t>Patients approached to be recruited for the trial</a:t>
            </a:r>
          </a:p>
        </p:txBody>
      </p:sp>
      <p:sp>
        <p:nvSpPr>
          <p:cNvPr id="11" name="Oval 10"/>
          <p:cNvSpPr/>
          <p:nvPr/>
        </p:nvSpPr>
        <p:spPr bwMode="auto">
          <a:xfrm>
            <a:off x="8021782" y="4939876"/>
            <a:ext cx="1028813" cy="585855"/>
          </a:xfrm>
          <a:prstGeom prst="ellipse">
            <a:avLst/>
          </a:prstGeom>
          <a:solidFill>
            <a:srgbClr val="FF0000"/>
          </a:solidFill>
          <a:ln w="508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latin typeface="Verdana" pitchFamily="34" charset="0"/>
            </a:endParaRPr>
          </a:p>
        </p:txBody>
      </p:sp>
      <p:cxnSp>
        <p:nvCxnSpPr>
          <p:cNvPr id="13" name="Straight Arrow Connector 12"/>
          <p:cNvCxnSpPr>
            <a:stCxn id="7" idx="5"/>
            <a:endCxn id="11" idx="0"/>
          </p:cNvCxnSpPr>
          <p:nvPr/>
        </p:nvCxnSpPr>
        <p:spPr bwMode="auto">
          <a:xfrm>
            <a:off x="7851290" y="4130055"/>
            <a:ext cx="684899" cy="809821"/>
          </a:xfrm>
          <a:prstGeom prst="straightConnector1">
            <a:avLst/>
          </a:prstGeom>
          <a:solidFill>
            <a:schemeClr val="accent1"/>
          </a:solidFill>
          <a:ln w="50800" cap="flat" cmpd="sng" algn="ctr">
            <a:solidFill>
              <a:schemeClr val="tx1"/>
            </a:solidFill>
            <a:prstDash val="solid"/>
            <a:round/>
            <a:headEnd type="none" w="med" len="med"/>
            <a:tailEnd type="arrow"/>
          </a:ln>
          <a:effectLst/>
        </p:spPr>
      </p:cxnSp>
      <p:sp>
        <p:nvSpPr>
          <p:cNvPr id="14" name="TextBox 13"/>
          <p:cNvSpPr txBox="1"/>
          <p:nvPr/>
        </p:nvSpPr>
        <p:spPr>
          <a:xfrm>
            <a:off x="7370395" y="5679829"/>
            <a:ext cx="2493819" cy="738664"/>
          </a:xfrm>
          <a:prstGeom prst="rect">
            <a:avLst/>
          </a:prstGeom>
          <a:noFill/>
        </p:spPr>
        <p:txBody>
          <a:bodyPr wrap="square" rtlCol="0">
            <a:spAutoFit/>
          </a:bodyPr>
          <a:lstStyle/>
          <a:p>
            <a:r>
              <a:rPr lang="en-GB" sz="1400" dirty="0"/>
              <a:t>Eligible patients </a:t>
            </a:r>
            <a:r>
              <a:rPr lang="en-GB" sz="1400" b="1" dirty="0"/>
              <a:t>not</a:t>
            </a:r>
            <a:r>
              <a:rPr lang="en-GB" sz="1400" dirty="0"/>
              <a:t> entered into trial</a:t>
            </a:r>
          </a:p>
          <a:p>
            <a:r>
              <a:rPr lang="en-GB" sz="1400" dirty="0"/>
              <a:t>e.g. refuse consent</a:t>
            </a:r>
          </a:p>
        </p:txBody>
      </p:sp>
      <p:sp>
        <p:nvSpPr>
          <p:cNvPr id="15" name="Oval 14"/>
          <p:cNvSpPr/>
          <p:nvPr/>
        </p:nvSpPr>
        <p:spPr bwMode="auto">
          <a:xfrm>
            <a:off x="4999705" y="4782560"/>
            <a:ext cx="1209329" cy="743171"/>
          </a:xfrm>
          <a:prstGeom prst="ellipse">
            <a:avLst/>
          </a:prstGeom>
          <a:solidFill>
            <a:srgbClr val="FFC000"/>
          </a:solidFill>
          <a:ln w="508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latin typeface="Verdana" pitchFamily="34" charset="0"/>
            </a:endParaRPr>
          </a:p>
        </p:txBody>
      </p:sp>
      <p:cxnSp>
        <p:nvCxnSpPr>
          <p:cNvPr id="17" name="Straight Arrow Connector 16"/>
          <p:cNvCxnSpPr>
            <a:stCxn id="7" idx="3"/>
            <a:endCxn id="15" idx="7"/>
          </p:cNvCxnSpPr>
          <p:nvPr/>
        </p:nvCxnSpPr>
        <p:spPr bwMode="auto">
          <a:xfrm flipH="1">
            <a:off x="6031932" y="4130054"/>
            <a:ext cx="657349" cy="761340"/>
          </a:xfrm>
          <a:prstGeom prst="straightConnector1">
            <a:avLst/>
          </a:prstGeom>
          <a:solidFill>
            <a:schemeClr val="accent1"/>
          </a:solidFill>
          <a:ln w="50800" cap="flat" cmpd="sng" algn="ctr">
            <a:solidFill>
              <a:schemeClr val="tx1"/>
            </a:solidFill>
            <a:prstDash val="solid"/>
            <a:round/>
            <a:headEnd type="none" w="med" len="med"/>
            <a:tailEnd type="arrow"/>
          </a:ln>
          <a:effectLst/>
        </p:spPr>
      </p:cxnSp>
      <p:sp>
        <p:nvSpPr>
          <p:cNvPr id="19" name="TextBox 18"/>
          <p:cNvSpPr txBox="1"/>
          <p:nvPr/>
        </p:nvSpPr>
        <p:spPr>
          <a:xfrm>
            <a:off x="4524136" y="5679829"/>
            <a:ext cx="2165144" cy="738664"/>
          </a:xfrm>
          <a:prstGeom prst="rect">
            <a:avLst/>
          </a:prstGeom>
          <a:noFill/>
          <a:ln>
            <a:solidFill>
              <a:schemeClr val="tx1"/>
            </a:solidFill>
          </a:ln>
        </p:spPr>
        <p:txBody>
          <a:bodyPr wrap="square" rtlCol="0">
            <a:spAutoFit/>
          </a:bodyPr>
          <a:lstStyle/>
          <a:p>
            <a:r>
              <a:rPr lang="en-GB" sz="1400" b="1" dirty="0"/>
              <a:t>Sample B</a:t>
            </a:r>
            <a:endParaRPr lang="en-GB" sz="1400" dirty="0"/>
          </a:p>
          <a:p>
            <a:r>
              <a:rPr lang="en-GB" sz="1400" dirty="0"/>
              <a:t>Patients formally in the trial</a:t>
            </a:r>
          </a:p>
        </p:txBody>
      </p:sp>
      <p:sp>
        <p:nvSpPr>
          <p:cNvPr id="3" name="TextBox 2"/>
          <p:cNvSpPr txBox="1"/>
          <p:nvPr/>
        </p:nvSpPr>
        <p:spPr>
          <a:xfrm>
            <a:off x="1605280" y="2828350"/>
            <a:ext cx="2182762" cy="923330"/>
          </a:xfrm>
          <a:prstGeom prst="rect">
            <a:avLst/>
          </a:prstGeom>
          <a:noFill/>
        </p:spPr>
        <p:txBody>
          <a:bodyPr wrap="square" rtlCol="0">
            <a:spAutoFit/>
          </a:bodyPr>
          <a:lstStyle/>
          <a:p>
            <a:r>
              <a:rPr lang="en-GB" dirty="0"/>
              <a:t>Take a </a:t>
            </a:r>
            <a:r>
              <a:rPr lang="en-GB" b="1" dirty="0"/>
              <a:t>random sample </a:t>
            </a:r>
            <a:r>
              <a:rPr lang="en-GB" dirty="0"/>
              <a:t>from the target population</a:t>
            </a:r>
          </a:p>
        </p:txBody>
      </p:sp>
      <p:sp>
        <p:nvSpPr>
          <p:cNvPr id="6" name="Rectangle 5"/>
          <p:cNvSpPr/>
          <p:nvPr/>
        </p:nvSpPr>
        <p:spPr bwMode="auto">
          <a:xfrm>
            <a:off x="1605280" y="2628650"/>
            <a:ext cx="2101482" cy="2024631"/>
          </a:xfrm>
          <a:prstGeom prst="rect">
            <a:avLst/>
          </a:prstGeom>
          <a:noFill/>
          <a:ln w="50800" cap="flat" cmpd="sng" algn="ctr">
            <a:solidFill>
              <a:srgbClr val="FF66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latin typeface="Verdana" pitchFamily="34" charset="0"/>
            </a:endParaRPr>
          </a:p>
        </p:txBody>
      </p:sp>
      <p:sp>
        <p:nvSpPr>
          <p:cNvPr id="12" name="Slide Number Placeholder 11"/>
          <p:cNvSpPr>
            <a:spLocks noGrp="1"/>
          </p:cNvSpPr>
          <p:nvPr>
            <p:ph type="sldNum" sz="quarter" idx="10"/>
          </p:nvPr>
        </p:nvSpPr>
        <p:spPr/>
        <p:txBody>
          <a:bodyPr/>
          <a:lstStyle/>
          <a:p>
            <a:fld id="{295AAB7A-98F7-42CD-A204-DDD6725CD545}" type="slidenum">
              <a:rPr lang="en-GB" smtClean="0"/>
              <a:t>78</a:t>
            </a:fld>
            <a:endParaRPr lang="en-GB"/>
          </a:p>
        </p:txBody>
      </p:sp>
      <p:sp>
        <p:nvSpPr>
          <p:cNvPr id="8" name="TextBox 7"/>
          <p:cNvSpPr txBox="1"/>
          <p:nvPr/>
        </p:nvSpPr>
        <p:spPr>
          <a:xfrm>
            <a:off x="1872270" y="2560394"/>
            <a:ext cx="1985818" cy="1569660"/>
          </a:xfrm>
          <a:prstGeom prst="rect">
            <a:avLst/>
          </a:prstGeom>
          <a:noFill/>
        </p:spPr>
        <p:txBody>
          <a:bodyPr wrap="square" rtlCol="0">
            <a:spAutoFit/>
          </a:bodyPr>
          <a:lstStyle/>
          <a:p>
            <a:r>
              <a:rPr lang="en-GB" sz="9600" dirty="0" smtClean="0">
                <a:solidFill>
                  <a:srgbClr val="FF0000"/>
                </a:solidFill>
                <a:latin typeface="Segoe UI Symbol" panose="020B0502040204020203" pitchFamily="34" charset="0"/>
                <a:ea typeface="Segoe UI Symbol" panose="020B0502040204020203" pitchFamily="34" charset="0"/>
              </a:rPr>
              <a:t>✖</a:t>
            </a:r>
            <a:endParaRPr lang="en-GB" sz="9600" dirty="0">
              <a:solidFill>
                <a:srgbClr val="FF0000"/>
              </a:solidFill>
            </a:endParaRPr>
          </a:p>
        </p:txBody>
      </p:sp>
    </p:spTree>
    <p:extLst>
      <p:ext uri="{BB962C8B-B14F-4D97-AF65-F5344CB8AC3E}">
        <p14:creationId xmlns:p14="http://schemas.microsoft.com/office/powerpoint/2010/main" val="29776365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p:bldP spid="11" grpId="0" animBg="1"/>
      <p:bldP spid="14" grpId="0"/>
      <p:bldP spid="15" grpId="0" animBg="1"/>
      <p:bldP spid="19"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3"/>
            <a:ext cx="10808393" cy="1450757"/>
          </a:xfrm>
        </p:spPr>
        <p:txBody>
          <a:bodyPr/>
          <a:lstStyle/>
          <a:p>
            <a:r>
              <a:rPr lang="en-GB" dirty="0" smtClean="0"/>
              <a:t>Ideal: recruitment to a randomised clinical trial</a:t>
            </a:r>
            <a:endParaRPr lang="en-GB" dirty="0"/>
          </a:p>
        </p:txBody>
      </p:sp>
      <p:sp>
        <p:nvSpPr>
          <p:cNvPr id="4" name="TextBox 3"/>
          <p:cNvSpPr txBox="1"/>
          <p:nvPr/>
        </p:nvSpPr>
        <p:spPr>
          <a:xfrm>
            <a:off x="6774873" y="1674542"/>
            <a:ext cx="2493819" cy="738664"/>
          </a:xfrm>
          <a:prstGeom prst="rect">
            <a:avLst/>
          </a:prstGeom>
          <a:noFill/>
        </p:spPr>
        <p:txBody>
          <a:bodyPr wrap="square" rtlCol="0">
            <a:spAutoFit/>
          </a:bodyPr>
          <a:lstStyle/>
          <a:p>
            <a:r>
              <a:rPr lang="en-GB" sz="1400" b="1" dirty="0"/>
              <a:t>Population P</a:t>
            </a:r>
          </a:p>
          <a:p>
            <a:r>
              <a:rPr lang="en-GB" sz="1400" dirty="0"/>
              <a:t>Population of patients as defined by eligibility criteria</a:t>
            </a:r>
          </a:p>
        </p:txBody>
      </p:sp>
      <p:sp>
        <p:nvSpPr>
          <p:cNvPr id="5" name="Oval 4"/>
          <p:cNvSpPr/>
          <p:nvPr/>
        </p:nvSpPr>
        <p:spPr bwMode="auto">
          <a:xfrm>
            <a:off x="3706762" y="1556744"/>
            <a:ext cx="2585884" cy="1189703"/>
          </a:xfrm>
          <a:prstGeom prst="ellipse">
            <a:avLst/>
          </a:prstGeom>
          <a:solidFill>
            <a:schemeClr val="accent1"/>
          </a:solidFill>
          <a:ln w="508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latin typeface="Verdana" pitchFamily="34" charset="0"/>
            </a:endParaRPr>
          </a:p>
        </p:txBody>
      </p:sp>
      <p:sp>
        <p:nvSpPr>
          <p:cNvPr id="7" name="Oval 6"/>
          <p:cNvSpPr/>
          <p:nvPr/>
        </p:nvSpPr>
        <p:spPr bwMode="auto">
          <a:xfrm>
            <a:off x="6448621" y="3440456"/>
            <a:ext cx="1643329" cy="807915"/>
          </a:xfrm>
          <a:prstGeom prst="ellipse">
            <a:avLst/>
          </a:prstGeom>
          <a:solidFill>
            <a:srgbClr val="FFFF00"/>
          </a:solidFill>
          <a:ln w="508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latin typeface="Verdana" pitchFamily="34" charset="0"/>
            </a:endParaRPr>
          </a:p>
        </p:txBody>
      </p:sp>
      <p:cxnSp>
        <p:nvCxnSpPr>
          <p:cNvPr id="9" name="Straight Arrow Connector 8"/>
          <p:cNvCxnSpPr>
            <a:stCxn id="5" idx="5"/>
            <a:endCxn id="7" idx="1"/>
          </p:cNvCxnSpPr>
          <p:nvPr/>
        </p:nvCxnSpPr>
        <p:spPr bwMode="auto">
          <a:xfrm>
            <a:off x="5913952" y="2572219"/>
            <a:ext cx="775328" cy="986553"/>
          </a:xfrm>
          <a:prstGeom prst="straightConnector1">
            <a:avLst/>
          </a:prstGeom>
          <a:solidFill>
            <a:schemeClr val="accent1"/>
          </a:solidFill>
          <a:ln w="50800" cap="flat" cmpd="sng" algn="ctr">
            <a:solidFill>
              <a:schemeClr val="tx1"/>
            </a:solidFill>
            <a:prstDash val="solid"/>
            <a:round/>
            <a:headEnd type="none" w="med" len="med"/>
            <a:tailEnd type="arrow"/>
          </a:ln>
          <a:effectLst/>
        </p:spPr>
      </p:cxnSp>
      <p:sp>
        <p:nvSpPr>
          <p:cNvPr id="10" name="TextBox 9"/>
          <p:cNvSpPr txBox="1"/>
          <p:nvPr/>
        </p:nvSpPr>
        <p:spPr>
          <a:xfrm>
            <a:off x="3752795" y="3391390"/>
            <a:ext cx="2493819" cy="738664"/>
          </a:xfrm>
          <a:prstGeom prst="rect">
            <a:avLst/>
          </a:prstGeom>
          <a:noFill/>
        </p:spPr>
        <p:txBody>
          <a:bodyPr wrap="square" rtlCol="0">
            <a:spAutoFit/>
          </a:bodyPr>
          <a:lstStyle/>
          <a:p>
            <a:r>
              <a:rPr lang="en-GB" sz="1400" b="1" dirty="0"/>
              <a:t>Sample A</a:t>
            </a:r>
          </a:p>
          <a:p>
            <a:r>
              <a:rPr lang="en-GB" sz="1400" dirty="0"/>
              <a:t>Patients approached to be recruited for the trial</a:t>
            </a:r>
          </a:p>
        </p:txBody>
      </p:sp>
      <p:sp>
        <p:nvSpPr>
          <p:cNvPr id="11" name="Oval 10"/>
          <p:cNvSpPr/>
          <p:nvPr/>
        </p:nvSpPr>
        <p:spPr bwMode="auto">
          <a:xfrm>
            <a:off x="8021782" y="4939876"/>
            <a:ext cx="1028813" cy="585855"/>
          </a:xfrm>
          <a:prstGeom prst="ellipse">
            <a:avLst/>
          </a:prstGeom>
          <a:solidFill>
            <a:srgbClr val="FF0000"/>
          </a:solidFill>
          <a:ln w="508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latin typeface="Verdana" pitchFamily="34" charset="0"/>
            </a:endParaRPr>
          </a:p>
        </p:txBody>
      </p:sp>
      <p:cxnSp>
        <p:nvCxnSpPr>
          <p:cNvPr id="13" name="Straight Arrow Connector 12"/>
          <p:cNvCxnSpPr>
            <a:stCxn id="7" idx="5"/>
            <a:endCxn id="11" idx="0"/>
          </p:cNvCxnSpPr>
          <p:nvPr/>
        </p:nvCxnSpPr>
        <p:spPr bwMode="auto">
          <a:xfrm>
            <a:off x="7851290" y="4130055"/>
            <a:ext cx="684899" cy="809821"/>
          </a:xfrm>
          <a:prstGeom prst="straightConnector1">
            <a:avLst/>
          </a:prstGeom>
          <a:solidFill>
            <a:schemeClr val="accent1"/>
          </a:solidFill>
          <a:ln w="50800" cap="flat" cmpd="sng" algn="ctr">
            <a:solidFill>
              <a:schemeClr val="tx1"/>
            </a:solidFill>
            <a:prstDash val="solid"/>
            <a:round/>
            <a:headEnd type="none" w="med" len="med"/>
            <a:tailEnd type="arrow"/>
          </a:ln>
          <a:effectLst/>
        </p:spPr>
      </p:cxnSp>
      <p:sp>
        <p:nvSpPr>
          <p:cNvPr id="14" name="TextBox 13"/>
          <p:cNvSpPr txBox="1"/>
          <p:nvPr/>
        </p:nvSpPr>
        <p:spPr>
          <a:xfrm>
            <a:off x="7370395" y="5679829"/>
            <a:ext cx="2493819" cy="738664"/>
          </a:xfrm>
          <a:prstGeom prst="rect">
            <a:avLst/>
          </a:prstGeom>
          <a:noFill/>
        </p:spPr>
        <p:txBody>
          <a:bodyPr wrap="square" rtlCol="0">
            <a:spAutoFit/>
          </a:bodyPr>
          <a:lstStyle/>
          <a:p>
            <a:r>
              <a:rPr lang="en-GB" sz="1400" dirty="0"/>
              <a:t>Eligible patients </a:t>
            </a:r>
            <a:r>
              <a:rPr lang="en-GB" sz="1400" b="1" dirty="0"/>
              <a:t>not</a:t>
            </a:r>
            <a:r>
              <a:rPr lang="en-GB" sz="1400" dirty="0"/>
              <a:t> entered into trial</a:t>
            </a:r>
          </a:p>
          <a:p>
            <a:r>
              <a:rPr lang="en-GB" sz="1400" dirty="0"/>
              <a:t>e.g. refuse consent</a:t>
            </a:r>
          </a:p>
        </p:txBody>
      </p:sp>
      <p:sp>
        <p:nvSpPr>
          <p:cNvPr id="15" name="Oval 14"/>
          <p:cNvSpPr/>
          <p:nvPr/>
        </p:nvSpPr>
        <p:spPr bwMode="auto">
          <a:xfrm>
            <a:off x="4999705" y="4782560"/>
            <a:ext cx="1209329" cy="743171"/>
          </a:xfrm>
          <a:prstGeom prst="ellipse">
            <a:avLst/>
          </a:prstGeom>
          <a:solidFill>
            <a:srgbClr val="FFC000"/>
          </a:solidFill>
          <a:ln w="508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latin typeface="Verdana" pitchFamily="34" charset="0"/>
            </a:endParaRPr>
          </a:p>
        </p:txBody>
      </p:sp>
      <p:cxnSp>
        <p:nvCxnSpPr>
          <p:cNvPr id="17" name="Straight Arrow Connector 16"/>
          <p:cNvCxnSpPr>
            <a:stCxn id="7" idx="3"/>
            <a:endCxn id="15" idx="7"/>
          </p:cNvCxnSpPr>
          <p:nvPr/>
        </p:nvCxnSpPr>
        <p:spPr bwMode="auto">
          <a:xfrm flipH="1">
            <a:off x="6031932" y="4130054"/>
            <a:ext cx="657349" cy="761340"/>
          </a:xfrm>
          <a:prstGeom prst="straightConnector1">
            <a:avLst/>
          </a:prstGeom>
          <a:solidFill>
            <a:schemeClr val="accent1"/>
          </a:solidFill>
          <a:ln w="50800" cap="flat" cmpd="sng" algn="ctr">
            <a:solidFill>
              <a:schemeClr val="tx1"/>
            </a:solidFill>
            <a:prstDash val="solid"/>
            <a:round/>
            <a:headEnd type="none" w="med" len="med"/>
            <a:tailEnd type="arrow"/>
          </a:ln>
          <a:effectLst/>
        </p:spPr>
      </p:cxnSp>
      <p:sp>
        <p:nvSpPr>
          <p:cNvPr id="19" name="TextBox 18"/>
          <p:cNvSpPr txBox="1"/>
          <p:nvPr/>
        </p:nvSpPr>
        <p:spPr>
          <a:xfrm>
            <a:off x="4524136" y="5679829"/>
            <a:ext cx="2165144" cy="738664"/>
          </a:xfrm>
          <a:prstGeom prst="rect">
            <a:avLst/>
          </a:prstGeom>
          <a:noFill/>
          <a:ln>
            <a:solidFill>
              <a:schemeClr val="tx1"/>
            </a:solidFill>
          </a:ln>
        </p:spPr>
        <p:txBody>
          <a:bodyPr wrap="square" rtlCol="0">
            <a:spAutoFit/>
          </a:bodyPr>
          <a:lstStyle/>
          <a:p>
            <a:r>
              <a:rPr lang="en-GB" sz="1400" b="1" dirty="0"/>
              <a:t>Sample B</a:t>
            </a:r>
            <a:endParaRPr lang="en-GB" sz="1400" dirty="0"/>
          </a:p>
          <a:p>
            <a:r>
              <a:rPr lang="en-GB" sz="1400" dirty="0"/>
              <a:t>Patients formally in the trial</a:t>
            </a:r>
          </a:p>
        </p:txBody>
      </p:sp>
      <p:sp>
        <p:nvSpPr>
          <p:cNvPr id="3" name="TextBox 2"/>
          <p:cNvSpPr txBox="1"/>
          <p:nvPr/>
        </p:nvSpPr>
        <p:spPr>
          <a:xfrm>
            <a:off x="1605280" y="2828350"/>
            <a:ext cx="2182762" cy="923330"/>
          </a:xfrm>
          <a:prstGeom prst="rect">
            <a:avLst/>
          </a:prstGeom>
          <a:noFill/>
        </p:spPr>
        <p:txBody>
          <a:bodyPr wrap="square" rtlCol="0">
            <a:spAutoFit/>
          </a:bodyPr>
          <a:lstStyle/>
          <a:p>
            <a:r>
              <a:rPr lang="en-GB" dirty="0"/>
              <a:t>Take a </a:t>
            </a:r>
            <a:r>
              <a:rPr lang="en-GB" b="1" dirty="0"/>
              <a:t>random sample </a:t>
            </a:r>
            <a:r>
              <a:rPr lang="en-GB" dirty="0"/>
              <a:t>from the target population</a:t>
            </a:r>
          </a:p>
        </p:txBody>
      </p:sp>
      <p:sp>
        <p:nvSpPr>
          <p:cNvPr id="6" name="Rectangle 5"/>
          <p:cNvSpPr/>
          <p:nvPr/>
        </p:nvSpPr>
        <p:spPr bwMode="auto">
          <a:xfrm>
            <a:off x="1605280" y="2628650"/>
            <a:ext cx="2101482" cy="2024631"/>
          </a:xfrm>
          <a:prstGeom prst="rect">
            <a:avLst/>
          </a:prstGeom>
          <a:noFill/>
          <a:ln w="50800" cap="flat" cmpd="sng" algn="ctr">
            <a:solidFill>
              <a:srgbClr val="FF66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latin typeface="Verdana" pitchFamily="34" charset="0"/>
            </a:endParaRPr>
          </a:p>
        </p:txBody>
      </p:sp>
      <p:sp>
        <p:nvSpPr>
          <p:cNvPr id="12" name="Slide Number Placeholder 11"/>
          <p:cNvSpPr>
            <a:spLocks noGrp="1"/>
          </p:cNvSpPr>
          <p:nvPr>
            <p:ph type="sldNum" sz="quarter" idx="10"/>
          </p:nvPr>
        </p:nvSpPr>
        <p:spPr/>
        <p:txBody>
          <a:bodyPr/>
          <a:lstStyle/>
          <a:p>
            <a:fld id="{295AAB7A-98F7-42CD-A204-DDD6725CD545}" type="slidenum">
              <a:rPr lang="en-GB" smtClean="0"/>
              <a:t>79</a:t>
            </a:fld>
            <a:endParaRPr lang="en-GB"/>
          </a:p>
        </p:txBody>
      </p:sp>
      <p:sp>
        <p:nvSpPr>
          <p:cNvPr id="8" name="TextBox 7"/>
          <p:cNvSpPr txBox="1"/>
          <p:nvPr/>
        </p:nvSpPr>
        <p:spPr>
          <a:xfrm>
            <a:off x="1872270" y="2560394"/>
            <a:ext cx="1985818" cy="1569660"/>
          </a:xfrm>
          <a:prstGeom prst="rect">
            <a:avLst/>
          </a:prstGeom>
          <a:noFill/>
        </p:spPr>
        <p:txBody>
          <a:bodyPr wrap="square" rtlCol="0">
            <a:spAutoFit/>
          </a:bodyPr>
          <a:lstStyle/>
          <a:p>
            <a:r>
              <a:rPr lang="en-GB" sz="9600" dirty="0" smtClean="0">
                <a:solidFill>
                  <a:srgbClr val="FF0000"/>
                </a:solidFill>
                <a:latin typeface="Segoe UI Symbol" panose="020B0502040204020203" pitchFamily="34" charset="0"/>
                <a:ea typeface="Segoe UI Symbol" panose="020B0502040204020203" pitchFamily="34" charset="0"/>
              </a:rPr>
              <a:t>✖</a:t>
            </a:r>
            <a:endParaRPr lang="en-GB" sz="9600" dirty="0">
              <a:solidFill>
                <a:srgbClr val="FF0000"/>
              </a:solidFill>
            </a:endParaRPr>
          </a:p>
        </p:txBody>
      </p:sp>
      <p:sp>
        <p:nvSpPr>
          <p:cNvPr id="16" name="TextBox 15"/>
          <p:cNvSpPr txBox="1"/>
          <p:nvPr/>
        </p:nvSpPr>
        <p:spPr>
          <a:xfrm>
            <a:off x="1764145" y="3870036"/>
            <a:ext cx="1805406" cy="646331"/>
          </a:xfrm>
          <a:prstGeom prst="rect">
            <a:avLst/>
          </a:prstGeom>
          <a:noFill/>
        </p:spPr>
        <p:txBody>
          <a:bodyPr wrap="square" rtlCol="0">
            <a:spAutoFit/>
          </a:bodyPr>
          <a:lstStyle/>
          <a:p>
            <a:pPr algn="just"/>
            <a:r>
              <a:rPr lang="en-GB" dirty="0" smtClean="0"/>
              <a:t>We </a:t>
            </a:r>
            <a:r>
              <a:rPr lang="en-GB" u="sng" dirty="0" smtClean="0"/>
              <a:t>never</a:t>
            </a:r>
            <a:r>
              <a:rPr lang="en-GB" dirty="0" smtClean="0"/>
              <a:t> get a random sample</a:t>
            </a:r>
            <a:endParaRPr lang="en-GB" dirty="0"/>
          </a:p>
        </p:txBody>
      </p:sp>
    </p:spTree>
    <p:extLst>
      <p:ext uri="{BB962C8B-B14F-4D97-AF65-F5344CB8AC3E}">
        <p14:creationId xmlns:p14="http://schemas.microsoft.com/office/powerpoint/2010/main" val="10781803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p:bldP spid="11" grpId="0" animBg="1"/>
      <p:bldP spid="14" grpId="0"/>
      <p:bldP spid="15" grpId="0" animBg="1"/>
      <p:bldP spid="19"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3"/>
            <a:ext cx="10808393" cy="1450757"/>
          </a:xfrm>
        </p:spPr>
        <p:txBody>
          <a:bodyPr/>
          <a:lstStyle/>
          <a:p>
            <a:r>
              <a:rPr lang="en-GB" dirty="0" smtClean="0"/>
              <a:t>Reality: recruitment to a randomised clinical trial</a:t>
            </a:r>
            <a:endParaRPr lang="en-GB" dirty="0"/>
          </a:p>
        </p:txBody>
      </p:sp>
      <p:sp>
        <p:nvSpPr>
          <p:cNvPr id="4" name="TextBox 3"/>
          <p:cNvSpPr txBox="1"/>
          <p:nvPr/>
        </p:nvSpPr>
        <p:spPr>
          <a:xfrm>
            <a:off x="6774873" y="1674542"/>
            <a:ext cx="2493819" cy="738664"/>
          </a:xfrm>
          <a:prstGeom prst="rect">
            <a:avLst/>
          </a:prstGeom>
          <a:noFill/>
        </p:spPr>
        <p:txBody>
          <a:bodyPr wrap="square" rtlCol="0">
            <a:spAutoFit/>
          </a:bodyPr>
          <a:lstStyle/>
          <a:p>
            <a:r>
              <a:rPr lang="en-GB" sz="1400" b="1" dirty="0"/>
              <a:t>Population P</a:t>
            </a:r>
          </a:p>
          <a:p>
            <a:r>
              <a:rPr lang="en-GB" sz="1400" dirty="0"/>
              <a:t>Population of patients as defined by eligibility criteria</a:t>
            </a:r>
          </a:p>
        </p:txBody>
      </p:sp>
      <p:sp>
        <p:nvSpPr>
          <p:cNvPr id="5" name="Oval 4"/>
          <p:cNvSpPr/>
          <p:nvPr/>
        </p:nvSpPr>
        <p:spPr bwMode="auto">
          <a:xfrm>
            <a:off x="3706762" y="1556744"/>
            <a:ext cx="2585884" cy="1189703"/>
          </a:xfrm>
          <a:prstGeom prst="ellipse">
            <a:avLst/>
          </a:prstGeom>
          <a:solidFill>
            <a:schemeClr val="accent1"/>
          </a:solidFill>
          <a:ln w="508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latin typeface="Verdana" pitchFamily="34" charset="0"/>
            </a:endParaRPr>
          </a:p>
        </p:txBody>
      </p:sp>
      <p:sp>
        <p:nvSpPr>
          <p:cNvPr id="7" name="Oval 6"/>
          <p:cNvSpPr/>
          <p:nvPr/>
        </p:nvSpPr>
        <p:spPr bwMode="auto">
          <a:xfrm>
            <a:off x="6448621" y="3440456"/>
            <a:ext cx="1643329" cy="807915"/>
          </a:xfrm>
          <a:prstGeom prst="ellipse">
            <a:avLst/>
          </a:prstGeom>
          <a:solidFill>
            <a:srgbClr val="FFFF00"/>
          </a:solidFill>
          <a:ln w="508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latin typeface="Verdana" pitchFamily="34" charset="0"/>
            </a:endParaRPr>
          </a:p>
        </p:txBody>
      </p:sp>
      <p:cxnSp>
        <p:nvCxnSpPr>
          <p:cNvPr id="9" name="Straight Arrow Connector 8"/>
          <p:cNvCxnSpPr>
            <a:stCxn id="5" idx="5"/>
            <a:endCxn id="7" idx="1"/>
          </p:cNvCxnSpPr>
          <p:nvPr/>
        </p:nvCxnSpPr>
        <p:spPr bwMode="auto">
          <a:xfrm>
            <a:off x="5913952" y="2572219"/>
            <a:ext cx="775328" cy="986553"/>
          </a:xfrm>
          <a:prstGeom prst="straightConnector1">
            <a:avLst/>
          </a:prstGeom>
          <a:solidFill>
            <a:schemeClr val="accent1"/>
          </a:solidFill>
          <a:ln w="50800" cap="flat" cmpd="sng" algn="ctr">
            <a:solidFill>
              <a:schemeClr val="tx1"/>
            </a:solidFill>
            <a:prstDash val="solid"/>
            <a:round/>
            <a:headEnd type="none" w="med" len="med"/>
            <a:tailEnd type="arrow"/>
          </a:ln>
          <a:effectLst/>
        </p:spPr>
      </p:cxnSp>
      <p:sp>
        <p:nvSpPr>
          <p:cNvPr id="10" name="TextBox 9"/>
          <p:cNvSpPr txBox="1"/>
          <p:nvPr/>
        </p:nvSpPr>
        <p:spPr>
          <a:xfrm>
            <a:off x="3752795" y="3391390"/>
            <a:ext cx="2493819" cy="738664"/>
          </a:xfrm>
          <a:prstGeom prst="rect">
            <a:avLst/>
          </a:prstGeom>
          <a:noFill/>
        </p:spPr>
        <p:txBody>
          <a:bodyPr wrap="square" rtlCol="0">
            <a:spAutoFit/>
          </a:bodyPr>
          <a:lstStyle/>
          <a:p>
            <a:r>
              <a:rPr lang="en-GB" sz="1400" b="1" dirty="0"/>
              <a:t>Sample A</a:t>
            </a:r>
          </a:p>
          <a:p>
            <a:r>
              <a:rPr lang="en-GB" sz="1400" dirty="0"/>
              <a:t>Patients approached to be recruited for the trial</a:t>
            </a:r>
          </a:p>
        </p:txBody>
      </p:sp>
      <p:sp>
        <p:nvSpPr>
          <p:cNvPr id="11" name="Oval 10"/>
          <p:cNvSpPr/>
          <p:nvPr/>
        </p:nvSpPr>
        <p:spPr bwMode="auto">
          <a:xfrm>
            <a:off x="8021782" y="4939876"/>
            <a:ext cx="1028813" cy="585855"/>
          </a:xfrm>
          <a:prstGeom prst="ellipse">
            <a:avLst/>
          </a:prstGeom>
          <a:solidFill>
            <a:srgbClr val="FF0000"/>
          </a:solidFill>
          <a:ln w="508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latin typeface="Verdana" pitchFamily="34" charset="0"/>
            </a:endParaRPr>
          </a:p>
        </p:txBody>
      </p:sp>
      <p:cxnSp>
        <p:nvCxnSpPr>
          <p:cNvPr id="13" name="Straight Arrow Connector 12"/>
          <p:cNvCxnSpPr>
            <a:stCxn id="7" idx="5"/>
            <a:endCxn id="11" idx="0"/>
          </p:cNvCxnSpPr>
          <p:nvPr/>
        </p:nvCxnSpPr>
        <p:spPr bwMode="auto">
          <a:xfrm>
            <a:off x="7851290" y="4130055"/>
            <a:ext cx="684899" cy="809821"/>
          </a:xfrm>
          <a:prstGeom prst="straightConnector1">
            <a:avLst/>
          </a:prstGeom>
          <a:solidFill>
            <a:schemeClr val="accent1"/>
          </a:solidFill>
          <a:ln w="50800" cap="flat" cmpd="sng" algn="ctr">
            <a:solidFill>
              <a:schemeClr val="tx1"/>
            </a:solidFill>
            <a:prstDash val="solid"/>
            <a:round/>
            <a:headEnd type="none" w="med" len="med"/>
            <a:tailEnd type="arrow"/>
          </a:ln>
          <a:effectLst/>
        </p:spPr>
      </p:cxnSp>
      <p:sp>
        <p:nvSpPr>
          <p:cNvPr id="14" name="TextBox 13"/>
          <p:cNvSpPr txBox="1"/>
          <p:nvPr/>
        </p:nvSpPr>
        <p:spPr>
          <a:xfrm>
            <a:off x="7370395" y="5679829"/>
            <a:ext cx="2493819" cy="738664"/>
          </a:xfrm>
          <a:prstGeom prst="rect">
            <a:avLst/>
          </a:prstGeom>
          <a:noFill/>
        </p:spPr>
        <p:txBody>
          <a:bodyPr wrap="square" rtlCol="0">
            <a:spAutoFit/>
          </a:bodyPr>
          <a:lstStyle/>
          <a:p>
            <a:r>
              <a:rPr lang="en-GB" sz="1400" dirty="0"/>
              <a:t>Eligible patients </a:t>
            </a:r>
            <a:r>
              <a:rPr lang="en-GB" sz="1400" b="1" dirty="0"/>
              <a:t>not</a:t>
            </a:r>
            <a:r>
              <a:rPr lang="en-GB" sz="1400" dirty="0"/>
              <a:t> entered into trial</a:t>
            </a:r>
          </a:p>
          <a:p>
            <a:r>
              <a:rPr lang="en-GB" sz="1400" dirty="0"/>
              <a:t>e.g. refuse consent</a:t>
            </a:r>
          </a:p>
        </p:txBody>
      </p:sp>
      <p:sp>
        <p:nvSpPr>
          <p:cNvPr id="15" name="Oval 14"/>
          <p:cNvSpPr/>
          <p:nvPr/>
        </p:nvSpPr>
        <p:spPr bwMode="auto">
          <a:xfrm>
            <a:off x="4999705" y="4782560"/>
            <a:ext cx="1209329" cy="743171"/>
          </a:xfrm>
          <a:prstGeom prst="ellipse">
            <a:avLst/>
          </a:prstGeom>
          <a:solidFill>
            <a:srgbClr val="FFC000"/>
          </a:solidFill>
          <a:ln w="508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latin typeface="Verdana" pitchFamily="34" charset="0"/>
            </a:endParaRPr>
          </a:p>
        </p:txBody>
      </p:sp>
      <p:cxnSp>
        <p:nvCxnSpPr>
          <p:cNvPr id="17" name="Straight Arrow Connector 16"/>
          <p:cNvCxnSpPr>
            <a:stCxn id="7" idx="3"/>
            <a:endCxn id="15" idx="7"/>
          </p:cNvCxnSpPr>
          <p:nvPr/>
        </p:nvCxnSpPr>
        <p:spPr bwMode="auto">
          <a:xfrm flipH="1">
            <a:off x="6031932" y="4130054"/>
            <a:ext cx="657349" cy="761340"/>
          </a:xfrm>
          <a:prstGeom prst="straightConnector1">
            <a:avLst/>
          </a:prstGeom>
          <a:solidFill>
            <a:schemeClr val="accent1"/>
          </a:solidFill>
          <a:ln w="50800" cap="flat" cmpd="sng" algn="ctr">
            <a:solidFill>
              <a:schemeClr val="tx1"/>
            </a:solidFill>
            <a:prstDash val="solid"/>
            <a:round/>
            <a:headEnd type="none" w="med" len="med"/>
            <a:tailEnd type="arrow"/>
          </a:ln>
          <a:effectLst/>
        </p:spPr>
      </p:cxnSp>
      <p:sp>
        <p:nvSpPr>
          <p:cNvPr id="19" name="TextBox 18"/>
          <p:cNvSpPr txBox="1"/>
          <p:nvPr/>
        </p:nvSpPr>
        <p:spPr>
          <a:xfrm>
            <a:off x="4521797" y="5582135"/>
            <a:ext cx="2165144" cy="738664"/>
          </a:xfrm>
          <a:prstGeom prst="rect">
            <a:avLst/>
          </a:prstGeom>
          <a:noFill/>
          <a:ln>
            <a:solidFill>
              <a:schemeClr val="tx1"/>
            </a:solidFill>
          </a:ln>
        </p:spPr>
        <p:txBody>
          <a:bodyPr wrap="square" rtlCol="0">
            <a:spAutoFit/>
          </a:bodyPr>
          <a:lstStyle/>
          <a:p>
            <a:r>
              <a:rPr lang="en-GB" sz="1400" b="1" dirty="0"/>
              <a:t>Sample B</a:t>
            </a:r>
            <a:endParaRPr lang="en-GB" sz="1400" dirty="0"/>
          </a:p>
          <a:p>
            <a:r>
              <a:rPr lang="en-GB" sz="1400" dirty="0"/>
              <a:t>Patients formally in the trial</a:t>
            </a:r>
          </a:p>
        </p:txBody>
      </p:sp>
      <p:sp>
        <p:nvSpPr>
          <p:cNvPr id="3" name="TextBox 2"/>
          <p:cNvSpPr txBox="1"/>
          <p:nvPr/>
        </p:nvSpPr>
        <p:spPr>
          <a:xfrm>
            <a:off x="1605279" y="2921083"/>
            <a:ext cx="2303489" cy="1754326"/>
          </a:xfrm>
          <a:prstGeom prst="rect">
            <a:avLst/>
          </a:prstGeom>
          <a:noFill/>
        </p:spPr>
        <p:txBody>
          <a:bodyPr wrap="square" rtlCol="0">
            <a:spAutoFit/>
          </a:bodyPr>
          <a:lstStyle/>
          <a:p>
            <a:r>
              <a:rPr lang="en-GB" dirty="0" smtClean="0"/>
              <a:t>Recruit patients meeting eligibility criteria who </a:t>
            </a:r>
            <a:r>
              <a:rPr lang="en-GB" b="1" dirty="0" smtClean="0"/>
              <a:t>consent</a:t>
            </a:r>
          </a:p>
          <a:p>
            <a:endParaRPr lang="en-GB" b="1" dirty="0"/>
          </a:p>
          <a:p>
            <a:r>
              <a:rPr lang="en-GB" dirty="0" smtClean="0"/>
              <a:t>(not a random sample)</a:t>
            </a:r>
            <a:endParaRPr lang="en-GB" dirty="0"/>
          </a:p>
        </p:txBody>
      </p:sp>
      <p:sp>
        <p:nvSpPr>
          <p:cNvPr id="6" name="Rectangle 5"/>
          <p:cNvSpPr/>
          <p:nvPr/>
        </p:nvSpPr>
        <p:spPr bwMode="auto">
          <a:xfrm>
            <a:off x="1605280" y="2628650"/>
            <a:ext cx="2101482" cy="2024631"/>
          </a:xfrm>
          <a:prstGeom prst="rect">
            <a:avLst/>
          </a:prstGeom>
          <a:noFill/>
          <a:ln w="50800" cap="flat" cmpd="sng" algn="ctr">
            <a:solidFill>
              <a:srgbClr val="FF66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latin typeface="Verdana" pitchFamily="34" charset="0"/>
            </a:endParaRPr>
          </a:p>
        </p:txBody>
      </p:sp>
      <p:sp>
        <p:nvSpPr>
          <p:cNvPr id="12" name="Slide Number Placeholder 11"/>
          <p:cNvSpPr>
            <a:spLocks noGrp="1"/>
          </p:cNvSpPr>
          <p:nvPr>
            <p:ph type="sldNum" sz="quarter" idx="10"/>
          </p:nvPr>
        </p:nvSpPr>
        <p:spPr/>
        <p:txBody>
          <a:bodyPr/>
          <a:lstStyle/>
          <a:p>
            <a:fld id="{295AAB7A-98F7-42CD-A204-DDD6725CD545}" type="slidenum">
              <a:rPr lang="en-GB" smtClean="0"/>
              <a:t>80</a:t>
            </a:fld>
            <a:endParaRPr lang="en-GB"/>
          </a:p>
        </p:txBody>
      </p:sp>
    </p:spTree>
    <p:extLst>
      <p:ext uri="{BB962C8B-B14F-4D97-AF65-F5344CB8AC3E}">
        <p14:creationId xmlns:p14="http://schemas.microsoft.com/office/powerpoint/2010/main" val="455238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p:bldP spid="11" grpId="0" animBg="1"/>
      <p:bldP spid="14" grpId="0"/>
      <p:bldP spid="15" grpId="0" animBg="1"/>
      <p:bldP spid="19"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Simple RCT model</a:t>
            </a:r>
            <a:endParaRPr lang="en-GB" dirty="0"/>
          </a:p>
        </p:txBody>
      </p:sp>
      <p:sp>
        <p:nvSpPr>
          <p:cNvPr id="4" name="Oval 3"/>
          <p:cNvSpPr/>
          <p:nvPr/>
        </p:nvSpPr>
        <p:spPr bwMode="auto">
          <a:xfrm>
            <a:off x="5347923" y="1783721"/>
            <a:ext cx="1209329" cy="743171"/>
          </a:xfrm>
          <a:prstGeom prst="ellipse">
            <a:avLst/>
          </a:prstGeom>
          <a:solidFill>
            <a:srgbClr val="FFC000"/>
          </a:solidFill>
          <a:ln w="508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latin typeface="Verdana" pitchFamily="34" charset="0"/>
            </a:endParaRPr>
          </a:p>
        </p:txBody>
      </p:sp>
      <p:sp>
        <p:nvSpPr>
          <p:cNvPr id="5" name="TextBox 4"/>
          <p:cNvSpPr txBox="1"/>
          <p:nvPr/>
        </p:nvSpPr>
        <p:spPr>
          <a:xfrm>
            <a:off x="2824036" y="1717553"/>
            <a:ext cx="2165144" cy="738664"/>
          </a:xfrm>
          <a:prstGeom prst="rect">
            <a:avLst/>
          </a:prstGeom>
          <a:noFill/>
          <a:ln>
            <a:noFill/>
          </a:ln>
        </p:spPr>
        <p:txBody>
          <a:bodyPr wrap="square" rtlCol="0">
            <a:spAutoFit/>
          </a:bodyPr>
          <a:lstStyle/>
          <a:p>
            <a:r>
              <a:rPr lang="en-GB" sz="1400" b="1" dirty="0"/>
              <a:t>Sample B</a:t>
            </a:r>
            <a:endParaRPr lang="en-GB" sz="1400" dirty="0"/>
          </a:p>
          <a:p>
            <a:r>
              <a:rPr lang="en-GB" sz="1400" dirty="0"/>
              <a:t>Patients formally in the trial</a:t>
            </a:r>
          </a:p>
        </p:txBody>
      </p:sp>
      <p:sp>
        <p:nvSpPr>
          <p:cNvPr id="6" name="TextBox 5"/>
          <p:cNvSpPr txBox="1"/>
          <p:nvPr/>
        </p:nvSpPr>
        <p:spPr>
          <a:xfrm>
            <a:off x="6557251" y="3708045"/>
            <a:ext cx="2165144" cy="307777"/>
          </a:xfrm>
          <a:prstGeom prst="rect">
            <a:avLst/>
          </a:prstGeom>
          <a:noFill/>
          <a:ln>
            <a:noFill/>
          </a:ln>
        </p:spPr>
        <p:txBody>
          <a:bodyPr wrap="square" rtlCol="0">
            <a:spAutoFit/>
          </a:bodyPr>
          <a:lstStyle/>
          <a:p>
            <a:r>
              <a:rPr lang="en-GB" sz="1400" b="1" dirty="0"/>
              <a:t>Control group</a:t>
            </a:r>
            <a:endParaRPr lang="en-GB" sz="1400" dirty="0"/>
          </a:p>
        </p:txBody>
      </p:sp>
      <p:sp>
        <p:nvSpPr>
          <p:cNvPr id="7" name="TextBox 6"/>
          <p:cNvSpPr txBox="1"/>
          <p:nvPr/>
        </p:nvSpPr>
        <p:spPr>
          <a:xfrm>
            <a:off x="3182778" y="3708045"/>
            <a:ext cx="2165144" cy="307777"/>
          </a:xfrm>
          <a:prstGeom prst="rect">
            <a:avLst/>
          </a:prstGeom>
          <a:noFill/>
          <a:ln>
            <a:noFill/>
          </a:ln>
        </p:spPr>
        <p:txBody>
          <a:bodyPr wrap="square" rtlCol="0">
            <a:spAutoFit/>
          </a:bodyPr>
          <a:lstStyle/>
          <a:p>
            <a:r>
              <a:rPr lang="en-GB" sz="1400" b="1" dirty="0"/>
              <a:t>Treatment group</a:t>
            </a:r>
            <a:endParaRPr lang="en-GB" sz="1400" dirty="0"/>
          </a:p>
        </p:txBody>
      </p:sp>
      <p:sp>
        <p:nvSpPr>
          <p:cNvPr id="8" name="Oval 7"/>
          <p:cNvSpPr/>
          <p:nvPr/>
        </p:nvSpPr>
        <p:spPr bwMode="auto">
          <a:xfrm>
            <a:off x="3906609" y="3008672"/>
            <a:ext cx="616231" cy="550605"/>
          </a:xfrm>
          <a:prstGeom prst="ellipse">
            <a:avLst/>
          </a:prstGeom>
          <a:solidFill>
            <a:srgbClr val="FFC000"/>
          </a:solidFill>
          <a:ln w="508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latin typeface="Verdana" pitchFamily="34" charset="0"/>
            </a:endParaRPr>
          </a:p>
        </p:txBody>
      </p:sp>
      <p:sp>
        <p:nvSpPr>
          <p:cNvPr id="9" name="Oval 8"/>
          <p:cNvSpPr/>
          <p:nvPr/>
        </p:nvSpPr>
        <p:spPr bwMode="auto">
          <a:xfrm>
            <a:off x="7331708" y="3008672"/>
            <a:ext cx="616231" cy="550605"/>
          </a:xfrm>
          <a:prstGeom prst="ellipse">
            <a:avLst/>
          </a:prstGeom>
          <a:solidFill>
            <a:srgbClr val="FFC000"/>
          </a:solidFill>
          <a:ln w="508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latin typeface="Verdana" pitchFamily="34" charset="0"/>
            </a:endParaRPr>
          </a:p>
        </p:txBody>
      </p:sp>
      <p:cxnSp>
        <p:nvCxnSpPr>
          <p:cNvPr id="13" name="Straight Arrow Connector 12"/>
          <p:cNvCxnSpPr>
            <a:stCxn id="4" idx="5"/>
            <a:endCxn id="9" idx="2"/>
          </p:cNvCxnSpPr>
          <p:nvPr/>
        </p:nvCxnSpPr>
        <p:spPr bwMode="auto">
          <a:xfrm>
            <a:off x="6380149" y="2418056"/>
            <a:ext cx="951558" cy="865918"/>
          </a:xfrm>
          <a:prstGeom prst="straightConnector1">
            <a:avLst/>
          </a:prstGeom>
          <a:solidFill>
            <a:schemeClr val="accent1"/>
          </a:solidFill>
          <a:ln w="50800" cap="flat" cmpd="sng" algn="ctr">
            <a:solidFill>
              <a:schemeClr val="tx1"/>
            </a:solidFill>
            <a:prstDash val="solid"/>
            <a:round/>
            <a:headEnd type="none" w="med" len="med"/>
            <a:tailEnd type="arrow"/>
          </a:ln>
          <a:effectLst/>
        </p:spPr>
      </p:cxnSp>
      <p:cxnSp>
        <p:nvCxnSpPr>
          <p:cNvPr id="15" name="Straight Arrow Connector 14"/>
          <p:cNvCxnSpPr>
            <a:stCxn id="4" idx="3"/>
            <a:endCxn id="8" idx="6"/>
          </p:cNvCxnSpPr>
          <p:nvPr/>
        </p:nvCxnSpPr>
        <p:spPr bwMode="auto">
          <a:xfrm flipH="1">
            <a:off x="4522840" y="2418056"/>
            <a:ext cx="1002185" cy="865918"/>
          </a:xfrm>
          <a:prstGeom prst="straightConnector1">
            <a:avLst/>
          </a:prstGeom>
          <a:solidFill>
            <a:schemeClr val="accent1"/>
          </a:solidFill>
          <a:ln w="50800" cap="flat" cmpd="sng" algn="ctr">
            <a:solidFill>
              <a:schemeClr val="tx1"/>
            </a:solidFill>
            <a:prstDash val="solid"/>
            <a:round/>
            <a:headEnd type="none" w="med" len="med"/>
            <a:tailEnd type="arrow"/>
          </a:ln>
          <a:effectLst/>
        </p:spPr>
      </p:cxnSp>
      <p:sp>
        <p:nvSpPr>
          <p:cNvPr id="3" name="TextBox 2"/>
          <p:cNvSpPr txBox="1"/>
          <p:nvPr/>
        </p:nvSpPr>
        <p:spPr>
          <a:xfrm>
            <a:off x="1016000" y="4581833"/>
            <a:ext cx="10566399" cy="1477328"/>
          </a:xfrm>
          <a:prstGeom prst="rect">
            <a:avLst/>
          </a:prstGeom>
          <a:noFill/>
        </p:spPr>
        <p:txBody>
          <a:bodyPr wrap="square" rtlCol="0">
            <a:spAutoFit/>
          </a:bodyPr>
          <a:lstStyle/>
          <a:p>
            <a:r>
              <a:rPr lang="en-GB" dirty="0"/>
              <a:t>The (mean) difference in outcome between the two groups estimates the (average) treatment effect. </a:t>
            </a:r>
          </a:p>
          <a:p>
            <a:endParaRPr lang="en-GB" dirty="0"/>
          </a:p>
          <a:p>
            <a:r>
              <a:rPr lang="en-GB" b="1" dirty="0"/>
              <a:t>Note that ‘random sampling’ and ‘randomisation’ are two different things</a:t>
            </a:r>
            <a:r>
              <a:rPr lang="en-GB" b="1" dirty="0" smtClean="0"/>
              <a:t>!</a:t>
            </a:r>
          </a:p>
          <a:p>
            <a:endParaRPr lang="en-GB" b="1" dirty="0"/>
          </a:p>
          <a:p>
            <a:r>
              <a:rPr lang="en-GB" b="1" dirty="0" smtClean="0"/>
              <a:t>In an RCT, we don’t have random sampling, we do have random allocation (randomisation)</a:t>
            </a:r>
            <a:endParaRPr lang="en-GB" b="1" dirty="0"/>
          </a:p>
        </p:txBody>
      </p:sp>
      <p:sp>
        <p:nvSpPr>
          <p:cNvPr id="10" name="TextBox 9"/>
          <p:cNvSpPr txBox="1"/>
          <p:nvPr/>
        </p:nvSpPr>
        <p:spPr>
          <a:xfrm>
            <a:off x="8575040" y="1879335"/>
            <a:ext cx="1727200" cy="2031325"/>
          </a:xfrm>
          <a:prstGeom prst="rect">
            <a:avLst/>
          </a:prstGeom>
          <a:noFill/>
        </p:spPr>
        <p:txBody>
          <a:bodyPr wrap="square" rtlCol="0">
            <a:spAutoFit/>
          </a:bodyPr>
          <a:lstStyle/>
          <a:p>
            <a:r>
              <a:rPr lang="en-GB" dirty="0"/>
              <a:t>Randomly allocate (randomise)</a:t>
            </a:r>
          </a:p>
          <a:p>
            <a:r>
              <a:rPr lang="en-GB" dirty="0"/>
              <a:t>our </a:t>
            </a:r>
            <a:r>
              <a:rPr lang="en-GB" dirty="0" smtClean="0"/>
              <a:t>non-random </a:t>
            </a:r>
            <a:r>
              <a:rPr lang="en-GB" dirty="0"/>
              <a:t>sample to treatment or control</a:t>
            </a:r>
          </a:p>
        </p:txBody>
      </p:sp>
      <p:sp>
        <p:nvSpPr>
          <p:cNvPr id="11" name="Rectangle 10"/>
          <p:cNvSpPr/>
          <p:nvPr/>
        </p:nvSpPr>
        <p:spPr bwMode="auto">
          <a:xfrm>
            <a:off x="8575040" y="1778472"/>
            <a:ext cx="1727200" cy="2346489"/>
          </a:xfrm>
          <a:prstGeom prst="rect">
            <a:avLst/>
          </a:prstGeom>
          <a:noFill/>
          <a:ln w="50800" cap="flat" cmpd="sng" algn="ctr">
            <a:solidFill>
              <a:srgbClr val="FF6699"/>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000">
              <a:latin typeface="Verdana" pitchFamily="34" charset="0"/>
            </a:endParaRPr>
          </a:p>
        </p:txBody>
      </p:sp>
      <p:sp>
        <p:nvSpPr>
          <p:cNvPr id="14" name="Slide Number Placeholder 13"/>
          <p:cNvSpPr>
            <a:spLocks noGrp="1"/>
          </p:cNvSpPr>
          <p:nvPr>
            <p:ph type="sldNum" sz="quarter" idx="10"/>
          </p:nvPr>
        </p:nvSpPr>
        <p:spPr/>
        <p:txBody>
          <a:bodyPr/>
          <a:lstStyle/>
          <a:p>
            <a:fld id="{295AAB7A-98F7-42CD-A204-DDD6725CD545}" type="slidenum">
              <a:rPr lang="en-GB" smtClean="0"/>
              <a:t>81</a:t>
            </a:fld>
            <a:endParaRPr lang="en-GB"/>
          </a:p>
        </p:txBody>
      </p:sp>
    </p:spTree>
    <p:extLst>
      <p:ext uri="{BB962C8B-B14F-4D97-AF65-F5344CB8AC3E}">
        <p14:creationId xmlns:p14="http://schemas.microsoft.com/office/powerpoint/2010/main" val="2795437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Ethical issues in clinical trials</a:t>
            </a:r>
            <a:endParaRPr lang="en-GB" dirty="0"/>
          </a:p>
        </p:txBody>
      </p:sp>
      <p:sp>
        <p:nvSpPr>
          <p:cNvPr id="3" name="Content Placeholder 2"/>
          <p:cNvSpPr>
            <a:spLocks noGrp="1"/>
          </p:cNvSpPr>
          <p:nvPr>
            <p:ph idx="1"/>
          </p:nvPr>
        </p:nvSpPr>
        <p:spPr/>
        <p:txBody>
          <a:bodyPr>
            <a:normAutofit fontScale="85000" lnSpcReduction="20000"/>
          </a:bodyPr>
          <a:lstStyle/>
          <a:p>
            <a:pPr marL="0" indent="0">
              <a:buNone/>
            </a:pPr>
            <a:r>
              <a:rPr lang="en-GB" sz="2100" b="1" dirty="0"/>
              <a:t>Ethical Principles</a:t>
            </a:r>
          </a:p>
          <a:p>
            <a:endParaRPr lang="en-GB" sz="800" b="1" dirty="0"/>
          </a:p>
          <a:p>
            <a:pPr lvl="0">
              <a:buFont typeface="+mj-lt"/>
              <a:buAutoNum type="arabicPeriod"/>
            </a:pPr>
            <a:r>
              <a:rPr lang="en-GB" dirty="0" smtClean="0"/>
              <a:t>Patients </a:t>
            </a:r>
            <a:r>
              <a:rPr lang="en-GB" dirty="0"/>
              <a:t>must never be given a treatment that is known to be inferior. Treatments should be in </a:t>
            </a:r>
            <a:r>
              <a:rPr lang="en-GB" i="1" dirty="0" smtClean="0"/>
              <a:t>equipoise</a:t>
            </a:r>
            <a:r>
              <a:rPr lang="en-GB" dirty="0" smtClean="0"/>
              <a:t>: there </a:t>
            </a:r>
            <a:r>
              <a:rPr lang="en-GB" dirty="0"/>
              <a:t>needs to be uncertainty regarding which treatment is better.</a:t>
            </a:r>
          </a:p>
          <a:p>
            <a:pPr lvl="0">
              <a:buFont typeface="+mj-lt"/>
              <a:buAutoNum type="arabicPeriod"/>
            </a:pPr>
            <a:endParaRPr lang="en-GB" sz="800" dirty="0"/>
          </a:p>
          <a:p>
            <a:pPr lvl="0">
              <a:buFont typeface="+mj-lt"/>
              <a:buAutoNum type="arabicPeriod"/>
            </a:pPr>
            <a:r>
              <a:rPr lang="en-GB" dirty="0" smtClean="0"/>
              <a:t>Prior </a:t>
            </a:r>
            <a:r>
              <a:rPr lang="en-GB" dirty="0"/>
              <a:t>to recruitment patients must be fully informed about possible adverse reactions </a:t>
            </a:r>
            <a:r>
              <a:rPr lang="en-GB" dirty="0" smtClean="0"/>
              <a:t>/ </a:t>
            </a:r>
            <a:r>
              <a:rPr lang="en-GB" dirty="0"/>
              <a:t>side-effects they may experience. </a:t>
            </a:r>
          </a:p>
          <a:p>
            <a:pPr lvl="0">
              <a:buFont typeface="+mj-lt"/>
              <a:buAutoNum type="arabicPeriod"/>
            </a:pPr>
            <a:endParaRPr lang="en-GB" sz="800" dirty="0"/>
          </a:p>
          <a:p>
            <a:pPr lvl="0">
              <a:buFont typeface="+mj-lt"/>
              <a:buAutoNum type="arabicPeriod"/>
            </a:pPr>
            <a:r>
              <a:rPr lang="en-GB" dirty="0" smtClean="0"/>
              <a:t>Once </a:t>
            </a:r>
            <a:r>
              <a:rPr lang="en-GB" dirty="0"/>
              <a:t>informed, </a:t>
            </a:r>
            <a:r>
              <a:rPr lang="en-GB" dirty="0" smtClean="0"/>
              <a:t>they (or </a:t>
            </a:r>
            <a:r>
              <a:rPr lang="en-GB" dirty="0"/>
              <a:t>their representative in the case of non-competent </a:t>
            </a:r>
            <a:r>
              <a:rPr lang="en-GB" dirty="0" smtClean="0"/>
              <a:t>patients) </a:t>
            </a:r>
            <a:r>
              <a:rPr lang="en-GB" dirty="0"/>
              <a:t>must give consent, preferably in writing. </a:t>
            </a:r>
          </a:p>
          <a:p>
            <a:pPr lvl="0">
              <a:buFont typeface="+mj-lt"/>
              <a:buAutoNum type="arabicPeriod"/>
            </a:pPr>
            <a:endParaRPr lang="en-GB" sz="800" dirty="0"/>
          </a:p>
          <a:p>
            <a:pPr lvl="0">
              <a:buFont typeface="+mj-lt"/>
              <a:buAutoNum type="arabicPeriod"/>
            </a:pPr>
            <a:r>
              <a:rPr lang="en-GB" dirty="0" smtClean="0"/>
              <a:t>Withholding </a:t>
            </a:r>
            <a:r>
              <a:rPr lang="en-GB" dirty="0"/>
              <a:t>consent must not compromise the patient’s future treatment.</a:t>
            </a:r>
          </a:p>
          <a:p>
            <a:pPr lvl="0">
              <a:buFont typeface="+mj-lt"/>
              <a:buAutoNum type="arabicPeriod"/>
            </a:pPr>
            <a:endParaRPr lang="en-GB" sz="800" dirty="0"/>
          </a:p>
          <a:p>
            <a:pPr lvl="0">
              <a:buFont typeface="+mj-lt"/>
              <a:buAutoNum type="arabicPeriod"/>
            </a:pPr>
            <a:r>
              <a:rPr lang="en-GB" dirty="0" smtClean="0"/>
              <a:t>Patients </a:t>
            </a:r>
            <a:r>
              <a:rPr lang="en-GB" dirty="0"/>
              <a:t>who have entered a trial must be able to withdraw at any time.</a:t>
            </a:r>
          </a:p>
          <a:p>
            <a:endParaRPr lang="en-GB" dirty="0"/>
          </a:p>
        </p:txBody>
      </p:sp>
      <p:sp>
        <p:nvSpPr>
          <p:cNvPr id="5" name="Slide Number Placeholder 4"/>
          <p:cNvSpPr>
            <a:spLocks noGrp="1"/>
          </p:cNvSpPr>
          <p:nvPr>
            <p:ph type="sldNum" sz="quarter" idx="10"/>
          </p:nvPr>
        </p:nvSpPr>
        <p:spPr/>
        <p:txBody>
          <a:bodyPr/>
          <a:lstStyle/>
          <a:p>
            <a:fld id="{295AAB7A-98F7-42CD-A204-DDD6725CD545}" type="slidenum">
              <a:rPr lang="en-GB" smtClean="0"/>
              <a:t>82</a:t>
            </a:fld>
            <a:endParaRPr lang="en-GB"/>
          </a:p>
        </p:txBody>
      </p:sp>
    </p:spTree>
    <p:extLst>
      <p:ext uri="{BB962C8B-B14F-4D97-AF65-F5344CB8AC3E}">
        <p14:creationId xmlns:p14="http://schemas.microsoft.com/office/powerpoint/2010/main" val="2730982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Ethical issues in clinical trials</a:t>
            </a:r>
            <a:endParaRPr lang="en-GB" dirty="0"/>
          </a:p>
        </p:txBody>
      </p:sp>
      <p:sp>
        <p:nvSpPr>
          <p:cNvPr id="3" name="Content Placeholder 2"/>
          <p:cNvSpPr>
            <a:spLocks noGrp="1"/>
          </p:cNvSpPr>
          <p:nvPr>
            <p:ph idx="1"/>
          </p:nvPr>
        </p:nvSpPr>
        <p:spPr/>
        <p:txBody>
          <a:bodyPr/>
          <a:lstStyle/>
          <a:p>
            <a:r>
              <a:rPr lang="en-GB" b="1" dirty="0"/>
              <a:t>Mechanism to protection the interest of the </a:t>
            </a:r>
            <a:r>
              <a:rPr lang="en-GB" b="1" dirty="0" smtClean="0"/>
              <a:t>patients</a:t>
            </a:r>
          </a:p>
          <a:p>
            <a:endParaRPr lang="en-GB" sz="800" b="1" dirty="0"/>
          </a:p>
          <a:p>
            <a:pPr lvl="1"/>
            <a:r>
              <a:rPr lang="en-GB" dirty="0"/>
              <a:t>Ethics committee approval of research proposals.</a:t>
            </a:r>
          </a:p>
          <a:p>
            <a:pPr lvl="1"/>
            <a:endParaRPr lang="en-GB" sz="800" dirty="0"/>
          </a:p>
          <a:p>
            <a:pPr lvl="1"/>
            <a:r>
              <a:rPr lang="en-GB" dirty="0" smtClean="0"/>
              <a:t>Individual informed </a:t>
            </a:r>
            <a:r>
              <a:rPr lang="en-GB" dirty="0"/>
              <a:t>consent by the patient to join a trial.</a:t>
            </a:r>
          </a:p>
          <a:p>
            <a:pPr lvl="1"/>
            <a:endParaRPr lang="en-GB" sz="800" dirty="0"/>
          </a:p>
          <a:p>
            <a:pPr lvl="1"/>
            <a:r>
              <a:rPr lang="en-GB" dirty="0" smtClean="0"/>
              <a:t>Establishing an (independent) </a:t>
            </a:r>
            <a:r>
              <a:rPr lang="en-GB" dirty="0"/>
              <a:t>data monitoring </a:t>
            </a:r>
            <a:r>
              <a:rPr lang="en-GB" dirty="0" smtClean="0"/>
              <a:t>[and ethics] committee (IDMC, DMC or DMEC) to </a:t>
            </a:r>
            <a:r>
              <a:rPr lang="en-GB" dirty="0"/>
              <a:t>monitor </a:t>
            </a:r>
            <a:r>
              <a:rPr lang="en-GB" dirty="0" smtClean="0"/>
              <a:t>the progress </a:t>
            </a:r>
            <a:r>
              <a:rPr lang="en-GB" dirty="0"/>
              <a:t>of a </a:t>
            </a:r>
            <a:r>
              <a:rPr lang="en-GB" dirty="0" smtClean="0"/>
              <a:t>trial, with specific emphasis on the safety of the intervention.</a:t>
            </a:r>
            <a:endParaRPr lang="en-GB" dirty="0"/>
          </a:p>
          <a:p>
            <a:pPr lvl="1"/>
            <a:endParaRPr lang="en-GB" sz="800" dirty="0"/>
          </a:p>
          <a:p>
            <a:pPr lvl="1"/>
            <a:r>
              <a:rPr lang="en-GB" dirty="0" smtClean="0"/>
              <a:t>The IDMC will report to a Trial Steering Committee (TSC) which is also primarily composed of people independent of the trial</a:t>
            </a:r>
          </a:p>
          <a:p>
            <a:pPr lvl="1"/>
            <a:endParaRPr lang="en-GB" sz="800" dirty="0"/>
          </a:p>
          <a:p>
            <a:pPr lvl="1"/>
            <a:r>
              <a:rPr lang="en-GB" dirty="0" smtClean="0"/>
              <a:t>The TSC is usually the larger of the two committees, but each should include an independent statistician.</a:t>
            </a:r>
            <a:endParaRPr lang="en-GB" dirty="0"/>
          </a:p>
          <a:p>
            <a:endParaRPr lang="en-GB" dirty="0"/>
          </a:p>
        </p:txBody>
      </p:sp>
      <p:sp>
        <p:nvSpPr>
          <p:cNvPr id="5" name="Slide Number Placeholder 4"/>
          <p:cNvSpPr>
            <a:spLocks noGrp="1"/>
          </p:cNvSpPr>
          <p:nvPr>
            <p:ph type="sldNum" sz="quarter" idx="10"/>
          </p:nvPr>
        </p:nvSpPr>
        <p:spPr/>
        <p:txBody>
          <a:bodyPr/>
          <a:lstStyle/>
          <a:p>
            <a:fld id="{295AAB7A-98F7-42CD-A204-DDD6725CD545}" type="slidenum">
              <a:rPr lang="en-GB" smtClean="0"/>
              <a:t>83</a:t>
            </a:fld>
            <a:endParaRPr lang="en-GB"/>
          </a:p>
        </p:txBody>
      </p:sp>
    </p:spTree>
    <p:extLst>
      <p:ext uri="{BB962C8B-B14F-4D97-AF65-F5344CB8AC3E}">
        <p14:creationId xmlns:p14="http://schemas.microsoft.com/office/powerpoint/2010/main" val="28176678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3"/>
            <a:ext cx="10854575" cy="1450757"/>
          </a:xfrm>
        </p:spPr>
        <p:txBody>
          <a:bodyPr/>
          <a:lstStyle/>
          <a:p>
            <a:r>
              <a:rPr lang="en-GB" sz="2600" dirty="0"/>
              <a:t>Exercise </a:t>
            </a:r>
            <a:r>
              <a:rPr lang="en-GB" sz="2600" dirty="0" smtClean="0"/>
              <a:t> </a:t>
            </a:r>
            <a:r>
              <a:rPr lang="en-GB" sz="2600" dirty="0"/>
              <a:t>– Early trial of the treatment of Scurvy (Lind, 1753 - </a:t>
            </a:r>
            <a:r>
              <a:rPr lang="en-GB" sz="1800" dirty="0">
                <a:hlinkClick r:id="rId2"/>
              </a:rPr>
              <a:t>www.jameslindlibrary.org</a:t>
            </a:r>
            <a:r>
              <a:rPr lang="en-GB" sz="1800" dirty="0"/>
              <a:t> </a:t>
            </a:r>
            <a:r>
              <a:rPr lang="en-GB" sz="2600" dirty="0"/>
              <a:t>)</a:t>
            </a:r>
          </a:p>
        </p:txBody>
      </p:sp>
      <p:sp>
        <p:nvSpPr>
          <p:cNvPr id="3" name="Content Placeholder 2"/>
          <p:cNvSpPr>
            <a:spLocks noGrp="1"/>
          </p:cNvSpPr>
          <p:nvPr>
            <p:ph idx="1"/>
          </p:nvPr>
        </p:nvSpPr>
        <p:spPr/>
        <p:txBody>
          <a:bodyPr>
            <a:normAutofit lnSpcReduction="10000"/>
          </a:bodyPr>
          <a:lstStyle/>
          <a:p>
            <a:r>
              <a:rPr lang="en-GB" dirty="0" smtClean="0"/>
              <a:t>“On </a:t>
            </a:r>
            <a:r>
              <a:rPr lang="en-GB" dirty="0"/>
              <a:t>20 May 1747, I took 12 patients in the scurvy on board the ‘Salisbury’. The cases were as similar as I could have them. They all … had … putrid gums, the spots and lassitude </a:t>
            </a:r>
            <a:r>
              <a:rPr lang="en-GB" dirty="0" smtClean="0"/>
              <a:t>…”</a:t>
            </a:r>
            <a:endParaRPr lang="en-GB" dirty="0"/>
          </a:p>
          <a:p>
            <a:pPr marL="0" indent="0">
              <a:buNone/>
            </a:pPr>
            <a:r>
              <a:rPr lang="en-GB" dirty="0"/>
              <a:t> </a:t>
            </a:r>
          </a:p>
          <a:p>
            <a:r>
              <a:rPr lang="en-GB" dirty="0"/>
              <a:t>“They laid together … and had one diet common to all … two cider, two others Elixir </a:t>
            </a:r>
            <a:r>
              <a:rPr lang="en-GB" dirty="0" err="1"/>
              <a:t>Vitril</a:t>
            </a:r>
            <a:r>
              <a:rPr lang="en-GB" dirty="0"/>
              <a:t> [H</a:t>
            </a:r>
            <a:r>
              <a:rPr lang="en-GB" baseline="-25000" dirty="0"/>
              <a:t>2</a:t>
            </a:r>
            <a:r>
              <a:rPr lang="en-GB" dirty="0"/>
              <a:t>SO</a:t>
            </a:r>
            <a:r>
              <a:rPr lang="en-GB" baseline="-25000" dirty="0"/>
              <a:t>4</a:t>
            </a:r>
            <a:r>
              <a:rPr lang="en-GB" dirty="0"/>
              <a:t>],  two vinegar  , two sea water, two oranges and lemons , the two remaining Nutmeg.”</a:t>
            </a:r>
          </a:p>
          <a:p>
            <a:pPr marL="0" indent="0">
              <a:buNone/>
            </a:pPr>
            <a:r>
              <a:rPr lang="en-GB" dirty="0"/>
              <a:t> </a:t>
            </a:r>
          </a:p>
          <a:p>
            <a:r>
              <a:rPr lang="en-GB" dirty="0"/>
              <a:t>“One of the two receiving oranges and lemons recovered quickly and was fit for duty after 6 days. The second was the best recovered of the rest and assigned the role of nurse to the remaining 10 patients.”</a:t>
            </a:r>
          </a:p>
          <a:p>
            <a:endParaRPr lang="en-GB" dirty="0" smtClean="0"/>
          </a:p>
          <a:p>
            <a:r>
              <a:rPr lang="en-GB" b="1" dirty="0" smtClean="0"/>
              <a:t>What are the limitations of this study?</a:t>
            </a:r>
            <a:endParaRPr lang="en-GB" b="1" dirty="0"/>
          </a:p>
        </p:txBody>
      </p:sp>
      <p:sp>
        <p:nvSpPr>
          <p:cNvPr id="4" name="Slide Number Placeholder 3"/>
          <p:cNvSpPr>
            <a:spLocks noGrp="1"/>
          </p:cNvSpPr>
          <p:nvPr>
            <p:ph type="sldNum" sz="quarter" idx="10"/>
          </p:nvPr>
        </p:nvSpPr>
        <p:spPr/>
        <p:txBody>
          <a:bodyPr/>
          <a:lstStyle/>
          <a:p>
            <a:fld id="{295AAB7A-98F7-42CD-A204-DDD6725CD545}" type="slidenum">
              <a:rPr lang="en-GB" smtClean="0"/>
              <a:t>84</a:t>
            </a:fld>
            <a:endParaRPr lang="en-GB"/>
          </a:p>
        </p:txBody>
      </p:sp>
    </p:spTree>
    <p:extLst>
      <p:ext uri="{BB962C8B-B14F-4D97-AF65-F5344CB8AC3E}">
        <p14:creationId xmlns:p14="http://schemas.microsoft.com/office/powerpoint/2010/main" val="25853302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16689"/>
            <a:ext cx="8229600" cy="676707"/>
          </a:xfrm>
        </p:spPr>
        <p:txBody>
          <a:bodyPr>
            <a:normAutofit fontScale="90000"/>
          </a:bodyPr>
          <a:lstStyle/>
          <a:p>
            <a:r>
              <a:rPr lang="en-GB" dirty="0" smtClean="0"/>
              <a:t>Exercise</a:t>
            </a:r>
            <a:endParaRPr lang="en-GB" dirty="0"/>
          </a:p>
        </p:txBody>
      </p:sp>
      <p:sp>
        <p:nvSpPr>
          <p:cNvPr id="3" name="Content Placeholder 2"/>
          <p:cNvSpPr>
            <a:spLocks noGrp="1"/>
          </p:cNvSpPr>
          <p:nvPr>
            <p:ph idx="1"/>
          </p:nvPr>
        </p:nvSpPr>
        <p:spPr/>
        <p:txBody>
          <a:bodyPr/>
          <a:lstStyle/>
          <a:p>
            <a:pPr>
              <a:buFont typeface="+mj-lt"/>
              <a:buAutoNum type="alphaLcParenR"/>
            </a:pPr>
            <a:r>
              <a:rPr lang="en-GB" dirty="0"/>
              <a:t>In studies investigating the effect of an exposure on health, what is the difference between observational studies and experimental studies? </a:t>
            </a:r>
            <a:endParaRPr lang="en-GB" dirty="0" smtClean="0"/>
          </a:p>
          <a:p>
            <a:pPr>
              <a:buFont typeface="+mj-lt"/>
              <a:buAutoNum type="alphaLcParenR"/>
            </a:pPr>
            <a:r>
              <a:rPr lang="en-GB" dirty="0" smtClean="0"/>
              <a:t>Give </a:t>
            </a:r>
            <a:r>
              <a:rPr lang="en-GB" dirty="0"/>
              <a:t>an example where it would </a:t>
            </a:r>
            <a:r>
              <a:rPr lang="en-GB" b="1" dirty="0"/>
              <a:t>not</a:t>
            </a:r>
            <a:r>
              <a:rPr lang="en-GB" dirty="0"/>
              <a:t> be ethical to conduct an experimental study in human subjects.</a:t>
            </a:r>
          </a:p>
          <a:p>
            <a:endParaRPr lang="en-GB" dirty="0"/>
          </a:p>
        </p:txBody>
      </p:sp>
      <p:sp>
        <p:nvSpPr>
          <p:cNvPr id="4" name="Slide Number Placeholder 3"/>
          <p:cNvSpPr>
            <a:spLocks noGrp="1"/>
          </p:cNvSpPr>
          <p:nvPr>
            <p:ph type="sldNum" sz="quarter" idx="10"/>
          </p:nvPr>
        </p:nvSpPr>
        <p:spPr/>
        <p:txBody>
          <a:bodyPr/>
          <a:lstStyle/>
          <a:p>
            <a:fld id="{295AAB7A-98F7-42CD-A204-DDD6725CD545}" type="slidenum">
              <a:rPr lang="en-GB" smtClean="0"/>
              <a:t>85</a:t>
            </a:fld>
            <a:endParaRPr lang="en-GB"/>
          </a:p>
        </p:txBody>
      </p:sp>
    </p:spTree>
    <p:extLst>
      <p:ext uri="{BB962C8B-B14F-4D97-AF65-F5344CB8AC3E}">
        <p14:creationId xmlns:p14="http://schemas.microsoft.com/office/powerpoint/2010/main" val="15056597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TM02900769[[fn=Retrospect]]</Template>
  <TotalTime>1614</TotalTime>
  <Words>5103</Words>
  <Application>Microsoft Office PowerPoint</Application>
  <PresentationFormat>Widescreen</PresentationFormat>
  <Paragraphs>950</Paragraphs>
  <Slides>85</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85</vt:i4>
      </vt:variant>
    </vt:vector>
  </HeadingPairs>
  <TitlesOfParts>
    <vt:vector size="93" baseType="lpstr">
      <vt:lpstr>Agency FB</vt:lpstr>
      <vt:lpstr>Arial</vt:lpstr>
      <vt:lpstr>Calibri</vt:lpstr>
      <vt:lpstr>Calibri Light</vt:lpstr>
      <vt:lpstr>Segoe UI Symbol</vt:lpstr>
      <vt:lpstr>Verdana</vt:lpstr>
      <vt:lpstr>Wingdings</vt:lpstr>
      <vt:lpstr>Retrospect</vt:lpstr>
      <vt:lpstr>What is a randomised controlled trial? </vt:lpstr>
      <vt:lpstr>Motivation</vt:lpstr>
      <vt:lpstr>Motivation</vt:lpstr>
      <vt:lpstr>Intervention?</vt:lpstr>
      <vt:lpstr>Motivation</vt:lpstr>
      <vt:lpstr>Motivation</vt:lpstr>
      <vt:lpstr>Motivation</vt:lpstr>
      <vt:lpstr>Motivation</vt:lpstr>
      <vt:lpstr>What are randomised controlled trials (RCTs)?</vt:lpstr>
      <vt:lpstr>Some clinical background for our examples today</vt:lpstr>
      <vt:lpstr>PowerPoint Presentation</vt:lpstr>
      <vt:lpstr>PowerPoint Presentation</vt:lpstr>
      <vt:lpstr>Much medical research is low quality</vt:lpstr>
      <vt:lpstr>PowerPoint Presentation</vt:lpstr>
      <vt:lpstr>Some terminology: treatment groups, control groups, and outcomes.</vt:lpstr>
      <vt:lpstr>Some terminology</vt:lpstr>
      <vt:lpstr>Treatment and control groups</vt:lpstr>
      <vt:lpstr>Treatment and control groups</vt:lpstr>
      <vt:lpstr>Outcomes</vt:lpstr>
      <vt:lpstr>Study outcomes</vt:lpstr>
      <vt:lpstr>Study outcomes</vt:lpstr>
      <vt:lpstr>Does the treatment work?</vt:lpstr>
      <vt:lpstr>PowerPoint Presentation</vt:lpstr>
      <vt:lpstr>Why do we need control groups?</vt:lpstr>
      <vt:lpstr>Why do we need control groups?  Fundamental concept of causal inference</vt:lpstr>
      <vt:lpstr>Why do we need control groups?  Fundamental concept of causal inference</vt:lpstr>
      <vt:lpstr>Why do we need control groups?  Fundamental concept of causal inference</vt:lpstr>
      <vt:lpstr>Why do we need control groups?  Fundamental concept of causal inference</vt:lpstr>
      <vt:lpstr>Why do we need control groups?  Fundamental concept of causal inference</vt:lpstr>
      <vt:lpstr>Why do we need control groups?  Fundamental concept of causal inference</vt:lpstr>
      <vt:lpstr>Summarising</vt:lpstr>
      <vt:lpstr>So control groups are essential</vt:lpstr>
      <vt:lpstr>Why do we prefer random allocation to treatments?</vt:lpstr>
      <vt:lpstr>How is treatment allocated?</vt:lpstr>
      <vt:lpstr> Different types of research study</vt:lpstr>
      <vt:lpstr> Different types of research study</vt:lpstr>
      <vt:lpstr>How is treatment allocated?</vt:lpstr>
      <vt:lpstr>How is treatment allocated?</vt:lpstr>
      <vt:lpstr>Experimental vs observational studies</vt:lpstr>
      <vt:lpstr>PowerPoint Presentation</vt:lpstr>
      <vt:lpstr> What is Bias?</vt:lpstr>
      <vt:lpstr>What is Bias?</vt:lpstr>
      <vt:lpstr>Why do we prefer random allocation?</vt:lpstr>
      <vt:lpstr>Confounding example: coffee causes cancer?</vt:lpstr>
      <vt:lpstr>Confounding in non-randomised studies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Dealing with confounding in non-randomised studies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Dealing with confounding using randomisation</vt:lpstr>
      <vt:lpstr>Merits of RCTs vs NRSI</vt:lpstr>
      <vt:lpstr>Control groups, recruitment, and ethical issues in clinical trials</vt:lpstr>
      <vt:lpstr>Control groups</vt:lpstr>
      <vt:lpstr>Control groups</vt:lpstr>
      <vt:lpstr>Eligibility criteria</vt:lpstr>
      <vt:lpstr>Ideal: recruitment to a randomised clinical trial</vt:lpstr>
      <vt:lpstr>Ideal: recruitment to a randomised clinical trial</vt:lpstr>
      <vt:lpstr>Ideal: recruitment to a randomised clinical trial</vt:lpstr>
      <vt:lpstr>Reality: recruitment to a randomised clinical trial</vt:lpstr>
      <vt:lpstr>Simple RCT model</vt:lpstr>
      <vt:lpstr>Ethical issues in clinical trials</vt:lpstr>
      <vt:lpstr>Ethical issues in clinical trials</vt:lpstr>
      <vt:lpstr>Exercise  – Early trial of the treatment of Scurvy (Lind, 1753 - www.jameslindlibrary.org )</vt:lpstr>
      <vt:lpstr>Exercise</vt:lpstr>
    </vt:vector>
  </TitlesOfParts>
  <Company>University of Manchester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 randomised controlled trial? </dc:title>
  <dc:creator>Jack Wilkinson</dc:creator>
  <cp:lastModifiedBy>Jack Wilkinson</cp:lastModifiedBy>
  <cp:revision>185</cp:revision>
  <dcterms:created xsi:type="dcterms:W3CDTF">2022-11-15T11:41:16Z</dcterms:created>
  <dcterms:modified xsi:type="dcterms:W3CDTF">2023-02-01T17:15:41Z</dcterms:modified>
</cp:coreProperties>
</file>